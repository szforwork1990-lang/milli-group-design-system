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کاور — عنوان گزارش و سوال تصمیم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ساختار سند — ده فصل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فصل یک — خلاصه مدیریتی. سه اسلاید: توصیه، اثر چهارمحوره، ریسک و مجهول.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توصیه: گزینه ب، سواپ محدود، با هویت حقوقی مستقل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کارت امتیاز اثر گروهی — چهار محور، هیچ ردیفی خالی نیست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سه ریسک اصلی با پاسخ کوتاه، و سه مجهول که دروازه‌ی فاز صفرند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فصل دو — سؤال تصمیم و گزینه‌ها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هفت بُعد فضای گزینه؛ انتخاب توصیه‌شده در هر بُعد پررنگ است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مقایسه شش گزینه با معیار یکسان؛ گزینه ب توصیه‌شده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فصل سه — بازار و کاربر. اندازه‌گیری در فصل ۷ می‌آید.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۹۰٪ می‌شناسند، ۲۵٪ خریده‌اند، ۶۴٪ هرگز نخریده‌اند — و حجم ورودی ریالی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تقاضا روی تتر و چند دارایی اصلی متمرکز است: تتر ۳۰٪، بیت‌کوین ۲۵٪ و چهار تا شش کوین اصلی دیگر ۲۰٪ — روی هم سه‌چهارم بازار. بنابراین سواپ محدود کافی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هدف اصلی همان ۶۴٪ نخریده است؛ پنج پرسونای غیرخریدار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شکاف شناخت دو برابر طلاست؛ و در گروه نزدیک به خرید مانع اعتماد فرو می‌ریزد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فصل چهار — رقابت و حق برد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بازار متمرکز است اما همه اردربوکی‌اند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قابلیت لازم در برابر موجود؛ قیف پایگاه کاربری میلی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سه فضای خالی بازار و هشدار پیش‌فرض آزمون‌نشده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فصل پنج — محیط مقرراتی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تفکیک آنچه نوشته شده از آنچه اجرا می‌شود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هر قدم افزوده‌ی KYC نرخ تبدیل را پایین می‌آورد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فصل شش — توصیه و استراتژی ورود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گزینه ب: سواپ ساده، شرکت مجزا، ورود از اپ میلی — و دلیل رد پنج گزینه‌ی دیگر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بیانیه استراتژی — هدف، دامنه، مزیت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مخاطب، محصول و درآمد — سه قطعه‌ی یک انتخاب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فصل هفت — اندازه بازار و مالی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از TAM چهار و نیم میلیونی تا تارگت ۲۵۰ هزار کاربر فعال ماهانه؛ شکاف ۱۱٫۷٪ و دو راه بستن آن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ARPU ۲٫۰۷ دلاری در برابر AUM ۲۰۳ دلاری هر کاربر — ارزش بلندمدت در دارایی است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۳ میلیون دلار تعهد، ۷۰۷ هزار دلار سوخت واقعی، سربه‌سر ماه ۱۸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ارزش خروج ۱۵٫۵ میلیون دلار است اما ۹۱٪ آن ارزش پایانی است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تصمیم امروز تعهد ۳ میلیون دلار نیست، ۷۰۰ هزار دلار برای خرید اطلاعات است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فصل هشت — ریسک‌ها و شرط ابطال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شش ریسک با پاسخ، باقی‌مانده و شرط ابطال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فصل نه — نقشه راه و سازمان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شش فاز روی جاده؛ هر دروازه شرط ورود به فاز بعد است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ساختار سازمان و تعداد نفرات در فاز بلوغ و پایان سال سوم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سه ستون: اصول طراحی سازمان، تفکیک وظایف، خدمات گروه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فصل ده — بسته تصمیم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شش تصمیمی که امروز خواسته می‌شود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چه شواهدی توصیه را برمی‌گرداند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اسلاید پایانی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sv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image" Target="../media/image-27-9.png"/><Relationship Id="rId10" Type="http://schemas.openxmlformats.org/officeDocument/2006/relationships/image" Target="../media/image-2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image" Target="../media/image-36-5.png"/><Relationship Id="rId6" Type="http://schemas.openxmlformats.org/officeDocument/2006/relationships/image" Target="../media/image-36-6.svg"/><Relationship Id="rId7" Type="http://schemas.openxmlformats.org/officeDocument/2006/relationships/image" Target="../media/image-36-7.png"/><Relationship Id="rId8" Type="http://schemas.openxmlformats.org/officeDocument/2006/relationships/image" Target="../media/image-36-8.svg"/><Relationship Id="rId9" Type="http://schemas.openxmlformats.org/officeDocument/2006/relationships/image" Target="../media/image-36-9.png"/><Relationship Id="rId10" Type="http://schemas.openxmlformats.org/officeDocument/2006/relationships/image" Target="../media/image-36-10.svg"/><Relationship Id="rId11" Type="http://schemas.openxmlformats.org/officeDocument/2006/relationships/image" Target="../media/image-36-11.png"/><Relationship Id="rId12" Type="http://schemas.openxmlformats.org/officeDocument/2006/relationships/image" Target="../media/image-36-12.svg"/><Relationship Id="rId13" Type="http://schemas.openxmlformats.org/officeDocument/2006/relationships/image" Target="../media/image-36-13.png"/><Relationship Id="rId14" Type="http://schemas.openxmlformats.org/officeDocument/2006/relationships/image" Target="../media/image-36-14.svg"/><Relationship Id="rId15" Type="http://schemas.openxmlformats.org/officeDocument/2006/relationships/image" Target="../media/image-36-15.png"/><Relationship Id="rId16" Type="http://schemas.openxmlformats.org/officeDocument/2006/relationships/image" Target="../media/image-36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image" Target="../media/image-39-7.png"/><Relationship Id="rId8" Type="http://schemas.openxmlformats.org/officeDocument/2006/relationships/image" Target="../media/image-39-8.svg"/><Relationship Id="rId9" Type="http://schemas.openxmlformats.org/officeDocument/2006/relationships/image" Target="../media/image-39-9.png"/><Relationship Id="rId10" Type="http://schemas.openxmlformats.org/officeDocument/2006/relationships/image" Target="../media/image-39-10.svg"/><Relationship Id="rId11" Type="http://schemas.openxmlformats.org/officeDocument/2006/relationships/image" Target="../media/image-39-11.png"/><Relationship Id="rId12" Type="http://schemas.openxmlformats.org/officeDocument/2006/relationships/image" Target="../media/image-3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image" Target="../media/image-40-5.png"/><Relationship Id="rId6" Type="http://schemas.openxmlformats.org/officeDocument/2006/relationships/image" Target="../media/image-40-6.svg"/><Relationship Id="rId7" Type="http://schemas.openxmlformats.org/officeDocument/2006/relationships/image" Target="../media/image-40-7.png"/><Relationship Id="rId8" Type="http://schemas.openxmlformats.org/officeDocument/2006/relationships/image" Target="../media/image-40-8.svg"/><Relationship Id="rId9" Type="http://schemas.openxmlformats.org/officeDocument/2006/relationships/image" Target="../media/image-40-9.png"/><Relationship Id="rId10" Type="http://schemas.openxmlformats.org/officeDocument/2006/relationships/image" Target="../media/image-4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99390" y="533400"/>
            <a:ext cx="6020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به نام خدا</a:t>
            </a:r>
            <a:endParaRPr lang="en-US" sz="1125" dirty="0"/>
          </a:p>
        </p:txBody>
      </p:sp>
      <p:sp>
        <p:nvSpPr>
          <p:cNvPr id="3" name="Shape 1"/>
          <p:cNvSpPr/>
          <p:nvPr/>
        </p:nvSpPr>
        <p:spPr>
          <a:xfrm>
            <a:off x="11029950" y="2409825"/>
            <a:ext cx="171450" cy="171450"/>
          </a:xfrm>
          <a:prstGeom prst="ellipse">
            <a:avLst/>
          </a:prstGeom>
          <a:gradFill rotWithShape="1">
            <a:gsLst>
              <a:gs pos="0">
                <a:srgbClr val="FED974">
                  <a:alpha val="100000"/>
                </a:srgbClr>
              </a:gs>
              <a:gs pos="48000">
                <a:srgbClr val="FDBB19">
                  <a:alpha val="100000"/>
                </a:srgbClr>
              </a:gs>
              <a:gs pos="100000">
                <a:srgbClr val="B78206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9396710" y="2381250"/>
            <a:ext cx="1576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سند تصمیم — بیزنس پلن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38500" y="2933700"/>
            <a:ext cx="79629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7879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ورود میلی به بازار رمزارز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286250" y="3821311"/>
            <a:ext cx="691515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FFFFF">
                    <a:alpha val="7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آیا میلی گلد باید وارد بازار رمزارز شود، و اگر بله با کدام مدل؟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495550"/>
            <a:ext cx="2857500" cy="9712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65036" y="6096000"/>
            <a:ext cx="4363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۱۴۰۵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6150" y="495300"/>
            <a:ext cx="190625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57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فهرست مطالب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571500"/>
            <a:ext cx="15768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5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ساختار سند تصمیم · ده فصل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9600" y="1219200"/>
            <a:ext cx="10972800" cy="952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58150" y="1219200"/>
            <a:ext cx="3524250" cy="571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6" name="Text 4"/>
          <p:cNvSpPr/>
          <p:nvPr/>
        </p:nvSpPr>
        <p:spPr>
          <a:xfrm>
            <a:off x="11263164" y="1485900"/>
            <a:ext cx="3192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42" kern="0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پاسخ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11904" y="1504950"/>
            <a:ext cx="5131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۰۱ — ۰۲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58150" y="1876425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068050" y="2090738"/>
            <a:ext cx="514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830"/>
              </a:lnSpc>
              <a:buNone/>
            </a:pPr>
            <a:r>
              <a:rPr lang="en-US" sz="22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۰۱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759107" y="2098625"/>
            <a:ext cx="1194643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594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خلاصه مدیریتی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058150" y="2581275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068050" y="2795588"/>
            <a:ext cx="514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830"/>
              </a:lnSpc>
              <a:buNone/>
            </a:pPr>
            <a:r>
              <a:rPr lang="en-US" sz="22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۰۲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070747" y="2803475"/>
            <a:ext cx="1883003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594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سؤال تصمیم و گزینه‌ها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8058150" y="5675114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952423" y="5856089"/>
            <a:ext cx="362997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توصیه و فضای گزینه‌ها، پیش از استدلال.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3875" y="1219200"/>
            <a:ext cx="3524250" cy="571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439025" y="1485900"/>
            <a:ext cx="4191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42" kern="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شواهد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87766" y="1504950"/>
            <a:ext cx="5131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۰۳ — ۰۵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33875" y="1876425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43775" y="2090738"/>
            <a:ext cx="514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830"/>
              </a:lnSpc>
              <a:buNone/>
            </a:pPr>
            <a:r>
              <a:rPr lang="en-US" sz="2250" b="1" dirty="0">
                <a:solidFill>
                  <a:srgbClr val="FFFFFF">
                    <a:alpha val="45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۰۳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285458" y="2098625"/>
            <a:ext cx="94401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594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بازار و کاربر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4333875" y="2581275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343775" y="2795588"/>
            <a:ext cx="514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830"/>
              </a:lnSpc>
              <a:buNone/>
            </a:pPr>
            <a:r>
              <a:rPr lang="en-US" sz="2250" b="1" dirty="0">
                <a:solidFill>
                  <a:srgbClr val="FFFFFF">
                    <a:alpha val="45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۰۴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6124277" y="2803475"/>
            <a:ext cx="1105198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594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رقابت و مزیت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4333875" y="3286125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43775" y="3500438"/>
            <a:ext cx="514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830"/>
              </a:lnSpc>
              <a:buNone/>
            </a:pPr>
            <a:r>
              <a:rPr lang="en-US" sz="2250" b="1" dirty="0">
                <a:solidFill>
                  <a:srgbClr val="FFFFFF">
                    <a:alpha val="45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۰۵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161633" y="3508325"/>
            <a:ext cx="1067842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594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محیط مقرراتی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4333875" y="5675114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228148" y="5856089"/>
            <a:ext cx="362997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آنچه از بازار، رقیب و مقررات به دست می‌آوریم.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9600" y="1219200"/>
            <a:ext cx="3524250" cy="571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861941" y="1485900"/>
            <a:ext cx="271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42" kern="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طرح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10682" y="1504950"/>
            <a:ext cx="5131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۰۶ — ۱۰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9600" y="1876425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619500" y="2090738"/>
            <a:ext cx="514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830"/>
              </a:lnSpc>
              <a:buNone/>
            </a:pPr>
            <a:r>
              <a:rPr lang="en-US" sz="2250" b="1" dirty="0">
                <a:solidFill>
                  <a:srgbClr val="FFFFFF">
                    <a:alpha val="45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۰۶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573902" y="2098625"/>
            <a:ext cx="1931298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594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توصیه و استراتژی ورود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609600" y="2581275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619500" y="2795588"/>
            <a:ext cx="514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830"/>
              </a:lnSpc>
              <a:buNone/>
            </a:pPr>
            <a:r>
              <a:rPr lang="en-US" sz="2250" b="1" dirty="0">
                <a:solidFill>
                  <a:srgbClr val="FFFFFF">
                    <a:alpha val="45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۰۷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2068309" y="2803475"/>
            <a:ext cx="143689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594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اندازه بازار و مالی</a:t>
            </a:r>
            <a:endParaRPr lang="en-US" sz="1575" dirty="0"/>
          </a:p>
        </p:txBody>
      </p:sp>
      <p:sp>
        <p:nvSpPr>
          <p:cNvPr id="39" name="Shape 37"/>
          <p:cNvSpPr/>
          <p:nvPr/>
        </p:nvSpPr>
        <p:spPr>
          <a:xfrm>
            <a:off x="609600" y="3286125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619500" y="3500438"/>
            <a:ext cx="514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830"/>
              </a:lnSpc>
              <a:buNone/>
            </a:pPr>
            <a:r>
              <a:rPr lang="en-US" sz="2250" b="1" dirty="0">
                <a:solidFill>
                  <a:srgbClr val="FFFFFF">
                    <a:alpha val="45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۰۸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1767408" y="3508325"/>
            <a:ext cx="1737792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594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ریسک‌ها و شرط ابطال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609600" y="3990975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619500" y="4205288"/>
            <a:ext cx="514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830"/>
              </a:lnSpc>
              <a:buNone/>
            </a:pPr>
            <a:r>
              <a:rPr lang="en-US" sz="2250" b="1" dirty="0">
                <a:solidFill>
                  <a:srgbClr val="FFFFFF">
                    <a:alpha val="45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۰۹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1997422" y="4213175"/>
            <a:ext cx="1507778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594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نقشه راه و سازمان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609600" y="4695825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619500" y="4910138"/>
            <a:ext cx="514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830"/>
              </a:lnSpc>
              <a:buNone/>
            </a:pPr>
            <a:r>
              <a:rPr lang="en-US" sz="2250" b="1" dirty="0">
                <a:solidFill>
                  <a:srgbClr val="FFFFFF">
                    <a:alpha val="45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۱۰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2500759" y="4918025"/>
            <a:ext cx="100444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594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بسته تصمیم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609600" y="5675114"/>
            <a:ext cx="352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03873" y="5856089"/>
            <a:ext cx="362997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از استراتژی و اعداد تا آنچه امروز تصویب می‌شود.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095501" y="3047999"/>
            <a:ext cx="5334002" cy="5334002"/>
          </a:xfrm>
          <a:prstGeom prst="roundRect">
            <a:avLst>
              <a:gd name="adj" fmla="val 11429"/>
            </a:avLst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1333501" y="3809999"/>
            <a:ext cx="3810001" cy="3810001"/>
          </a:xfrm>
          <a:prstGeom prst="roundRect">
            <a:avLst>
              <a:gd name="adj" fmla="val 12000"/>
            </a:avLst>
          </a:prstGeom>
          <a:solidFill>
            <a:srgbClr val="6E6E6E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571500" y="4572000"/>
            <a:ext cx="2286001" cy="2286001"/>
          </a:xfrm>
          <a:prstGeom prst="roundRect">
            <a:avLst>
              <a:gd name="adj" fmla="val 13333"/>
            </a:avLst>
          </a:prstGeom>
          <a:solidFill>
            <a:srgbClr val="B7820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33350" y="5276850"/>
            <a:ext cx="876300" cy="876300"/>
          </a:xfrm>
          <a:prstGeom prst="roundRect">
            <a:avLst>
              <a:gd name="adj" fmla="val 17391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>
            <a:off x="5905500" y="1143000"/>
            <a:ext cx="628650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" name="Shape 5"/>
          <p:cNvSpPr/>
          <p:nvPr/>
        </p:nvSpPr>
        <p:spPr>
          <a:xfrm>
            <a:off x="11468100" y="1638300"/>
            <a:ext cx="114300" cy="112395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8" name="Text 6"/>
          <p:cNvSpPr/>
          <p:nvPr/>
        </p:nvSpPr>
        <p:spPr>
          <a:xfrm>
            <a:off x="7670378" y="1638300"/>
            <a:ext cx="355007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۰۱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70378" y="1981200"/>
            <a:ext cx="3550072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65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خلاصه مدیریتی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22645" y="2819400"/>
            <a:ext cx="5297805" cy="6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667"/>
              </a:lnSpc>
              <a:buNone/>
            </a:pPr>
            <a:r>
              <a:rPr lang="en-US" sz="1200" dirty="0">
                <a:solidFill>
                  <a:srgbClr val="FFFFFF">
                    <a:alpha val="7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این فصل توصیه‌ی نهایی را می‌گوید، اثر آن را بر چهار محور گروه نشان می‌دهد، و ریسک‌ها و مجهولاتی را که تصمیم به آن‌ها وابسته است فهرست می‌کند.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0550" y="1638300"/>
            <a:ext cx="4400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78" kern="0" dirty="0">
                <a:solidFill>
                  <a:srgbClr val="FFFFF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فصل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 rot="2700000">
            <a:off x="4800600" y="210978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3" name="Text 11"/>
          <p:cNvSpPr/>
          <p:nvPr/>
        </p:nvSpPr>
        <p:spPr>
          <a:xfrm>
            <a:off x="1726555" y="2076450"/>
            <a:ext cx="29025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توصیه: ورود با گزینه‌ی {ب} سواپ محدود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rot="2700000">
            <a:off x="4800600" y="261461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5" name="Text 13"/>
          <p:cNvSpPr/>
          <p:nvPr/>
        </p:nvSpPr>
        <p:spPr>
          <a:xfrm>
            <a:off x="2668057" y="2581275"/>
            <a:ext cx="196109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اثر بر چهار محور اصلی مدنظر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 rot="2700000">
            <a:off x="4800600" y="311943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7" name="Text 15"/>
          <p:cNvSpPr/>
          <p:nvPr/>
        </p:nvSpPr>
        <p:spPr>
          <a:xfrm>
            <a:off x="3287703" y="3086100"/>
            <a:ext cx="13414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ریسک‌ها و مجهولات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27635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42975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666750" y="5334000"/>
            <a:ext cx="1924051" cy="1924051"/>
          </a:xfrm>
          <a:prstGeom prst="roundRect">
            <a:avLst>
              <a:gd name="adj" fmla="val 12871"/>
            </a:avLst>
          </a:prstGeom>
          <a:ln w="9525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-247650" y="5753100"/>
            <a:ext cx="1085850" cy="1085850"/>
          </a:xfrm>
          <a:prstGeom prst="roundRect">
            <a:avLst>
              <a:gd name="adj" fmla="val 14035"/>
            </a:avLst>
          </a:prstGeom>
          <a:ln w="9525">
            <a:solidFill>
              <a:srgbClr val="FDB913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36325" y="419100"/>
            <a:ext cx="7460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42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۱ · ۱‑۱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52650" y="647700"/>
            <a:ext cx="9429750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3774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توصیه: ورود با گزینه‌ی ب — سواپ محدود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0" y="1504950"/>
            <a:ext cx="12192000" cy="9525"/>
          </a:xfrm>
          <a:prstGeom prst="rect">
            <a:avLst/>
          </a:prstGeom>
          <a:solidFill>
            <a:srgbClr val="00000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96250" y="1476375"/>
            <a:ext cx="4095750" cy="571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" y="1809750"/>
            <a:ext cx="10972800" cy="14478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171450" y="1371600"/>
            <a:ext cx="1447800" cy="1447800"/>
          </a:xfrm>
          <a:prstGeom prst="roundRect">
            <a:avLst>
              <a:gd name="adj" fmla="val 13158"/>
            </a:avLst>
          </a:prstGeom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381000" y="2686050"/>
            <a:ext cx="1047750" cy="1047750"/>
          </a:xfrm>
          <a:prstGeom prst="roundRect">
            <a:avLst>
              <a:gd name="adj" fmla="val 14545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10439400" y="2124075"/>
            <a:ext cx="819150" cy="819150"/>
          </a:xfrm>
          <a:prstGeom prst="roundRect">
            <a:avLst>
              <a:gd name="adj" fmla="val 25581"/>
            </a:avLst>
          </a:prstGeom>
          <a:solidFill>
            <a:srgbClr val="FDB913"/>
          </a:solidFill>
          <a:ln/>
        </p:spPr>
      </p:sp>
      <p:sp>
        <p:nvSpPr>
          <p:cNvPr id="15" name="Text 13"/>
          <p:cNvSpPr/>
          <p:nvPr/>
        </p:nvSpPr>
        <p:spPr>
          <a:xfrm rot="-2700000">
            <a:off x="10623798" y="2238375"/>
            <a:ext cx="37415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430" y="2215753"/>
            <a:ext cx="1014222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0357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شرکت مجزا، پرداخت ریالی مجزا، مسیر ورود از اپ میلی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1430" y="2632472"/>
            <a:ext cx="101422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سایر گزینه‌ها — سواپ تک‌دارایی، اردربوک، شراکت و تملک — در شرایط فعلی توصیه نمی‌شوند.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 rot="2700000">
            <a:off x="11087100" y="37909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FDB913"/>
          </a:solidFill>
          <a:ln/>
        </p:spPr>
      </p:sp>
      <p:sp>
        <p:nvSpPr>
          <p:cNvPr id="19" name="Text 17"/>
          <p:cNvSpPr/>
          <p:nvPr/>
        </p:nvSpPr>
        <p:spPr>
          <a:xfrm rot="-2700000">
            <a:off x="11220577" y="3848153"/>
            <a:ext cx="15225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058150" y="4029075"/>
            <a:ext cx="28575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05725" y="4514850"/>
            <a:ext cx="3876675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17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مانع اساسی جذب کاربر، پیچیدگی و بی‌اعتمادی است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7952423" y="4882455"/>
            <a:ext cx="3629978" cy="53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33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نه نقدینگی و نه فناوری. میلی در بازار طلا دقیقا همین دو مانع را حل کرده است.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2700000">
            <a:off x="7362825" y="37909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FDB913"/>
          </a:solidFill>
          <a:ln/>
        </p:spPr>
      </p:sp>
      <p:sp>
        <p:nvSpPr>
          <p:cNvPr id="24" name="Text 22"/>
          <p:cNvSpPr/>
          <p:nvPr/>
        </p:nvSpPr>
        <p:spPr>
          <a:xfrm rot="-2700000">
            <a:off x="7471299" y="3848153"/>
            <a:ext cx="2022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333875" y="4029075"/>
            <a:ext cx="28575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3981450" y="4514850"/>
            <a:ext cx="3876675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17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هم‌پوشانی رفتاری بالاست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4228148" y="4882455"/>
            <a:ext cx="3629978" cy="53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33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کاربر میلی و کاربر بالقوه‌ی رمزارز یک جنس‌اند: پس‌اندازکننده‌ی ضدتورمی.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rot="2700000">
            <a:off x="3638550" y="37909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FDB913"/>
          </a:solidFill>
          <a:ln/>
        </p:spPr>
      </p:sp>
      <p:sp>
        <p:nvSpPr>
          <p:cNvPr id="29" name="Text 27"/>
          <p:cNvSpPr/>
          <p:nvPr/>
        </p:nvSpPr>
        <p:spPr>
          <a:xfrm rot="-2700000">
            <a:off x="3719640" y="3848153"/>
            <a:ext cx="25702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609600" y="4029075"/>
            <a:ext cx="28575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257175" y="4514850"/>
            <a:ext cx="3876675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17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تکمیل اکوسیستم جامع فینتک و مالی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503873" y="4882455"/>
            <a:ext cx="3629978" cy="53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33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برای حرکت به سمت ایجاد یک اکوسیستم یکپارچه فینتکی شرط لازم و ضروری است.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375082" y="6429375"/>
            <a:ext cx="3597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۴ / ۴۱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42317" y="6410325"/>
            <a:ext cx="107803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25730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4297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1428750" y="2381250"/>
            <a:ext cx="2876551" cy="2876551"/>
          </a:xfrm>
          <a:prstGeom prst="roundRect">
            <a:avLst>
              <a:gd name="adj" fmla="val 13245"/>
            </a:avLst>
          </a:prstGeom>
          <a:ln w="9525">
            <a:solidFill>
              <a:srgbClr val="000000">
                <a:alpha val="7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36325" y="419100"/>
            <a:ext cx="7460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42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۱ · ۱‑۲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48940" y="647700"/>
            <a:ext cx="863346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36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اثر بر گروه: رشد کاربر، پذیرش پرداخت، مالی و توانمندسازی — هر چهار محور مثبت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1504950"/>
            <a:ext cx="12192000" cy="9525"/>
          </a:xfrm>
          <a:prstGeom prst="rect">
            <a:avLst/>
          </a:prstGeom>
          <a:solidFill>
            <a:srgbClr val="00000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96250" y="1476375"/>
            <a:ext cx="4095750" cy="571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8439150" y="1771650"/>
            <a:ext cx="2971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محور اثر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810500" y="1771650"/>
            <a:ext cx="9525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جهت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647825" y="1771650"/>
            <a:ext cx="6010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سنجه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38163" y="1771650"/>
            <a:ext cx="15716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افق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09600" y="2114550"/>
            <a:ext cx="10972800" cy="752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" y="2857500"/>
            <a:ext cx="109728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0925" y="2386013"/>
            <a:ext cx="200025" cy="2000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769087" y="2376785"/>
            <a:ext cx="2308488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269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پذیرش میلی به‌عنوان ابزار پرداخت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 rot="2700000">
            <a:off x="8086725" y="22860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sp>
        <p:nvSpPr>
          <p:cNvPr id="20" name="Text 17"/>
          <p:cNvSpPr/>
          <p:nvPr/>
        </p:nvSpPr>
        <p:spPr>
          <a:xfrm rot="-2700000">
            <a:off x="8142365" y="2319390"/>
            <a:ext cx="2126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+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2054543" y="2364581"/>
            <a:ext cx="560355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870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افزایش پذیرش میلی به علت تنوع بخشی به دارایی.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538163" y="2376488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پس از 12 ماه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609600" y="2867025"/>
            <a:ext cx="10972800" cy="752475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4" name="Shape 21"/>
          <p:cNvSpPr/>
          <p:nvPr/>
        </p:nvSpPr>
        <p:spPr>
          <a:xfrm>
            <a:off x="609600" y="3609975"/>
            <a:ext cx="109728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0925" y="3138488"/>
            <a:ext cx="200025" cy="20002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186243" y="3129260"/>
            <a:ext cx="891332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269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تعداد کاربران</a:t>
            </a:r>
            <a:endParaRPr lang="en-US" sz="1275" dirty="0"/>
          </a:p>
        </p:txBody>
      </p:sp>
      <p:sp>
        <p:nvSpPr>
          <p:cNvPr id="27" name="Shape 23"/>
          <p:cNvSpPr/>
          <p:nvPr/>
        </p:nvSpPr>
        <p:spPr>
          <a:xfrm rot="2700000">
            <a:off x="8086725" y="303847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sp>
        <p:nvSpPr>
          <p:cNvPr id="28" name="Text 24"/>
          <p:cNvSpPr/>
          <p:nvPr/>
        </p:nvSpPr>
        <p:spPr>
          <a:xfrm rot="-2700000">
            <a:off x="8142365" y="3071865"/>
            <a:ext cx="2126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+</a:t>
            </a:r>
            <a:endParaRPr lang="en-US" sz="1725" dirty="0"/>
          </a:p>
        </p:txBody>
      </p:sp>
      <p:sp>
        <p:nvSpPr>
          <p:cNvPr id="29" name="Text 25"/>
          <p:cNvSpPr/>
          <p:nvPr/>
        </p:nvSpPr>
        <p:spPr>
          <a:xfrm>
            <a:off x="2054543" y="3117056"/>
            <a:ext cx="560355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870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۲۵۰ هزار کاربر فعال ماهانه در ماه ۳۶</a:t>
            </a:r>
            <a:endParaRPr lang="en-US" sz="1125" dirty="0"/>
          </a:p>
        </p:txBody>
      </p:sp>
      <p:sp>
        <p:nvSpPr>
          <p:cNvPr id="30" name="Text 26"/>
          <p:cNvSpPr/>
          <p:nvPr/>
        </p:nvSpPr>
        <p:spPr>
          <a:xfrm>
            <a:off x="538163" y="3128963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۳۶ ماه</a:t>
            </a:r>
            <a:endParaRPr lang="en-US" sz="1125" dirty="0"/>
          </a:p>
        </p:txBody>
      </p:sp>
      <p:sp>
        <p:nvSpPr>
          <p:cNvPr id="31" name="Shape 27"/>
          <p:cNvSpPr/>
          <p:nvPr/>
        </p:nvSpPr>
        <p:spPr>
          <a:xfrm>
            <a:off x="609600" y="3619500"/>
            <a:ext cx="10972800" cy="752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8"/>
          <p:cNvSpPr/>
          <p:nvPr/>
        </p:nvSpPr>
        <p:spPr>
          <a:xfrm>
            <a:off x="609600" y="4362450"/>
            <a:ext cx="109728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10925" y="3890962"/>
            <a:ext cx="200025" cy="200025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0754916" y="3881735"/>
            <a:ext cx="32265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269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مالی</a:t>
            </a:r>
            <a:endParaRPr lang="en-US" sz="1275" dirty="0"/>
          </a:p>
        </p:txBody>
      </p:sp>
      <p:sp>
        <p:nvSpPr>
          <p:cNvPr id="35" name="Shape 30"/>
          <p:cNvSpPr/>
          <p:nvPr/>
        </p:nvSpPr>
        <p:spPr>
          <a:xfrm rot="2700000">
            <a:off x="8086725" y="37909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sp>
        <p:nvSpPr>
          <p:cNvPr id="36" name="Text 31"/>
          <p:cNvSpPr/>
          <p:nvPr/>
        </p:nvSpPr>
        <p:spPr>
          <a:xfrm rot="-2700000">
            <a:off x="8142365" y="3824340"/>
            <a:ext cx="2126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+</a:t>
            </a:r>
            <a:endParaRPr lang="en-US" sz="1725" dirty="0"/>
          </a:p>
        </p:txBody>
      </p:sp>
      <p:sp>
        <p:nvSpPr>
          <p:cNvPr id="37" name="Text 32"/>
          <p:cNvSpPr/>
          <p:nvPr/>
        </p:nvSpPr>
        <p:spPr>
          <a:xfrm>
            <a:off x="2054543" y="3869531"/>
            <a:ext cx="560355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870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درآمد ۴٫۴۳M$ سال سوم · NPV مالی افق ۱٫۳۸M$ · ارزش شرکت در خروج ۱۵٫۵۰M$</a:t>
            </a:r>
            <a:endParaRPr lang="en-US" sz="1125" dirty="0"/>
          </a:p>
        </p:txBody>
      </p:sp>
      <p:sp>
        <p:nvSpPr>
          <p:cNvPr id="38" name="Text 33"/>
          <p:cNvSpPr/>
          <p:nvPr/>
        </p:nvSpPr>
        <p:spPr>
          <a:xfrm>
            <a:off x="538163" y="3881438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۳۶ ماه</a:t>
            </a:r>
            <a:endParaRPr lang="en-US" sz="1125" dirty="0"/>
          </a:p>
        </p:txBody>
      </p:sp>
      <p:sp>
        <p:nvSpPr>
          <p:cNvPr id="39" name="Shape 34"/>
          <p:cNvSpPr/>
          <p:nvPr/>
        </p:nvSpPr>
        <p:spPr>
          <a:xfrm>
            <a:off x="609600" y="4371975"/>
            <a:ext cx="10972800" cy="742950"/>
          </a:xfrm>
          <a:prstGeom prst="rect">
            <a:avLst/>
          </a:prstGeom>
          <a:solidFill>
            <a:srgbClr val="F6F6F6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10925" y="4643438"/>
            <a:ext cx="200025" cy="200025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199319" y="4634210"/>
            <a:ext cx="1878256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269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توانمندساز سایر کسب‌وکارها</a:t>
            </a:r>
            <a:endParaRPr lang="en-US" sz="1275" dirty="0"/>
          </a:p>
        </p:txBody>
      </p:sp>
      <p:sp>
        <p:nvSpPr>
          <p:cNvPr id="42" name="Shape 36"/>
          <p:cNvSpPr/>
          <p:nvPr/>
        </p:nvSpPr>
        <p:spPr>
          <a:xfrm rot="2700000">
            <a:off x="8086725" y="45434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sp>
        <p:nvSpPr>
          <p:cNvPr id="43" name="Text 37"/>
          <p:cNvSpPr/>
          <p:nvPr/>
        </p:nvSpPr>
        <p:spPr>
          <a:xfrm rot="-2700000">
            <a:off x="8142365" y="4576815"/>
            <a:ext cx="2126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+</a:t>
            </a:r>
            <a:endParaRPr lang="en-US" sz="1725" dirty="0"/>
          </a:p>
        </p:txBody>
      </p:sp>
      <p:sp>
        <p:nvSpPr>
          <p:cNvPr id="44" name="Text 38"/>
          <p:cNvSpPr/>
          <p:nvPr/>
        </p:nvSpPr>
        <p:spPr>
          <a:xfrm>
            <a:off x="2054543" y="4622006"/>
            <a:ext cx="560355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870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خزانه‌داری، کاستودی و انطباق ساخته‌شده، پیش‌نیاز تعدادی از سرویس‌های مالی است.</a:t>
            </a:r>
            <a:endParaRPr lang="en-US" sz="1125" dirty="0"/>
          </a:p>
        </p:txBody>
      </p:sp>
      <p:sp>
        <p:nvSpPr>
          <p:cNvPr id="45" name="Text 39"/>
          <p:cNvSpPr/>
          <p:nvPr/>
        </p:nvSpPr>
        <p:spPr>
          <a:xfrm>
            <a:off x="538163" y="4633913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پس از ماه 24</a:t>
            </a:r>
            <a:endParaRPr lang="en-US" sz="1125" dirty="0"/>
          </a:p>
        </p:txBody>
      </p:sp>
      <p:sp>
        <p:nvSpPr>
          <p:cNvPr id="46" name="Text 40"/>
          <p:cNvSpPr/>
          <p:nvPr/>
        </p:nvSpPr>
        <p:spPr>
          <a:xfrm>
            <a:off x="11375082" y="6429375"/>
            <a:ext cx="3597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۵ / ۴۱</a:t>
            </a:r>
            <a:endParaRPr lang="en-US" sz="825" dirty="0"/>
          </a:p>
        </p:txBody>
      </p:sp>
      <p:sp>
        <p:nvSpPr>
          <p:cNvPr id="47" name="Text 41"/>
          <p:cNvSpPr/>
          <p:nvPr/>
        </p:nvSpPr>
        <p:spPr>
          <a:xfrm>
            <a:off x="442317" y="6410325"/>
            <a:ext cx="107803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48" name="Text 42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23825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23925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0960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5" name="Text 3"/>
          <p:cNvSpPr/>
          <p:nvPr/>
        </p:nvSpPr>
        <p:spPr>
          <a:xfrm>
            <a:off x="10836325" y="419100"/>
            <a:ext cx="7460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42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۱ · ۱‑۳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48940" y="647700"/>
            <a:ext cx="863346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36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سه ریسک قابل‌مدیریت، سه مجهول که پیش از هزینه‌کرد سنگین باید حل شوند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1504950"/>
            <a:ext cx="12192000" cy="9525"/>
          </a:xfrm>
          <a:prstGeom prst="rect">
            <a:avLst/>
          </a:prstGeom>
          <a:solidFill>
            <a:srgbClr val="000000">
              <a:alpha val="1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96250" y="1476375"/>
            <a:ext cx="4095750" cy="571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9" name="Text 7"/>
          <p:cNvSpPr/>
          <p:nvPr/>
        </p:nvSpPr>
        <p:spPr>
          <a:xfrm>
            <a:off x="4667250" y="1809750"/>
            <a:ext cx="69151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ریسک و پاسخ کوتاه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 rot="2700000">
            <a:off x="11258550" y="22098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DB913"/>
          </a:solidFill>
          <a:ln/>
        </p:spPr>
      </p:sp>
      <p:sp>
        <p:nvSpPr>
          <p:cNvPr id="11" name="Text 9"/>
          <p:cNvSpPr/>
          <p:nvPr/>
        </p:nvSpPr>
        <p:spPr>
          <a:xfrm rot="-2700000">
            <a:off x="11319400" y="2247953"/>
            <a:ext cx="12605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5295900" y="2190750"/>
            <a:ext cx="57912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16780" y="2343150"/>
            <a:ext cx="637032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44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تسری اعمال محدودیت به لاین طلا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5122164" y="2663577"/>
            <a:ext cx="596493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پاسخ: تفکیک کامل شرکتی و عملیاتی، به‌عنوان شرط و پیش‌نیاز اساسی.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2700000">
            <a:off x="11258550" y="3132088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DB913"/>
          </a:solidFill>
          <a:ln/>
        </p:spPr>
      </p:sp>
      <p:sp>
        <p:nvSpPr>
          <p:cNvPr id="16" name="Text 14"/>
          <p:cNvSpPr/>
          <p:nvPr/>
        </p:nvSpPr>
        <p:spPr>
          <a:xfrm rot="-2700000">
            <a:off x="11303050" y="3170188"/>
            <a:ext cx="1586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5295900" y="3113038"/>
            <a:ext cx="57912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716780" y="3265438"/>
            <a:ext cx="637032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44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مقرراتی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5122164" y="3585865"/>
            <a:ext cx="5964936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پاسخ: برای هیچ بیزینسی در این حوزه قابل حذف نیست، فضای رگولاتوری شفاف نیست و سابقه اقدام موردی برای بستن درگاه و ... به دفعات وجود دارد. هنوز از منظر قانونی تعیین تکلیف نشده‌اند.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rot="2700000">
            <a:off x="11258550" y="4294287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DB913"/>
          </a:solidFill>
          <a:ln/>
        </p:spPr>
      </p:sp>
      <p:sp>
        <p:nvSpPr>
          <p:cNvPr id="21" name="Text 19"/>
          <p:cNvSpPr/>
          <p:nvPr/>
        </p:nvSpPr>
        <p:spPr>
          <a:xfrm rot="-2700000">
            <a:off x="11285169" y="4332439"/>
            <a:ext cx="1945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5295900" y="4275237"/>
            <a:ext cx="57912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716780" y="4427637"/>
            <a:ext cx="6370320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44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بازارگردانی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5122164" y="4748064"/>
            <a:ext cx="5964936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پاسخ: به صورت back to back (با اعتبار پارتنر یا با سرمایه در گردش میلی )، سپس در گام اول بازرگردانی تتر و بعد از آن سایر کوین‌ها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9600" y="1809750"/>
            <a:ext cx="4000500" cy="33718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 rot="2700000">
            <a:off x="-152400" y="3981449"/>
            <a:ext cx="2114551" cy="2114551"/>
          </a:xfrm>
          <a:prstGeom prst="roundRect">
            <a:avLst>
              <a:gd name="adj" fmla="val 13514"/>
            </a:avLst>
          </a:prstGeom>
          <a:ln w="9525">
            <a:solidFill>
              <a:srgbClr val="FDB913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85750" y="4438650"/>
            <a:ext cx="1219200" cy="1219200"/>
          </a:xfrm>
          <a:prstGeom prst="roundRect">
            <a:avLst>
              <a:gd name="adj" fmla="val 14063"/>
            </a:avLst>
          </a:prstGeom>
          <a:solidFill>
            <a:srgbClr val="FDB913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52450" y="2076450"/>
            <a:ext cx="37719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59" kern="0" dirty="0">
                <a:solidFill>
                  <a:srgbClr val="FFFFFF">
                    <a:alpha val="5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آنچه هنوز نمی‌دانیم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 rot="2700000">
            <a:off x="4000500" y="2476500"/>
            <a:ext cx="323850" cy="323850"/>
          </a:xfrm>
          <a:prstGeom prst="roundRect">
            <a:avLst>
              <a:gd name="adj" fmla="val 29412"/>
            </a:avLst>
          </a:prstGeom>
          <a:ln w="9525">
            <a:solidFill>
              <a:srgbClr val="FDB913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 rot="-2700000">
            <a:off x="4054227" y="2514600"/>
            <a:ext cx="140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؟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806768" y="2476500"/>
            <a:ext cx="30413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7391"/>
              </a:lnSpc>
              <a:buNone/>
            </a:pPr>
            <a:r>
              <a:rPr lang="en-US" sz="1125" dirty="0">
                <a:solidFill>
                  <a:srgbClr val="FFFFFF">
                    <a:alpha val="8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چه تعداد از کاربران میلی با رمزارز آشنا هستند و حاضرند آن را از میلی بخرند؟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 rot="2700000">
            <a:off x="4000500" y="3200400"/>
            <a:ext cx="323850" cy="323850"/>
          </a:xfrm>
          <a:prstGeom prst="roundRect">
            <a:avLst>
              <a:gd name="adj" fmla="val 29412"/>
            </a:avLst>
          </a:prstGeom>
          <a:ln w="9525">
            <a:solidFill>
              <a:srgbClr val="FDB913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 rot="-2700000">
            <a:off x="4054227" y="3238500"/>
            <a:ext cx="140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؟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806768" y="3200400"/>
            <a:ext cx="30413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7391"/>
              </a:lnSpc>
              <a:buNone/>
            </a:pPr>
            <a:r>
              <a:rPr lang="en-US" sz="1125" dirty="0">
                <a:solidFill>
                  <a:srgbClr val="FFFFFF">
                    <a:alpha val="8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چند درصد کاربران قدم تکمیلی احراز هویت را انجام می‌دهند؟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 rot="2700000">
            <a:off x="4000500" y="3924300"/>
            <a:ext cx="323850" cy="323850"/>
          </a:xfrm>
          <a:prstGeom prst="roundRect">
            <a:avLst>
              <a:gd name="adj" fmla="val 29412"/>
            </a:avLst>
          </a:prstGeom>
          <a:ln w="9525">
            <a:solidFill>
              <a:srgbClr val="FDB913">
                <a:alpha val="7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 rot="-2700000">
            <a:off x="4054227" y="3962400"/>
            <a:ext cx="140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؟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2059335" y="3924300"/>
            <a:ext cx="17887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7391"/>
              </a:lnSpc>
              <a:buNone/>
            </a:pPr>
            <a:r>
              <a:rPr lang="en-US" sz="1125" dirty="0">
                <a:solidFill>
                  <a:srgbClr val="FFFFFF">
                    <a:alpha val="8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احتمال کانیبالیزیشن چقدر است؟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895350" y="4514850"/>
            <a:ext cx="3429000" cy="952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92480" y="4695825"/>
            <a:ext cx="35318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این سه، سوال در فاز صفر ئاسخ داده خواهند شد.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375082" y="6429375"/>
            <a:ext cx="3597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۶ / ۴۱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42317" y="6410325"/>
            <a:ext cx="107803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095501" y="3047999"/>
            <a:ext cx="5334002" cy="5334002"/>
          </a:xfrm>
          <a:prstGeom prst="roundRect">
            <a:avLst>
              <a:gd name="adj" fmla="val 11429"/>
            </a:avLst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1333501" y="3809999"/>
            <a:ext cx="3810001" cy="3810001"/>
          </a:xfrm>
          <a:prstGeom prst="roundRect">
            <a:avLst>
              <a:gd name="adj" fmla="val 12000"/>
            </a:avLst>
          </a:prstGeom>
          <a:solidFill>
            <a:srgbClr val="6E6E6E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571500" y="4572000"/>
            <a:ext cx="2286001" cy="2286001"/>
          </a:xfrm>
          <a:prstGeom prst="roundRect">
            <a:avLst>
              <a:gd name="adj" fmla="val 13333"/>
            </a:avLst>
          </a:prstGeom>
          <a:solidFill>
            <a:srgbClr val="B7820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33350" y="5276850"/>
            <a:ext cx="876300" cy="876300"/>
          </a:xfrm>
          <a:prstGeom prst="roundRect">
            <a:avLst>
              <a:gd name="adj" fmla="val 17391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>
            <a:off x="5905500" y="1143000"/>
            <a:ext cx="628650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" name="Shape 5"/>
          <p:cNvSpPr/>
          <p:nvPr/>
        </p:nvSpPr>
        <p:spPr>
          <a:xfrm>
            <a:off x="11468100" y="1638300"/>
            <a:ext cx="114300" cy="112395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۰۲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33950" y="1981200"/>
            <a:ext cx="6286500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65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سؤال تصمیم و گزینه‌ها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22645" y="2819400"/>
            <a:ext cx="5297805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7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معیارهای این فصل غیرمالی‌اند: پرسونای کاربر، تناسب با قابلیت موجود و ریسک. ارزیابی مالی در فصل ۷ می‌آید.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0550" y="1638300"/>
            <a:ext cx="4400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78" kern="0" dirty="0">
                <a:solidFill>
                  <a:srgbClr val="FFFFF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فصل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 rot="2700000">
            <a:off x="4800600" y="210978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3" name="Text 11"/>
          <p:cNvSpPr/>
          <p:nvPr/>
        </p:nvSpPr>
        <p:spPr>
          <a:xfrm>
            <a:off x="3160499" y="2076450"/>
            <a:ext cx="146865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چه گزینه‌هایی داریم؟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rot="2700000">
            <a:off x="4800600" y="261461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5" name="Text 13"/>
          <p:cNvSpPr/>
          <p:nvPr/>
        </p:nvSpPr>
        <p:spPr>
          <a:xfrm>
            <a:off x="2553950" y="2581275"/>
            <a:ext cx="2075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مقایسه گزینه‌های پیش روی ما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4297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۲ · ۲‑۱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فضای گزینه هفت بُعد دارد؛ توصیه در هر بُعد یک انتخاب مشخص است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10775" y="1390650"/>
            <a:ext cx="15716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بُعد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27045" y="1390650"/>
            <a:ext cx="69361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گزینه‌ها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3850" y="1390650"/>
            <a:ext cx="29527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دلیل انتخاب توصیه‌شده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9600" y="220980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10775" y="1804988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مدل معامله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9223474" y="1738313"/>
            <a:ext cx="739676" cy="352425"/>
          </a:xfrm>
          <a:prstGeom prst="rect">
            <a:avLst/>
          </a:prstGeom>
          <a:ln w="9525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09199" y="1814513"/>
            <a:ext cx="49202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اردربوک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67191" y="1738313"/>
            <a:ext cx="1361033" cy="352425"/>
          </a:xfrm>
          <a:prstGeom prst="rect">
            <a:avLst/>
          </a:prstGeom>
          <a:solidFill>
            <a:srgbClr val="FDB913"/>
          </a:solidFill>
          <a:ln w="9525">
            <a:solidFill>
              <a:srgbClr val="FDB9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52916" y="1814513"/>
            <a:ext cx="11133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سواپ با قیمت اعلامی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78798" y="1738313"/>
            <a:ext cx="1093143" cy="352425"/>
          </a:xfrm>
          <a:prstGeom prst="rect">
            <a:avLst/>
          </a:prstGeom>
          <a:ln w="9525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4523" y="1814513"/>
            <a:ext cx="8454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OTC مذاکره‌ای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57575" y="1818531"/>
            <a:ext cx="9525" cy="191839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3850" y="1818531"/>
            <a:ext cx="2943225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75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سادگی برای خریدار با توجه به پرسونای کاربر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09600" y="2809875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010775" y="2405063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دامنه‌ی دارایی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9273480" y="2338388"/>
            <a:ext cx="689670" cy="352425"/>
          </a:xfrm>
          <a:prstGeom prst="rect">
            <a:avLst/>
          </a:prstGeom>
          <a:ln w="9525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59205" y="2414588"/>
            <a:ext cx="4420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فقط تتر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2368" y="2338388"/>
            <a:ext cx="1185863" cy="352425"/>
          </a:xfrm>
          <a:prstGeom prst="rect">
            <a:avLst/>
          </a:prstGeom>
          <a:solidFill>
            <a:srgbClr val="FDB913"/>
          </a:solidFill>
          <a:ln w="9525">
            <a:solidFill>
              <a:srgbClr val="FDB91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78093" y="2414588"/>
            <a:ext cx="93821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 تا ۶ کوین اصلی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45498" y="2338388"/>
            <a:ext cx="1051620" cy="352425"/>
          </a:xfrm>
          <a:prstGeom prst="rect">
            <a:avLst/>
          </a:prstGeom>
          <a:ln w="9525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223" y="2414588"/>
            <a:ext cx="8039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۱۵ تا ۳۰ کوین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98790" y="2338388"/>
            <a:ext cx="951458" cy="352425"/>
          </a:xfrm>
          <a:prstGeom prst="rect">
            <a:avLst/>
          </a:prstGeom>
          <a:ln w="9525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84515" y="2414588"/>
            <a:ext cx="7038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بیش از ۱۰۰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57575" y="2418606"/>
            <a:ext cx="9525" cy="191839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23850" y="2418606"/>
            <a:ext cx="2943225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75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پوشش بخش اصلی تقاضا با کمترین بار عملیاتی و مقرراتی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609600" y="340995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010775" y="3005138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منبع نقدینگی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9085511" y="2938463"/>
            <a:ext cx="877639" cy="352425"/>
          </a:xfrm>
          <a:prstGeom prst="rect">
            <a:avLst/>
          </a:prstGeom>
          <a:solidFill>
            <a:srgbClr val="FDB913"/>
          </a:solidFill>
          <a:ln w="9525">
            <a:solidFill>
              <a:srgbClr val="FDB91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71236" y="3014663"/>
            <a:ext cx="6299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دفتر داخلی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98866" y="2938463"/>
            <a:ext cx="1391394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4591" y="3014663"/>
            <a:ext cx="11437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تامین‌کننده‌ی نقدینگی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25753" y="2938463"/>
            <a:ext cx="1477863" cy="352425"/>
          </a:xfrm>
          <a:prstGeom prst="rect">
            <a:avLst/>
          </a:prstGeom>
          <a:solidFill>
            <a:srgbClr val="FED974"/>
          </a:solidFill>
          <a:ln w="9525">
            <a:solidFill>
              <a:srgbClr val="FED97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11478" y="3014663"/>
            <a:ext cx="12302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اتصال به صرافی شریک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57575" y="3018681"/>
            <a:ext cx="9525" cy="191839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23850" y="3018681"/>
            <a:ext cx="2943225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75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بدون ریسک موجودی و نگرانی از خالی فروشی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609600" y="4010025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010775" y="3605213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نگهداری دارایی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8903791" y="3538538"/>
            <a:ext cx="1059359" cy="352425"/>
          </a:xfrm>
          <a:prstGeom prst="rect">
            <a:avLst/>
          </a:prstGeom>
          <a:solidFill>
            <a:srgbClr val="FDB913"/>
          </a:solidFill>
          <a:ln w="9525">
            <a:solidFill>
              <a:srgbClr val="FDB91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89516" y="3614738"/>
            <a:ext cx="8117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کیف پول خودی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513886" y="3538538"/>
            <a:ext cx="1294656" cy="352425"/>
          </a:xfrm>
          <a:prstGeom prst="rect">
            <a:avLst/>
          </a:prstGeom>
          <a:solidFill>
            <a:srgbClr val="FED974"/>
          </a:solidFill>
          <a:ln w="9525">
            <a:solidFill>
              <a:srgbClr val="FED97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99611" y="3614738"/>
            <a:ext cx="10470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کاستودی نزد شریک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758136" y="3538538"/>
            <a:ext cx="660499" cy="352425"/>
          </a:xfrm>
          <a:prstGeom prst="rect">
            <a:avLst/>
          </a:prstGeom>
          <a:ln w="9525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43861" y="3614738"/>
            <a:ext cx="4128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ترکیبی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457575" y="3618756"/>
            <a:ext cx="9525" cy="191839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23850" y="3618756"/>
            <a:ext cx="2943225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75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ریسک بالای سپردن به شخص ثالث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609600" y="461010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010775" y="4205288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ساخت یا خرید</a:t>
            </a:r>
            <a:endParaRPr lang="en-US" sz="1125" dirty="0"/>
          </a:p>
        </p:txBody>
      </p:sp>
      <p:sp>
        <p:nvSpPr>
          <p:cNvPr id="53" name="Shape 51"/>
          <p:cNvSpPr/>
          <p:nvPr/>
        </p:nvSpPr>
        <p:spPr>
          <a:xfrm>
            <a:off x="8914656" y="4138613"/>
            <a:ext cx="1048494" cy="352425"/>
          </a:xfrm>
          <a:prstGeom prst="rect">
            <a:avLst/>
          </a:prstGeom>
          <a:solidFill>
            <a:srgbClr val="FDB913"/>
          </a:solidFill>
          <a:ln w="9525">
            <a:solidFill>
              <a:srgbClr val="FDB91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00381" y="4214813"/>
            <a:ext cx="8008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توسعه‌ی داخلی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24961" y="4138613"/>
            <a:ext cx="794445" cy="352425"/>
          </a:xfrm>
          <a:prstGeom prst="rect">
            <a:avLst/>
          </a:prstGeom>
          <a:ln w="9525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10686" y="4214813"/>
            <a:ext cx="5467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وایت‌لیبل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247632" y="4138613"/>
            <a:ext cx="682079" cy="352425"/>
          </a:xfrm>
          <a:prstGeom prst="rect">
            <a:avLst/>
          </a:prstGeom>
          <a:ln w="9525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33357" y="4214813"/>
            <a:ext cx="4344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شراکت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571804" y="4138613"/>
            <a:ext cx="580579" cy="352425"/>
          </a:xfrm>
          <a:prstGeom prst="rect">
            <a:avLst/>
          </a:prstGeom>
          <a:ln w="9525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57529" y="4214813"/>
            <a:ext cx="3329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تملک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457575" y="4218831"/>
            <a:ext cx="9525" cy="191839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323850" y="4218831"/>
            <a:ext cx="2943225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75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توانایی اثبات شده در ساخت تجربه کاربری</a:t>
            </a:r>
            <a:endParaRPr lang="en-US" sz="975" dirty="0"/>
          </a:p>
        </p:txBody>
      </p:sp>
      <p:sp>
        <p:nvSpPr>
          <p:cNvPr id="63" name="Shape 61"/>
          <p:cNvSpPr/>
          <p:nvPr/>
        </p:nvSpPr>
        <p:spPr>
          <a:xfrm>
            <a:off x="609600" y="5210175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010775" y="4805363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لاین پرداخت ریالی</a:t>
            </a:r>
            <a:endParaRPr lang="en-US" sz="1125" dirty="0"/>
          </a:p>
        </p:txBody>
      </p:sp>
      <p:sp>
        <p:nvSpPr>
          <p:cNvPr id="65" name="Shape 63"/>
          <p:cNvSpPr/>
          <p:nvPr/>
        </p:nvSpPr>
        <p:spPr>
          <a:xfrm>
            <a:off x="8914209" y="4738688"/>
            <a:ext cx="1048941" cy="352425"/>
          </a:xfrm>
          <a:prstGeom prst="rect">
            <a:avLst/>
          </a:prstGeom>
          <a:ln w="9525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99934" y="4814888"/>
            <a:ext cx="8012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لاین فعلی میلی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364462" y="4738688"/>
            <a:ext cx="1454497" cy="352425"/>
          </a:xfrm>
          <a:prstGeom prst="rect">
            <a:avLst/>
          </a:prstGeom>
          <a:solidFill>
            <a:srgbClr val="FDB913"/>
          </a:solidFill>
          <a:ln w="9525">
            <a:solidFill>
              <a:srgbClr val="FDB91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50187" y="4814888"/>
            <a:ext cx="12068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شرکت و لاین کاملا مجزا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457575" y="4818906"/>
            <a:ext cx="9525" cy="191839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323850" y="4818906"/>
            <a:ext cx="2943225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750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محافظت از مجوز و مسیر پرداخت فعلی میلی</a:t>
            </a:r>
            <a:endParaRPr lang="en-US" sz="975" dirty="0"/>
          </a:p>
        </p:txBody>
      </p:sp>
      <p:sp>
        <p:nvSpPr>
          <p:cNvPr id="71" name="Shape 69"/>
          <p:cNvSpPr/>
          <p:nvPr/>
        </p:nvSpPr>
        <p:spPr>
          <a:xfrm>
            <a:off x="609600" y="581025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010775" y="5405438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جایگاه محصولی</a:t>
            </a:r>
            <a:endParaRPr lang="en-US" sz="1125" dirty="0"/>
          </a:p>
        </p:txBody>
      </p:sp>
      <p:sp>
        <p:nvSpPr>
          <p:cNvPr id="73" name="Shape 71"/>
          <p:cNvSpPr/>
          <p:nvPr/>
        </p:nvSpPr>
        <p:spPr>
          <a:xfrm>
            <a:off x="8576072" y="5338763"/>
            <a:ext cx="1387078" cy="352425"/>
          </a:xfrm>
          <a:prstGeom prst="rect">
            <a:avLst/>
          </a:prstGeom>
          <a:solidFill>
            <a:srgbClr val="FDB913"/>
          </a:solidFill>
          <a:ln w="9525">
            <a:solidFill>
              <a:srgbClr val="FDB91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61797" y="5414963"/>
            <a:ext cx="11394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قابلیت درون اپ فعلی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300913" y="5338763"/>
            <a:ext cx="1179909" cy="352425"/>
          </a:xfrm>
          <a:prstGeom prst="rect">
            <a:avLst/>
          </a:prstGeom>
          <a:ln w="9525">
            <a:solidFill>
              <a:srgbClr val="000000">
                <a:alpha val="18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86638" y="5414963"/>
            <a:ext cx="9322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اپ و برند مستقل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1375082" y="6429375"/>
            <a:ext cx="3597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۸ / ۴۱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442317" y="6410325"/>
            <a:ext cx="107803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79" name="Text 77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23925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0960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4" name="Text 2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۲ · ۲‑۲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تنها گزینه‌ی ب در هر شش معیار از آستانه‌ی قابل‌پذیرش عبور می‌کند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9600" y="1714500"/>
            <a:ext cx="109728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9172575" y="1428750"/>
            <a:ext cx="2409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گزینه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854895" y="1428750"/>
            <a:ext cx="16099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زمان تا عرضه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391163" y="1428750"/>
            <a:ext cx="16100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ریسک مقرراتی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927439" y="1428750"/>
            <a:ext cx="16100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ریسک تحریمی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463870" y="1428750"/>
            <a:ext cx="16099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ریسک امنیتی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000138" y="1428750"/>
            <a:ext cx="16100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سقف رشد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36414" y="1428750"/>
            <a:ext cx="16100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برگشت‌پذیری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609600" y="255270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323761" y="2105025"/>
            <a:ext cx="11062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الف — سواپ تتر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8463409" y="2071688"/>
            <a:ext cx="31685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کوتاه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4162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8" name="Shape 16"/>
          <p:cNvSpPr/>
          <p:nvPr/>
        </p:nvSpPr>
        <p:spPr>
          <a:xfrm>
            <a:off x="8574137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374112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958161" y="2071688"/>
            <a:ext cx="400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متوسط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0586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22" name="Shape 20"/>
          <p:cNvSpPr/>
          <p:nvPr/>
        </p:nvSpPr>
        <p:spPr>
          <a:xfrm>
            <a:off x="7110561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23" name="Shape 21"/>
          <p:cNvSpPr/>
          <p:nvPr/>
        </p:nvSpPr>
        <p:spPr>
          <a:xfrm>
            <a:off x="6910536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527625" y="2071688"/>
            <a:ext cx="333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پایین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46862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26" name="Shape 24"/>
          <p:cNvSpPr/>
          <p:nvPr/>
        </p:nvSpPr>
        <p:spPr>
          <a:xfrm>
            <a:off x="5646837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46812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064050" y="2071688"/>
            <a:ext cx="333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پایین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83137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30" name="Shape 28"/>
          <p:cNvSpPr/>
          <p:nvPr/>
        </p:nvSpPr>
        <p:spPr>
          <a:xfrm>
            <a:off x="4183112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83087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600325" y="2071688"/>
            <a:ext cx="333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پایین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19561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34" name="Shape 32"/>
          <p:cNvSpPr/>
          <p:nvPr/>
        </p:nvSpPr>
        <p:spPr>
          <a:xfrm>
            <a:off x="2719536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19511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196578" y="2071688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455837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38" name="Shape 36"/>
          <p:cNvSpPr/>
          <p:nvPr/>
        </p:nvSpPr>
        <p:spPr>
          <a:xfrm>
            <a:off x="1255812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5787" y="23383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40" name="Shape 38"/>
          <p:cNvSpPr/>
          <p:nvPr/>
        </p:nvSpPr>
        <p:spPr>
          <a:xfrm>
            <a:off x="609600" y="2562225"/>
            <a:ext cx="10972800" cy="657225"/>
          </a:xfrm>
          <a:prstGeom prst="rect">
            <a:avLst/>
          </a:prstGeom>
          <a:solidFill>
            <a:srgbClr val="FDB913">
              <a:alpha val="1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" y="3209925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410950" y="2752725"/>
            <a:ext cx="38100" cy="2667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43" name="Text 41"/>
          <p:cNvSpPr/>
          <p:nvPr/>
        </p:nvSpPr>
        <p:spPr>
          <a:xfrm>
            <a:off x="10072836" y="2762250"/>
            <a:ext cx="12238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 — سواپ محدود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8352234" y="2728913"/>
            <a:ext cx="31685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کوتاه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662988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46" name="Shape 44"/>
          <p:cNvSpPr/>
          <p:nvPr/>
        </p:nvSpPr>
        <p:spPr>
          <a:xfrm>
            <a:off x="8462963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E7E6E6"/>
          </a:solidFill>
          <a:ln/>
        </p:spPr>
      </p:sp>
      <p:sp>
        <p:nvSpPr>
          <p:cNvPr id="47" name="Shape 45"/>
          <p:cNvSpPr/>
          <p:nvPr/>
        </p:nvSpPr>
        <p:spPr>
          <a:xfrm>
            <a:off x="8262938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E7E6E6"/>
          </a:solidFill>
          <a:ln/>
        </p:spPr>
      </p:sp>
      <p:sp>
        <p:nvSpPr>
          <p:cNvPr id="48" name="Text 46"/>
          <p:cNvSpPr/>
          <p:nvPr/>
        </p:nvSpPr>
        <p:spPr>
          <a:xfrm>
            <a:off x="6891338" y="2728913"/>
            <a:ext cx="400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متوسط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243763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50" name="Shape 48"/>
          <p:cNvSpPr/>
          <p:nvPr/>
        </p:nvSpPr>
        <p:spPr>
          <a:xfrm>
            <a:off x="7043738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51" name="Shape 49"/>
          <p:cNvSpPr/>
          <p:nvPr/>
        </p:nvSpPr>
        <p:spPr>
          <a:xfrm>
            <a:off x="6843713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E7E6E6"/>
          </a:solidFill>
          <a:ln/>
        </p:spPr>
      </p:sp>
      <p:sp>
        <p:nvSpPr>
          <p:cNvPr id="52" name="Text 50"/>
          <p:cNvSpPr/>
          <p:nvPr/>
        </p:nvSpPr>
        <p:spPr>
          <a:xfrm>
            <a:off x="5505450" y="2728913"/>
            <a:ext cx="333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پایین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824538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54" name="Shape 52"/>
          <p:cNvSpPr/>
          <p:nvPr/>
        </p:nvSpPr>
        <p:spPr>
          <a:xfrm>
            <a:off x="5624513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E7E6E6"/>
          </a:solidFill>
          <a:ln/>
        </p:spPr>
      </p:sp>
      <p:sp>
        <p:nvSpPr>
          <p:cNvPr id="55" name="Shape 53"/>
          <p:cNvSpPr/>
          <p:nvPr/>
        </p:nvSpPr>
        <p:spPr>
          <a:xfrm>
            <a:off x="5424488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052888" y="2728913"/>
            <a:ext cx="400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متوسط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405313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58" name="Shape 56"/>
          <p:cNvSpPr/>
          <p:nvPr/>
        </p:nvSpPr>
        <p:spPr>
          <a:xfrm>
            <a:off x="4205288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59" name="Shape 57"/>
          <p:cNvSpPr/>
          <p:nvPr/>
        </p:nvSpPr>
        <p:spPr>
          <a:xfrm>
            <a:off x="4005262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2726978" y="2728913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986088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62" name="Shape 60"/>
          <p:cNvSpPr/>
          <p:nvPr/>
        </p:nvSpPr>
        <p:spPr>
          <a:xfrm>
            <a:off x="2786063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63" name="Shape 61"/>
          <p:cNvSpPr/>
          <p:nvPr/>
        </p:nvSpPr>
        <p:spPr>
          <a:xfrm>
            <a:off x="2586038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64" name="Text 62"/>
          <p:cNvSpPr/>
          <p:nvPr/>
        </p:nvSpPr>
        <p:spPr>
          <a:xfrm>
            <a:off x="1214438" y="2728913"/>
            <a:ext cx="400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متوسط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566863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66" name="Shape 64"/>
          <p:cNvSpPr/>
          <p:nvPr/>
        </p:nvSpPr>
        <p:spPr>
          <a:xfrm>
            <a:off x="1366838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67" name="Shape 65"/>
          <p:cNvSpPr/>
          <p:nvPr/>
        </p:nvSpPr>
        <p:spPr>
          <a:xfrm>
            <a:off x="1166813" y="29956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09600" y="386715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483900" y="3419475"/>
            <a:ext cx="946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ج — اردربوکی</a:t>
            </a:r>
            <a:endParaRPr lang="en-US" sz="1275" dirty="0"/>
          </a:p>
        </p:txBody>
      </p:sp>
      <p:sp>
        <p:nvSpPr>
          <p:cNvPr id="70" name="Text 68"/>
          <p:cNvSpPr/>
          <p:nvPr/>
        </p:nvSpPr>
        <p:spPr>
          <a:xfrm>
            <a:off x="8484096" y="3386138"/>
            <a:ext cx="2753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بلند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774162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72" name="Shape 70"/>
          <p:cNvSpPr/>
          <p:nvPr/>
        </p:nvSpPr>
        <p:spPr>
          <a:xfrm>
            <a:off x="8574137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73" name="Shape 71"/>
          <p:cNvSpPr/>
          <p:nvPr/>
        </p:nvSpPr>
        <p:spPr>
          <a:xfrm>
            <a:off x="8374112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74" name="Text 72"/>
          <p:cNvSpPr/>
          <p:nvPr/>
        </p:nvSpPr>
        <p:spPr>
          <a:xfrm>
            <a:off x="6958161" y="3386138"/>
            <a:ext cx="400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متوسط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310586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76" name="Shape 74"/>
          <p:cNvSpPr/>
          <p:nvPr/>
        </p:nvSpPr>
        <p:spPr>
          <a:xfrm>
            <a:off x="7110561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77" name="Shape 75"/>
          <p:cNvSpPr/>
          <p:nvPr/>
        </p:nvSpPr>
        <p:spPr>
          <a:xfrm>
            <a:off x="6910536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E7E6E6"/>
          </a:solidFill>
          <a:ln/>
        </p:spPr>
      </p:sp>
      <p:sp>
        <p:nvSpPr>
          <p:cNvPr id="78" name="Text 76"/>
          <p:cNvSpPr/>
          <p:nvPr/>
        </p:nvSpPr>
        <p:spPr>
          <a:xfrm>
            <a:off x="5587603" y="3386138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5846862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80" name="Shape 78"/>
          <p:cNvSpPr/>
          <p:nvPr/>
        </p:nvSpPr>
        <p:spPr>
          <a:xfrm>
            <a:off x="5646837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81" name="Shape 79"/>
          <p:cNvSpPr/>
          <p:nvPr/>
        </p:nvSpPr>
        <p:spPr>
          <a:xfrm>
            <a:off x="5446812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82" name="Text 80"/>
          <p:cNvSpPr/>
          <p:nvPr/>
        </p:nvSpPr>
        <p:spPr>
          <a:xfrm>
            <a:off x="4124027" y="3386138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4383137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84" name="Shape 82"/>
          <p:cNvSpPr/>
          <p:nvPr/>
        </p:nvSpPr>
        <p:spPr>
          <a:xfrm>
            <a:off x="4183112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85" name="Shape 83"/>
          <p:cNvSpPr/>
          <p:nvPr/>
        </p:nvSpPr>
        <p:spPr>
          <a:xfrm>
            <a:off x="3983087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86" name="Text 84"/>
          <p:cNvSpPr/>
          <p:nvPr/>
        </p:nvSpPr>
        <p:spPr>
          <a:xfrm>
            <a:off x="2660303" y="3386138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2919561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88" name="Shape 86"/>
          <p:cNvSpPr/>
          <p:nvPr/>
        </p:nvSpPr>
        <p:spPr>
          <a:xfrm>
            <a:off x="2719536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89" name="Shape 87"/>
          <p:cNvSpPr/>
          <p:nvPr/>
        </p:nvSpPr>
        <p:spPr>
          <a:xfrm>
            <a:off x="2519511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90" name="Text 88"/>
          <p:cNvSpPr/>
          <p:nvPr/>
        </p:nvSpPr>
        <p:spPr>
          <a:xfrm>
            <a:off x="983754" y="3386138"/>
            <a:ext cx="6392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بسیار پایین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1455837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92" name="Shape 90"/>
          <p:cNvSpPr/>
          <p:nvPr/>
        </p:nvSpPr>
        <p:spPr>
          <a:xfrm>
            <a:off x="1255812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055787" y="365283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609600" y="4524375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10604748" y="4076700"/>
            <a:ext cx="8252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 — شراکت</a:t>
            </a:r>
            <a:endParaRPr lang="en-US" sz="1275" dirty="0"/>
          </a:p>
        </p:txBody>
      </p:sp>
      <p:sp>
        <p:nvSpPr>
          <p:cNvPr id="96" name="Text 94"/>
          <p:cNvSpPr/>
          <p:nvPr/>
        </p:nvSpPr>
        <p:spPr>
          <a:xfrm>
            <a:off x="8463409" y="4043363"/>
            <a:ext cx="31685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کوتاه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8774162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98" name="Shape 96"/>
          <p:cNvSpPr/>
          <p:nvPr/>
        </p:nvSpPr>
        <p:spPr>
          <a:xfrm>
            <a:off x="8574137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8374112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6958161" y="4043363"/>
            <a:ext cx="400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متوسط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310586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110561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910536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E7E6E6"/>
          </a:solidFill>
          <a:ln/>
        </p:spPr>
      </p:sp>
      <p:sp>
        <p:nvSpPr>
          <p:cNvPr id="104" name="Text 102"/>
          <p:cNvSpPr/>
          <p:nvPr/>
        </p:nvSpPr>
        <p:spPr>
          <a:xfrm>
            <a:off x="5587603" y="4043363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5846862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646837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446812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08" name="Text 106"/>
          <p:cNvSpPr/>
          <p:nvPr/>
        </p:nvSpPr>
        <p:spPr>
          <a:xfrm>
            <a:off x="4124027" y="4043363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4383137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183112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3983087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12" name="Text 110"/>
          <p:cNvSpPr/>
          <p:nvPr/>
        </p:nvSpPr>
        <p:spPr>
          <a:xfrm>
            <a:off x="2660303" y="4043363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2919561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719536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519511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16" name="Text 114"/>
          <p:cNvSpPr/>
          <p:nvPr/>
        </p:nvSpPr>
        <p:spPr>
          <a:xfrm>
            <a:off x="1103412" y="4043363"/>
            <a:ext cx="400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متوسط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1455837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255812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55787" y="431006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121" name="Text 119"/>
          <p:cNvSpPr/>
          <p:nvPr/>
        </p:nvSpPr>
        <p:spPr>
          <a:xfrm>
            <a:off x="10741968" y="4733925"/>
            <a:ext cx="6880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 — تملک</a:t>
            </a:r>
            <a:endParaRPr lang="en-US" sz="1275" dirty="0"/>
          </a:p>
        </p:txBody>
      </p:sp>
      <p:sp>
        <p:nvSpPr>
          <p:cNvPr id="122" name="Text 120"/>
          <p:cNvSpPr/>
          <p:nvPr/>
        </p:nvSpPr>
        <p:spPr>
          <a:xfrm>
            <a:off x="8421737" y="4700588"/>
            <a:ext cx="400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متوسط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8774162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574137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25" name="Shape 123"/>
          <p:cNvSpPr/>
          <p:nvPr/>
        </p:nvSpPr>
        <p:spPr>
          <a:xfrm>
            <a:off x="8374112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26" name="Text 124"/>
          <p:cNvSpPr/>
          <p:nvPr/>
        </p:nvSpPr>
        <p:spPr>
          <a:xfrm>
            <a:off x="6958161" y="4700588"/>
            <a:ext cx="400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متوسط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7310586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28" name="Shape 126"/>
          <p:cNvSpPr/>
          <p:nvPr/>
        </p:nvSpPr>
        <p:spPr>
          <a:xfrm>
            <a:off x="7110561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910536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E7E6E6"/>
          </a:solidFill>
          <a:ln/>
        </p:spPr>
      </p:sp>
      <p:sp>
        <p:nvSpPr>
          <p:cNvPr id="130" name="Text 128"/>
          <p:cNvSpPr/>
          <p:nvPr/>
        </p:nvSpPr>
        <p:spPr>
          <a:xfrm>
            <a:off x="5587603" y="4700588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5846862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32" name="Shape 130"/>
          <p:cNvSpPr/>
          <p:nvPr/>
        </p:nvSpPr>
        <p:spPr>
          <a:xfrm>
            <a:off x="5646837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5446812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34" name="Text 132"/>
          <p:cNvSpPr/>
          <p:nvPr/>
        </p:nvSpPr>
        <p:spPr>
          <a:xfrm>
            <a:off x="4124027" y="4700588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4383137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183112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37" name="Shape 135"/>
          <p:cNvSpPr/>
          <p:nvPr/>
        </p:nvSpPr>
        <p:spPr>
          <a:xfrm>
            <a:off x="3983087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38" name="Text 136"/>
          <p:cNvSpPr/>
          <p:nvPr/>
        </p:nvSpPr>
        <p:spPr>
          <a:xfrm>
            <a:off x="2660303" y="4700588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2919561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40" name="Shape 138"/>
          <p:cNvSpPr/>
          <p:nvPr/>
        </p:nvSpPr>
        <p:spPr>
          <a:xfrm>
            <a:off x="2719536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519511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42" name="Text 140"/>
          <p:cNvSpPr/>
          <p:nvPr/>
        </p:nvSpPr>
        <p:spPr>
          <a:xfrm>
            <a:off x="1136600" y="4700588"/>
            <a:ext cx="333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پایین</a:t>
            </a:r>
            <a:endParaRPr lang="en-US" sz="1050" dirty="0"/>
          </a:p>
        </p:txBody>
      </p:sp>
      <p:sp>
        <p:nvSpPr>
          <p:cNvPr id="143" name="Shape 141"/>
          <p:cNvSpPr/>
          <p:nvPr/>
        </p:nvSpPr>
        <p:spPr>
          <a:xfrm>
            <a:off x="1455837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255812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1055787" y="4967288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147" name="Text 145"/>
          <p:cNvSpPr/>
          <p:nvPr/>
        </p:nvSpPr>
        <p:spPr>
          <a:xfrm>
            <a:off x="10339685" y="5391150"/>
            <a:ext cx="1090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و — ورود نکردن</a:t>
            </a:r>
            <a:endParaRPr lang="en-US" sz="1275" dirty="0"/>
          </a:p>
        </p:txBody>
      </p:sp>
      <p:sp>
        <p:nvSpPr>
          <p:cNvPr id="148" name="Text 146"/>
          <p:cNvSpPr/>
          <p:nvPr/>
        </p:nvSpPr>
        <p:spPr>
          <a:xfrm>
            <a:off x="8516987" y="5357813"/>
            <a:ext cx="2095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—</a:t>
            </a:r>
            <a:endParaRPr lang="en-US" sz="1050" dirty="0"/>
          </a:p>
        </p:txBody>
      </p:sp>
      <p:sp>
        <p:nvSpPr>
          <p:cNvPr id="149" name="Shape 147"/>
          <p:cNvSpPr/>
          <p:nvPr/>
        </p:nvSpPr>
        <p:spPr>
          <a:xfrm>
            <a:off x="8774162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8574137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8374112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52" name="Text 150"/>
          <p:cNvSpPr/>
          <p:nvPr/>
        </p:nvSpPr>
        <p:spPr>
          <a:xfrm>
            <a:off x="6983611" y="5357813"/>
            <a:ext cx="3490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ندارد</a:t>
            </a:r>
            <a:endParaRPr lang="en-US" sz="1050" dirty="0"/>
          </a:p>
        </p:txBody>
      </p:sp>
      <p:sp>
        <p:nvSpPr>
          <p:cNvPr id="153" name="Shape 151"/>
          <p:cNvSpPr/>
          <p:nvPr/>
        </p:nvSpPr>
        <p:spPr>
          <a:xfrm>
            <a:off x="7310586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7110561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6910536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56" name="Text 154"/>
          <p:cNvSpPr/>
          <p:nvPr/>
        </p:nvSpPr>
        <p:spPr>
          <a:xfrm>
            <a:off x="5519886" y="5357813"/>
            <a:ext cx="3490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ندارد</a:t>
            </a:r>
            <a:endParaRPr lang="en-US" sz="1050" dirty="0"/>
          </a:p>
        </p:txBody>
      </p:sp>
      <p:sp>
        <p:nvSpPr>
          <p:cNvPr id="157" name="Shape 155"/>
          <p:cNvSpPr/>
          <p:nvPr/>
        </p:nvSpPr>
        <p:spPr>
          <a:xfrm>
            <a:off x="5846862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5646837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5446812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60" name="Text 158"/>
          <p:cNvSpPr/>
          <p:nvPr/>
        </p:nvSpPr>
        <p:spPr>
          <a:xfrm>
            <a:off x="4056311" y="5357813"/>
            <a:ext cx="3490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ندارد</a:t>
            </a:r>
            <a:endParaRPr lang="en-US" sz="1050" dirty="0"/>
          </a:p>
        </p:txBody>
      </p:sp>
      <p:sp>
        <p:nvSpPr>
          <p:cNvPr id="161" name="Shape 159"/>
          <p:cNvSpPr/>
          <p:nvPr/>
        </p:nvSpPr>
        <p:spPr>
          <a:xfrm>
            <a:off x="4383137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4183112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3983087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64" name="Text 162"/>
          <p:cNvSpPr/>
          <p:nvPr/>
        </p:nvSpPr>
        <p:spPr>
          <a:xfrm>
            <a:off x="2592586" y="5357813"/>
            <a:ext cx="3490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ندارد</a:t>
            </a:r>
            <a:endParaRPr lang="en-US" sz="1050" dirty="0"/>
          </a:p>
        </p:txBody>
      </p:sp>
      <p:sp>
        <p:nvSpPr>
          <p:cNvPr id="165" name="Shape 163"/>
          <p:cNvSpPr/>
          <p:nvPr/>
        </p:nvSpPr>
        <p:spPr>
          <a:xfrm>
            <a:off x="2919561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2719536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2519511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168" name="Text 166"/>
          <p:cNvSpPr/>
          <p:nvPr/>
        </p:nvSpPr>
        <p:spPr>
          <a:xfrm>
            <a:off x="1149251" y="5357813"/>
            <a:ext cx="3082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کامل</a:t>
            </a:r>
            <a:endParaRPr lang="en-US" sz="1050" dirty="0"/>
          </a:p>
        </p:txBody>
      </p:sp>
      <p:sp>
        <p:nvSpPr>
          <p:cNvPr id="169" name="Shape 167"/>
          <p:cNvSpPr/>
          <p:nvPr/>
        </p:nvSpPr>
        <p:spPr>
          <a:xfrm>
            <a:off x="1455837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255812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055787" y="5624513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72" name="Text 170"/>
          <p:cNvSpPr/>
          <p:nvPr/>
        </p:nvSpPr>
        <p:spPr>
          <a:xfrm>
            <a:off x="280416" y="5953125"/>
            <a:ext cx="11301984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333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رتبه‌های ریسک با ارزیابی تفصیلی فصل ۸ هم‌راستا شده‌اند. «ورود نکردن» ریسک ندارد اما سقف رشد هم ندارد.</a:t>
            </a:r>
            <a:endParaRPr lang="en-US" sz="1050" dirty="0"/>
          </a:p>
        </p:txBody>
      </p:sp>
      <p:sp>
        <p:nvSpPr>
          <p:cNvPr id="173" name="Text 171"/>
          <p:cNvSpPr/>
          <p:nvPr/>
        </p:nvSpPr>
        <p:spPr>
          <a:xfrm>
            <a:off x="11375082" y="6429375"/>
            <a:ext cx="3597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۹ / ۴۱</a:t>
            </a:r>
            <a:endParaRPr lang="en-US" sz="825" dirty="0"/>
          </a:p>
        </p:txBody>
      </p:sp>
      <p:sp>
        <p:nvSpPr>
          <p:cNvPr id="174" name="Text 172"/>
          <p:cNvSpPr/>
          <p:nvPr/>
        </p:nvSpPr>
        <p:spPr>
          <a:xfrm>
            <a:off x="442317" y="6410325"/>
            <a:ext cx="107803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175" name="Text 173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095501" y="3047999"/>
            <a:ext cx="5334002" cy="5334002"/>
          </a:xfrm>
          <a:prstGeom prst="roundRect">
            <a:avLst>
              <a:gd name="adj" fmla="val 11429"/>
            </a:avLst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1333501" y="3809999"/>
            <a:ext cx="3810001" cy="3810001"/>
          </a:xfrm>
          <a:prstGeom prst="roundRect">
            <a:avLst>
              <a:gd name="adj" fmla="val 12000"/>
            </a:avLst>
          </a:prstGeom>
          <a:solidFill>
            <a:srgbClr val="6E6E6E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571500" y="4572000"/>
            <a:ext cx="2286001" cy="2286001"/>
          </a:xfrm>
          <a:prstGeom prst="roundRect">
            <a:avLst>
              <a:gd name="adj" fmla="val 13333"/>
            </a:avLst>
          </a:prstGeom>
          <a:solidFill>
            <a:srgbClr val="B7820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33350" y="5276850"/>
            <a:ext cx="876300" cy="876300"/>
          </a:xfrm>
          <a:prstGeom prst="roundRect">
            <a:avLst>
              <a:gd name="adj" fmla="val 17391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>
            <a:off x="5905500" y="1143000"/>
            <a:ext cx="628650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" name="Shape 5"/>
          <p:cNvSpPr/>
          <p:nvPr/>
        </p:nvSpPr>
        <p:spPr>
          <a:xfrm>
            <a:off x="11468100" y="1638300"/>
            <a:ext cx="114300" cy="112395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۰۳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33950" y="1981200"/>
            <a:ext cx="6286500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65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بازار و کاربر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22645" y="2819400"/>
            <a:ext cx="5297805" cy="122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7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این فصل از کل جامعه شروع می‌کند: چه تعداد رمزارز را می‌شناسند، چه تعداد خریده‌اند، آن‌ها که می‌خرند چه می‌خرند و چه رفتاری دارند. سپس سراغ بزرگ‌ترین گروه می‌رود — کسانی که می‌شناسند و هرگز نخریده‌اند — و نشان می‌دهد چه چیزی جلوی خریدشان را گرفته است.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0550" y="1638300"/>
            <a:ext cx="4400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78" kern="0" dirty="0">
                <a:solidFill>
                  <a:srgbClr val="FFFFF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فصل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 rot="2700000">
            <a:off x="4800600" y="210978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3" name="Text 11"/>
          <p:cNvSpPr/>
          <p:nvPr/>
        </p:nvSpPr>
        <p:spPr>
          <a:xfrm>
            <a:off x="2136651" y="2076450"/>
            <a:ext cx="24924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۹۰٪ می‌شناسند، تنها ۲۵٪ خریده‌اند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rot="2700000">
            <a:off x="4800600" y="257651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5" name="Text 13"/>
          <p:cNvSpPr/>
          <p:nvPr/>
        </p:nvSpPr>
        <p:spPr>
          <a:xfrm>
            <a:off x="1489829" y="2543175"/>
            <a:ext cx="31393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آن‌ها که می‌خرند، چند دارایی مشخص می‌خرند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 rot="2700000">
            <a:off x="4800600" y="304323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7" name="Text 15"/>
          <p:cNvSpPr/>
          <p:nvPr/>
        </p:nvSpPr>
        <p:spPr>
          <a:xfrm>
            <a:off x="1458069" y="3009900"/>
            <a:ext cx="31710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بررسی قسمت مهم بازار، افرادی که نخریده‌اند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 rot="2700000">
            <a:off x="4800600" y="3509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9" name="Text 17"/>
          <p:cNvSpPr/>
          <p:nvPr/>
        </p:nvSpPr>
        <p:spPr>
          <a:xfrm>
            <a:off x="1924973" y="3476625"/>
            <a:ext cx="270417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چه چیزی جلوی خریدشان را گرفته است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60972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27635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942975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۳ · ۳‑۱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۹۰٪ رمزارز را می‌شناسند و فقط ۲۵٪ خریده‌اند — شکاف همین‌جاست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48150" y="1447800"/>
            <a:ext cx="7334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همه‌ی سهم‌ها از کل جامعه‌ی ۱۸ تا ۶۵ ساله — پایه‌ی ۵۸ میلیون نفر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981962" y="1752600"/>
            <a:ext cx="16004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کل جامعه‌ی ۱۸ تا ۶۵ ساله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52248" y="1781175"/>
            <a:ext cx="3609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۱۰۰٪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6248400" y="2062163"/>
            <a:ext cx="5334000" cy="20955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280571" y="2057400"/>
            <a:ext cx="834479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۵۸ میلیون نفر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0744795" y="2466975"/>
            <a:ext cx="8376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آشنا با رمزارز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56143" y="2495550"/>
            <a:ext cx="8505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۹۰٪ از کل جامعه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781800" y="2776538"/>
            <a:ext cx="48006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813971" y="2771775"/>
            <a:ext cx="834479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۵۲ میلیون نفر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0624393" y="3181350"/>
            <a:ext cx="9580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هرگز نخریده‌اند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2090" y="3209925"/>
            <a:ext cx="17242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۶۴٪ از کل جامعه · ۷۱٪ از آشنایان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8243590" y="3190875"/>
            <a:ext cx="660946" cy="2286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0" name="Text 18"/>
          <p:cNvSpPr/>
          <p:nvPr/>
        </p:nvSpPr>
        <p:spPr>
          <a:xfrm>
            <a:off x="8262640" y="3219450"/>
            <a:ext cx="5466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هدف اصلی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72450" y="3500438"/>
            <a:ext cx="3409950" cy="2095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2" name="Text 20"/>
          <p:cNvSpPr/>
          <p:nvPr/>
        </p:nvSpPr>
        <p:spPr>
          <a:xfrm>
            <a:off x="7204621" y="3495675"/>
            <a:ext cx="834479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۳۷ میلیون نفر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0159261" y="3905250"/>
            <a:ext cx="14231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تجربه‌ی خرید داشته‌اند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88796" y="3933825"/>
            <a:ext cx="218554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۲۵٪ از کل جامعه · ۲۸٪ از آشنایان با رمزارز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10248900" y="4214813"/>
            <a:ext cx="13335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9151144" y="4210050"/>
            <a:ext cx="964406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۱۴٫۵ میلیون نفر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110311" y="4619625"/>
            <a:ext cx="14720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هم‌اکنون مالک رمزارزند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14447" y="4648200"/>
            <a:ext cx="18153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۱۴٪ از کل جامعه · ۵۵٪ از خریداران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10839450" y="4929188"/>
            <a:ext cx="742950" cy="209550"/>
          </a:xfrm>
          <a:prstGeom prst="rect">
            <a:avLst/>
          </a:prstGeom>
          <a:solidFill>
            <a:srgbClr val="B78206"/>
          </a:solidFill>
          <a:ln/>
        </p:spPr>
      </p:sp>
      <p:sp>
        <p:nvSpPr>
          <p:cNvPr id="30" name="Text 28"/>
          <p:cNvSpPr/>
          <p:nvPr/>
        </p:nvSpPr>
        <p:spPr>
          <a:xfrm>
            <a:off x="9956006" y="4924425"/>
            <a:ext cx="750094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۸ میلیون نفر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 rot="2700000">
            <a:off x="609600" y="1638300"/>
            <a:ext cx="1123950" cy="1123950"/>
          </a:xfrm>
          <a:prstGeom prst="roundRect">
            <a:avLst>
              <a:gd name="adj" fmla="val 16102"/>
            </a:avLst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771971" y="2076450"/>
            <a:ext cx="7992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6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۲۰۰ M$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4267200" y="1771650"/>
            <a:ext cx="3429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2343150" y="1895475"/>
            <a:ext cx="2266950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حجم اعلامی معاملات بازار در روز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 rot="2700000">
            <a:off x="895350" y="2819400"/>
            <a:ext cx="1123950" cy="1123950"/>
          </a:xfrm>
          <a:prstGeom prst="roundRect">
            <a:avLst>
              <a:gd name="adj" fmla="val 16102"/>
            </a:avLst>
          </a:prstGeom>
          <a:solidFill>
            <a:srgbClr val="FDB913"/>
          </a:solidFill>
          <a:ln/>
        </p:spPr>
      </p:sp>
      <p:sp>
        <p:nvSpPr>
          <p:cNvPr id="36" name="Text 34"/>
          <p:cNvSpPr/>
          <p:nvPr/>
        </p:nvSpPr>
        <p:spPr>
          <a:xfrm>
            <a:off x="1141192" y="3257603"/>
            <a:ext cx="6323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۱۷ M$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4267200" y="2952750"/>
            <a:ext cx="342900" cy="19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8" name="Text 36"/>
          <p:cNvSpPr/>
          <p:nvPr/>
        </p:nvSpPr>
        <p:spPr>
          <a:xfrm>
            <a:off x="2343150" y="3076575"/>
            <a:ext cx="2266950" cy="698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ورود و خروج ریالی در روز — تنها ۸٪ از حجم؛ بقیه ناشی از تبدیل رمزارزها به یکدیگر است.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 rot="2700000">
            <a:off x="609600" y="4000500"/>
            <a:ext cx="1162050" cy="1162050"/>
          </a:xfrm>
          <a:prstGeom prst="roundRect">
            <a:avLst>
              <a:gd name="adj" fmla="val 15574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9220" y="4457700"/>
            <a:ext cx="5828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۲۰۰$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4267200" y="4133850"/>
            <a:ext cx="3429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2343150" y="4257675"/>
            <a:ext cx="2266950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میانگین حجم معاملات ماهانه کاربران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9600" y="5715000"/>
            <a:ext cx="10972800" cy="60186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528066" y="5886450"/>
            <a:ext cx="10806684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333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نزدیک به نیمی از خریداران بازار را ترک کرده‌اند. مرز بازار ما خرید و فروش خرد رمزارز با ورودی ریالی است — نه معامله‌گری اهرمی، نه انتقال برون‌مرزی برای اشخاص ثالث.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۱۱ / ۴۱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59067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27635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942975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۳ · ۳‑۲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9600" y="1714500"/>
            <a:ext cx="109728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9172575" y="1428750"/>
            <a:ext cx="22764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8A8A8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دارایی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715250" y="1428750"/>
            <a:ext cx="14668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8A8A8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وزن در تقاضا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-93345" y="1428750"/>
            <a:ext cx="75418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8A8A8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سهم از حجم بازار و شاهد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609600" y="2533650"/>
            <a:ext cx="10972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85910" y="1890713"/>
            <a:ext cx="22631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تتر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85910" y="2176463"/>
            <a:ext cx="22631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جانشین دلار</a:t>
            </a:r>
            <a:endParaRPr lang="en-US" sz="1013" dirty="0"/>
          </a:p>
        </p:txBody>
      </p:sp>
      <p:sp>
        <p:nvSpPr>
          <p:cNvPr id="14" name="Shape 12"/>
          <p:cNvSpPr/>
          <p:nvPr/>
        </p:nvSpPr>
        <p:spPr>
          <a:xfrm rot="2700000">
            <a:off x="9039225" y="2062162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DB913"/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8829675" y="2062162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DB913"/>
          </a:solidFill>
          <a:ln/>
        </p:spPr>
      </p:sp>
      <p:sp>
        <p:nvSpPr>
          <p:cNvPr id="16" name="Shape 14"/>
          <p:cNvSpPr/>
          <p:nvPr/>
        </p:nvSpPr>
        <p:spPr>
          <a:xfrm rot="2700000">
            <a:off x="8620125" y="2062162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DB913"/>
          </a:solidFill>
          <a:ln/>
        </p:spPr>
      </p:sp>
      <p:sp>
        <p:nvSpPr>
          <p:cNvPr id="17" name="Shape 15"/>
          <p:cNvSpPr/>
          <p:nvPr/>
        </p:nvSpPr>
        <p:spPr>
          <a:xfrm rot="2700000">
            <a:off x="8410575" y="2062162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DB913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9525" y="1962150"/>
            <a:ext cx="9525" cy="342900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77025" y="1962150"/>
            <a:ext cx="762000" cy="3429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0" name="Text 18"/>
          <p:cNvSpPr/>
          <p:nvPr/>
        </p:nvSpPr>
        <p:spPr>
          <a:xfrm>
            <a:off x="6753225" y="2009775"/>
            <a:ext cx="609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۳۰٪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432149" y="2019300"/>
            <a:ext cx="60924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34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بیشترین حجم خرید و فروش مخصوصا در زمان نوسانات بازار دلار به بیش از 50% می‌رسد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609600" y="2543175"/>
            <a:ext cx="10972800" cy="809625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600" y="3343275"/>
            <a:ext cx="10972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185910" y="2700338"/>
            <a:ext cx="22631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بیت‌کوین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85910" y="2986088"/>
            <a:ext cx="22631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دارایی ارزش‌محور</a:t>
            </a:r>
            <a:endParaRPr lang="en-US" sz="1013" dirty="0"/>
          </a:p>
        </p:txBody>
      </p:sp>
      <p:sp>
        <p:nvSpPr>
          <p:cNvPr id="26" name="Shape 24"/>
          <p:cNvSpPr/>
          <p:nvPr/>
        </p:nvSpPr>
        <p:spPr>
          <a:xfrm rot="2700000">
            <a:off x="9039225" y="2862262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DB913"/>
          </a:solidFill>
          <a:ln/>
        </p:spPr>
      </p:sp>
      <p:sp>
        <p:nvSpPr>
          <p:cNvPr id="27" name="Shape 25"/>
          <p:cNvSpPr/>
          <p:nvPr/>
        </p:nvSpPr>
        <p:spPr>
          <a:xfrm rot="2700000">
            <a:off x="8829675" y="2862262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DB913"/>
          </a:solidFill>
          <a:ln/>
        </p:spPr>
      </p:sp>
      <p:sp>
        <p:nvSpPr>
          <p:cNvPr id="28" name="Shape 26"/>
          <p:cNvSpPr/>
          <p:nvPr/>
        </p:nvSpPr>
        <p:spPr>
          <a:xfrm rot="2700000">
            <a:off x="8620125" y="2862262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DB913"/>
          </a:solidFill>
          <a:ln/>
        </p:spPr>
      </p:sp>
      <p:sp>
        <p:nvSpPr>
          <p:cNvPr id="29" name="Shape 27"/>
          <p:cNvSpPr/>
          <p:nvPr/>
        </p:nvSpPr>
        <p:spPr>
          <a:xfrm rot="2700000">
            <a:off x="8391525" y="2862262"/>
            <a:ext cx="161925" cy="161925"/>
          </a:xfrm>
          <a:prstGeom prst="roundRect">
            <a:avLst>
              <a:gd name="adj" fmla="val 23529"/>
            </a:avLst>
          </a:prstGeom>
          <a:ln w="9525">
            <a:solidFill>
              <a:srgbClr val="FDB913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29525" y="2771775"/>
            <a:ext cx="9525" cy="342900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77025" y="2771775"/>
            <a:ext cx="762000" cy="3429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2" name="Text 30"/>
          <p:cNvSpPr/>
          <p:nvPr/>
        </p:nvSpPr>
        <p:spPr>
          <a:xfrm>
            <a:off x="6753225" y="2819400"/>
            <a:ext cx="609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۲۵٪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432149" y="2828925"/>
            <a:ext cx="60924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34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بیشترین ارزش بازار در کریپتو، اما نه بیشترین حجم معامله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609600" y="4152900"/>
            <a:ext cx="10972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185910" y="3509963"/>
            <a:ext cx="22631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چهار تا شش کوین اصلی دیگر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185910" y="3795713"/>
            <a:ext cx="22631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تقاضای سفته بازی بالاتر</a:t>
            </a:r>
            <a:endParaRPr lang="en-US" sz="1013" dirty="0"/>
          </a:p>
        </p:txBody>
      </p:sp>
      <p:sp>
        <p:nvSpPr>
          <p:cNvPr id="37" name="Shape 35"/>
          <p:cNvSpPr/>
          <p:nvPr/>
        </p:nvSpPr>
        <p:spPr>
          <a:xfrm rot="2700000">
            <a:off x="9039225" y="3671887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DB913"/>
          </a:solidFill>
          <a:ln/>
        </p:spPr>
      </p:sp>
      <p:sp>
        <p:nvSpPr>
          <p:cNvPr id="38" name="Shape 36"/>
          <p:cNvSpPr/>
          <p:nvPr/>
        </p:nvSpPr>
        <p:spPr>
          <a:xfrm rot="2700000">
            <a:off x="8829675" y="3671887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DB913"/>
          </a:solidFill>
          <a:ln/>
        </p:spPr>
      </p:sp>
      <p:sp>
        <p:nvSpPr>
          <p:cNvPr id="39" name="Shape 37"/>
          <p:cNvSpPr/>
          <p:nvPr/>
        </p:nvSpPr>
        <p:spPr>
          <a:xfrm rot="2700000">
            <a:off x="8601075" y="3671887"/>
            <a:ext cx="161925" cy="161925"/>
          </a:xfrm>
          <a:prstGeom prst="roundRect">
            <a:avLst>
              <a:gd name="adj" fmla="val 23529"/>
            </a:avLst>
          </a:prstGeom>
          <a:ln w="9525">
            <a:solidFill>
              <a:srgbClr val="FDB913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8372475" y="3671887"/>
            <a:ext cx="161925" cy="161925"/>
          </a:xfrm>
          <a:prstGeom prst="roundRect">
            <a:avLst>
              <a:gd name="adj" fmla="val 23529"/>
            </a:avLst>
          </a:prstGeom>
          <a:ln w="9525">
            <a:solidFill>
              <a:srgbClr val="FDB913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29525" y="3581400"/>
            <a:ext cx="9525" cy="342900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77025" y="3581400"/>
            <a:ext cx="762000" cy="3429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43" name="Text 41"/>
          <p:cNvSpPr/>
          <p:nvPr/>
        </p:nvSpPr>
        <p:spPr>
          <a:xfrm>
            <a:off x="6753225" y="3629025"/>
            <a:ext cx="609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۲۰٪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432149" y="3638550"/>
            <a:ext cx="60924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34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همه‌ی صرافی‌های داخلی فهرست می‌شوند و روی هم سهم قابل توجهی از حجم دارند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609600" y="4162425"/>
            <a:ext cx="10972800" cy="809625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" y="4962525"/>
            <a:ext cx="10972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185910" y="4319588"/>
            <a:ext cx="22631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دم بلند بیش از 2۰۰ کوین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185910" y="4605338"/>
            <a:ext cx="22631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تقاضای حرفه‌ای یا ریسک پذیری بالا</a:t>
            </a:r>
            <a:endParaRPr lang="en-US" sz="1013" dirty="0"/>
          </a:p>
        </p:txBody>
      </p:sp>
      <p:sp>
        <p:nvSpPr>
          <p:cNvPr id="49" name="Shape 47"/>
          <p:cNvSpPr/>
          <p:nvPr/>
        </p:nvSpPr>
        <p:spPr>
          <a:xfrm rot="2700000">
            <a:off x="9039225" y="4481512"/>
            <a:ext cx="142875" cy="142875"/>
          </a:xfrm>
          <a:prstGeom prst="roundRect">
            <a:avLst>
              <a:gd name="adj" fmla="val 26667"/>
            </a:avLst>
          </a:prstGeom>
          <a:solidFill>
            <a:srgbClr val="FDB913"/>
          </a:solidFill>
          <a:ln/>
        </p:spPr>
      </p:sp>
      <p:sp>
        <p:nvSpPr>
          <p:cNvPr id="50" name="Shape 48"/>
          <p:cNvSpPr/>
          <p:nvPr/>
        </p:nvSpPr>
        <p:spPr>
          <a:xfrm rot="2700000">
            <a:off x="8810625" y="4481512"/>
            <a:ext cx="161925" cy="161925"/>
          </a:xfrm>
          <a:prstGeom prst="roundRect">
            <a:avLst>
              <a:gd name="adj" fmla="val 23529"/>
            </a:avLst>
          </a:prstGeom>
          <a:ln w="9525">
            <a:solidFill>
              <a:srgbClr val="FDB913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8582025" y="4481512"/>
            <a:ext cx="161925" cy="161925"/>
          </a:xfrm>
          <a:prstGeom prst="roundRect">
            <a:avLst>
              <a:gd name="adj" fmla="val 23529"/>
            </a:avLst>
          </a:prstGeom>
          <a:ln w="9525">
            <a:solidFill>
              <a:srgbClr val="FDB913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8353425" y="4481512"/>
            <a:ext cx="161925" cy="161925"/>
          </a:xfrm>
          <a:prstGeom prst="roundRect">
            <a:avLst>
              <a:gd name="adj" fmla="val 23529"/>
            </a:avLst>
          </a:prstGeom>
          <a:ln w="9525">
            <a:solidFill>
              <a:srgbClr val="FDB913">
                <a:alpha val="5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29525" y="4391025"/>
            <a:ext cx="9525" cy="342900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77025" y="4391025"/>
            <a:ext cx="762000" cy="3429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55" name="Text 53"/>
          <p:cNvSpPr/>
          <p:nvPr/>
        </p:nvSpPr>
        <p:spPr>
          <a:xfrm>
            <a:off x="6753225" y="4438650"/>
            <a:ext cx="609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۲۵٪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432149" y="4448175"/>
            <a:ext cx="60924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34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باقی‌مانده‌ی حجم، پخش‌شده روی بیش از دویستدارایی؛ محل رقابت اردربوکی رقبا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609600" y="5257800"/>
            <a:ext cx="10972800" cy="70857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8" name="Text 56"/>
          <p:cNvSpPr/>
          <p:nvPr/>
        </p:nvSpPr>
        <p:spPr>
          <a:xfrm>
            <a:off x="826008" y="5467350"/>
            <a:ext cx="10539984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828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سواپ روی تتر و چند دارایی اصلی، بخش عمده‌ی تقاضای قابل دسترس را پوشش می‌دهد — بدون پیچیدگی و ریسک یک صرافی چنددارایی.</a:t>
            </a:r>
            <a:endParaRPr lang="en-US" sz="1425" dirty="0"/>
          </a:p>
        </p:txBody>
      </p:sp>
      <p:sp>
        <p:nvSpPr>
          <p:cNvPr id="59" name="Text 57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۱۲ / ۴۱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57162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25730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94297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۳ · ۳‑۳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هدف اصلی ما همان ۶۴٪ است: می‌شناسند و هرگز نخریده‌اند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-487680" y="1390650"/>
            <a:ext cx="120700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۳۷ میلیون نفر. پنج دسته‌ی زیر تقسیم </a:t>
            </a:r>
            <a:pPr algn="r" indent="0" marL="0">
              <a:buNone/>
            </a:pPr>
            <a:r>
              <a:rPr lang="en-US" sz="1050" b="1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همین ۳۷ میلیون </a:t>
            </a:r>
            <a:pPr algn="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است.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600" y="1990725"/>
            <a:ext cx="109728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780270" y="1733550"/>
            <a:ext cx="1668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دسته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62875" y="1733550"/>
            <a:ext cx="19907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سهم از ۳۷ میلیون غیرخریدار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7455" y="1733550"/>
            <a:ext cx="14458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اعتماد از 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" y="1733550"/>
            <a:ext cx="60121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مشخصه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9600" y="2628900"/>
            <a:ext cx="10972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11182350" y="2209800"/>
            <a:ext cx="266700" cy="266700"/>
          </a:xfrm>
          <a:prstGeom prst="roundRect">
            <a:avLst>
              <a:gd name="adj" fmla="val 32143"/>
            </a:avLst>
          </a:prstGeom>
          <a:solidFill>
            <a:srgbClr val="FDB913"/>
          </a:solidFill>
          <a:ln/>
        </p:spPr>
      </p:sp>
      <p:sp>
        <p:nvSpPr>
          <p:cNvPr id="16" name="Text 14"/>
          <p:cNvSpPr/>
          <p:nvPr/>
        </p:nvSpPr>
        <p:spPr>
          <a:xfrm rot="-2700000">
            <a:off x="11218962" y="2238375"/>
            <a:ext cx="1172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52063" y="2228850"/>
            <a:ext cx="5064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کم‌اطلاع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20100" y="2276475"/>
            <a:ext cx="1333500" cy="133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13639" y="2276475"/>
            <a:ext cx="639961" cy="1333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0" name="Text 18"/>
          <p:cNvSpPr/>
          <p:nvPr/>
        </p:nvSpPr>
        <p:spPr>
          <a:xfrm>
            <a:off x="7867650" y="2233613"/>
            <a:ext cx="4381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۴۸٪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 rot="2700000">
            <a:off x="7629525" y="227171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7448550" y="227171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7267575" y="227171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 rot="2700000">
            <a:off x="7067550" y="2271712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6867525" y="2271712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7171" y="2243138"/>
            <a:ext cx="3551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۲٫۷۰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38875" y="2236440"/>
            <a:ext cx="9525" cy="213271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" y="2236440"/>
            <a:ext cx="6002655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6667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۳۰ تا ۴۰ سال، کارشناسی، ترجیح سرمایه‌گذاری: طلا و ارز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9600" y="2638425"/>
            <a:ext cx="10972800" cy="581025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600" y="3209925"/>
            <a:ext cx="10972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2700000">
            <a:off x="11182350" y="2790825"/>
            <a:ext cx="266700" cy="266700"/>
          </a:xfrm>
          <a:prstGeom prst="roundRect">
            <a:avLst>
              <a:gd name="adj" fmla="val 32143"/>
            </a:avLst>
          </a:prstGeom>
          <a:solidFill>
            <a:srgbClr val="FDB913"/>
          </a:solidFill>
          <a:ln/>
        </p:spPr>
      </p:sp>
      <p:sp>
        <p:nvSpPr>
          <p:cNvPr id="32" name="Text 30"/>
          <p:cNvSpPr/>
          <p:nvPr/>
        </p:nvSpPr>
        <p:spPr>
          <a:xfrm rot="-2700000">
            <a:off x="11205545" y="2819453"/>
            <a:ext cx="14421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502205" y="2809875"/>
            <a:ext cx="5563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بی‌اعتماد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20100" y="2857500"/>
            <a:ext cx="1333500" cy="133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380339" y="2857500"/>
            <a:ext cx="373261" cy="1333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6" name="Text 34"/>
          <p:cNvSpPr/>
          <p:nvPr/>
        </p:nvSpPr>
        <p:spPr>
          <a:xfrm>
            <a:off x="7867650" y="2814638"/>
            <a:ext cx="4381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۲۸٪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 rot="2700000">
            <a:off x="7629525" y="2852737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 rot="2700000">
            <a:off x="7448550" y="2852737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 rot="2700000">
            <a:off x="7248525" y="2852737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7048500" y="2852737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6848475" y="2852737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8121" y="2824163"/>
            <a:ext cx="3551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۱٫۷۶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38875" y="2817465"/>
            <a:ext cx="9525" cy="213271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5720" y="2817465"/>
            <a:ext cx="6002655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6667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بالای ۵۰ سال، ریسک‌گریز، اطرافیانش هم توصیه به نخریدن کرده‌اند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9600" y="3790950"/>
            <a:ext cx="10972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2700000">
            <a:off x="11182350" y="3371850"/>
            <a:ext cx="266700" cy="266700"/>
          </a:xfrm>
          <a:prstGeom prst="roundRect">
            <a:avLst>
              <a:gd name="adj" fmla="val 32143"/>
            </a:avLst>
          </a:prstGeom>
          <a:solidFill>
            <a:srgbClr val="FDB913"/>
          </a:solidFill>
          <a:ln/>
        </p:spPr>
      </p:sp>
      <p:sp>
        <p:nvSpPr>
          <p:cNvPr id="47" name="Text 45"/>
          <p:cNvSpPr/>
          <p:nvPr/>
        </p:nvSpPr>
        <p:spPr>
          <a:xfrm rot="-2700000">
            <a:off x="11190811" y="3400478"/>
            <a:ext cx="17368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141446" y="3390900"/>
            <a:ext cx="9170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دغدغه‌مند مالی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420100" y="3438525"/>
            <a:ext cx="1333500" cy="133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513689" y="3438525"/>
            <a:ext cx="239911" cy="1333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51" name="Text 49"/>
          <p:cNvSpPr/>
          <p:nvPr/>
        </p:nvSpPr>
        <p:spPr>
          <a:xfrm>
            <a:off x="7867650" y="3395663"/>
            <a:ext cx="4381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۱۸٪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 rot="2700000">
            <a:off x="7629525" y="343376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 rot="2700000">
            <a:off x="7448550" y="343376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 rot="2700000">
            <a:off x="7267575" y="343376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 rot="2700000">
            <a:off x="7067550" y="3433762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6867525" y="3433762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17171" y="3405188"/>
            <a:ext cx="3551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۲٫۹۰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238875" y="3398490"/>
            <a:ext cx="9525" cy="213271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5720" y="3398490"/>
            <a:ext cx="6002655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6667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۱۸ تا ۲۵ سال، دیپلم و زیر آن، ریسک‌پذیر، با حضور بالا در شبکه‌های اجتماعی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09600" y="3800475"/>
            <a:ext cx="10972800" cy="581025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1" name="Shape 59"/>
          <p:cNvSpPr/>
          <p:nvPr/>
        </p:nvSpPr>
        <p:spPr>
          <a:xfrm>
            <a:off x="609600" y="4371975"/>
            <a:ext cx="10972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2700000">
            <a:off x="11163300" y="3943350"/>
            <a:ext cx="285750" cy="285750"/>
          </a:xfrm>
          <a:prstGeom prst="roundRect">
            <a:avLst>
              <a:gd name="adj" fmla="val 30000"/>
            </a:avLst>
          </a:prstGeom>
          <a:ln w="9525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 rot="-2700000">
            <a:off x="11186815" y="3981450"/>
            <a:ext cx="1625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۴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0393114" y="3971925"/>
            <a:ext cx="6463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قانون‌مدار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420100" y="4019550"/>
            <a:ext cx="1333500" cy="133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700320" y="4019550"/>
            <a:ext cx="53280" cy="1333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7" name="Text 65"/>
          <p:cNvSpPr/>
          <p:nvPr/>
        </p:nvSpPr>
        <p:spPr>
          <a:xfrm>
            <a:off x="7867650" y="3976687"/>
            <a:ext cx="4381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۴٪</a:t>
            </a:r>
            <a:endParaRPr lang="en-US" sz="1125" dirty="0"/>
          </a:p>
        </p:txBody>
      </p:sp>
      <p:sp>
        <p:nvSpPr>
          <p:cNvPr id="68" name="Shape 66"/>
          <p:cNvSpPr/>
          <p:nvPr/>
        </p:nvSpPr>
        <p:spPr>
          <a:xfrm rot="2700000">
            <a:off x="7629525" y="4014787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 rot="2700000">
            <a:off x="7448550" y="4014787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 rot="2700000">
            <a:off x="7248525" y="4014787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7048500" y="4014787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6848475" y="4014787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98121" y="3986213"/>
            <a:ext cx="3551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۲٫۲۴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238875" y="3979515"/>
            <a:ext cx="9525" cy="213271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45720" y="3979515"/>
            <a:ext cx="6002655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6667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۴۰ تا ۵۰ سال، کارشناسی ارشد، ترجیح سرمایه‌گذاری: بورس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09600" y="4953000"/>
            <a:ext cx="109728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 rot="2700000">
            <a:off x="11163300" y="4524375"/>
            <a:ext cx="285750" cy="285750"/>
          </a:xfrm>
          <a:prstGeom prst="roundRect">
            <a:avLst>
              <a:gd name="adj" fmla="val 30000"/>
            </a:avLst>
          </a:prstGeom>
          <a:ln w="9525">
            <a:solidFill>
              <a:srgbClr val="000000">
                <a:alpha val="4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 rot="-2700000">
            <a:off x="11182350" y="4562475"/>
            <a:ext cx="1714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۵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10350252" y="4552950"/>
            <a:ext cx="6892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ریسک‌گریز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8420100" y="4600575"/>
            <a:ext cx="1333500" cy="133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726960" y="4600575"/>
            <a:ext cx="26640" cy="1333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2" name="Text 80"/>
          <p:cNvSpPr/>
          <p:nvPr/>
        </p:nvSpPr>
        <p:spPr>
          <a:xfrm>
            <a:off x="7867650" y="4557713"/>
            <a:ext cx="4381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۲٪</a:t>
            </a:r>
            <a:endParaRPr lang="en-US" sz="1125" dirty="0"/>
          </a:p>
        </p:txBody>
      </p:sp>
      <p:sp>
        <p:nvSpPr>
          <p:cNvPr id="83" name="Shape 81"/>
          <p:cNvSpPr/>
          <p:nvPr/>
        </p:nvSpPr>
        <p:spPr>
          <a:xfrm rot="2700000">
            <a:off x="7629525" y="459581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84" name="Shape 82"/>
          <p:cNvSpPr/>
          <p:nvPr/>
        </p:nvSpPr>
        <p:spPr>
          <a:xfrm rot="2700000">
            <a:off x="7448550" y="459581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85" name="Shape 83"/>
          <p:cNvSpPr/>
          <p:nvPr/>
        </p:nvSpPr>
        <p:spPr>
          <a:xfrm rot="2700000">
            <a:off x="7267575" y="459581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sp>
        <p:nvSpPr>
          <p:cNvPr id="86" name="Shape 84"/>
          <p:cNvSpPr/>
          <p:nvPr/>
        </p:nvSpPr>
        <p:spPr>
          <a:xfrm rot="2700000">
            <a:off x="7067550" y="4595812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2700000">
            <a:off x="6867525" y="4595812"/>
            <a:ext cx="142875" cy="142875"/>
          </a:xfrm>
          <a:prstGeom prst="roundRect">
            <a:avLst>
              <a:gd name="adj" fmla="val 26667"/>
            </a:avLst>
          </a:prstGeom>
          <a:ln w="9525">
            <a:solidFill>
              <a:srgbClr val="000000">
                <a:alpha val="32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17171" y="4567238"/>
            <a:ext cx="3551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۲٫۶۹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09600" y="5086350"/>
            <a:ext cx="10972800" cy="11049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0" name="Shape 88"/>
          <p:cNvSpPr/>
          <p:nvPr/>
        </p:nvSpPr>
        <p:spPr>
          <a:xfrm rot="2700000">
            <a:off x="114300" y="4591050"/>
            <a:ext cx="1447800" cy="1447800"/>
          </a:xfrm>
          <a:prstGeom prst="roundRect">
            <a:avLst>
              <a:gd name="adj" fmla="val 13158"/>
            </a:avLst>
          </a:prstGeom>
          <a:ln w="9525">
            <a:solidFill>
              <a:srgbClr val="FDB913">
                <a:alpha val="3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471154" y="5412135"/>
            <a:ext cx="2825496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1538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اعتماد، متغیر تفکیک‌کننده‌ی خریدار از غیرخریدار است</a:t>
            </a:r>
            <a:endParaRPr lang="en-US" sz="1275" dirty="0"/>
          </a:p>
        </p:txBody>
      </p:sp>
      <p:sp>
        <p:nvSpPr>
          <p:cNvPr id="92" name="Shape 90"/>
          <p:cNvSpPr/>
          <p:nvPr/>
        </p:nvSpPr>
        <p:spPr>
          <a:xfrm>
            <a:off x="8258175" y="5343525"/>
            <a:ext cx="9525" cy="5905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 rot="2700000">
            <a:off x="7400925" y="5353050"/>
            <a:ext cx="571500" cy="571500"/>
          </a:xfrm>
          <a:prstGeom prst="roundRect">
            <a:avLst>
              <a:gd name="adj" fmla="val 28333"/>
            </a:avLst>
          </a:prstGeom>
          <a:solidFill>
            <a:srgbClr val="FDB913"/>
          </a:solidFill>
          <a:ln/>
        </p:spPr>
      </p:sp>
      <p:sp>
        <p:nvSpPr>
          <p:cNvPr id="94" name="Text 92"/>
          <p:cNvSpPr/>
          <p:nvPr/>
        </p:nvSpPr>
        <p:spPr>
          <a:xfrm rot="-2700000">
            <a:off x="7389614" y="5491163"/>
            <a:ext cx="5179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۳٫۴۵</a:t>
            </a:r>
            <a:endParaRPr lang="en-US" sz="1500" dirty="0"/>
          </a:p>
        </p:txBody>
      </p:sp>
      <p:sp>
        <p:nvSpPr>
          <p:cNvPr id="95" name="Text 93"/>
          <p:cNvSpPr/>
          <p:nvPr/>
        </p:nvSpPr>
        <p:spPr>
          <a:xfrm>
            <a:off x="5946755" y="5545485"/>
            <a:ext cx="132082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3333"/>
              </a:lnSpc>
              <a:buNone/>
            </a:pPr>
            <a:r>
              <a:rPr lang="en-US" sz="1050" dirty="0">
                <a:solidFill>
                  <a:srgbClr val="FFFFFF">
                    <a:alpha val="8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میانگین اعتماد خریداران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 rot="2700000">
            <a:off x="4717107" y="5343525"/>
            <a:ext cx="590550" cy="590550"/>
          </a:xfrm>
          <a:prstGeom prst="roundRect">
            <a:avLst>
              <a:gd name="adj" fmla="val 27419"/>
            </a:avLst>
          </a:prstGeom>
          <a:ln w="9525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 rot="-2700000">
            <a:off x="4742833" y="5491215"/>
            <a:ext cx="4630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۲٫۷۳</a:t>
            </a:r>
            <a:endParaRPr lang="en-US" sz="1500" dirty="0"/>
          </a:p>
        </p:txBody>
      </p:sp>
      <p:sp>
        <p:nvSpPr>
          <p:cNvPr id="98" name="Text 96"/>
          <p:cNvSpPr/>
          <p:nvPr/>
        </p:nvSpPr>
        <p:spPr>
          <a:xfrm>
            <a:off x="3650456" y="5545485"/>
            <a:ext cx="933301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3333"/>
              </a:lnSpc>
              <a:buNone/>
            </a:pPr>
            <a:r>
              <a:rPr lang="en-US" sz="1050" dirty="0">
                <a:solidFill>
                  <a:srgbClr val="FFFFFF">
                    <a:alpha val="8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میانگین کل جامعه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 rot="2700000">
            <a:off x="2395984" y="5353050"/>
            <a:ext cx="571500" cy="571500"/>
          </a:xfrm>
          <a:prstGeom prst="roundRect">
            <a:avLst>
              <a:gd name="adj" fmla="val 28333"/>
            </a:avLst>
          </a:prstGeom>
          <a:solidFill>
            <a:srgbClr val="404040"/>
          </a:solidFill>
          <a:ln/>
        </p:spPr>
      </p:sp>
      <p:sp>
        <p:nvSpPr>
          <p:cNvPr id="100" name="Text 98"/>
          <p:cNvSpPr/>
          <p:nvPr/>
        </p:nvSpPr>
        <p:spPr>
          <a:xfrm rot="-2700000">
            <a:off x="2463552" y="5491163"/>
            <a:ext cx="3601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۱٫۹۱</a:t>
            </a:r>
            <a:endParaRPr lang="en-US" sz="1500" dirty="0"/>
          </a:p>
        </p:txBody>
      </p:sp>
      <p:sp>
        <p:nvSpPr>
          <p:cNvPr id="101" name="Text 99"/>
          <p:cNvSpPr/>
          <p:nvPr/>
        </p:nvSpPr>
        <p:spPr>
          <a:xfrm>
            <a:off x="758622" y="5545485"/>
            <a:ext cx="1504012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3333"/>
              </a:lnSpc>
              <a:buNone/>
            </a:pPr>
            <a:r>
              <a:rPr lang="en-US" sz="1050" dirty="0">
                <a:solidFill>
                  <a:srgbClr val="FFFFFF">
                    <a:alpha val="8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میانگین اعتماد غیرخریداران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۱۳ / ۴۱</a:t>
            </a:r>
            <a:endParaRPr lang="en-US" sz="825" dirty="0"/>
          </a:p>
        </p:txBody>
      </p:sp>
      <p:sp>
        <p:nvSpPr>
          <p:cNvPr id="103" name="Text 101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104" name="Text 102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552575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23825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923925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60960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6" name="Text 4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۳ · ۳‑۴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0416" y="704850"/>
            <a:ext cx="11301984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3404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از ۳۷ میلیون نفری که رمزارز را می‌شناسند و نخریده‌اند، ۴٫۵ میلیون همین حالا قصد خرید دارند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77342" y="1581150"/>
            <a:ext cx="2133600" cy="2133600"/>
          </a:xfrm>
          <a:prstGeom prst="ellipse">
            <a:avLst/>
          </a:prstGeom>
          <a:solidFill>
            <a:srgbClr val="FDB913"/>
          </a:solidFill>
          <a:ln/>
        </p:spPr>
      </p:sp>
      <p:sp>
        <p:nvSpPr>
          <p:cNvPr id="9" name="Shape 7"/>
          <p:cNvSpPr/>
          <p:nvPr/>
        </p:nvSpPr>
        <p:spPr>
          <a:xfrm>
            <a:off x="1010692" y="1714500"/>
            <a:ext cx="1866900" cy="18669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05441" y="2224088"/>
            <a:ext cx="190428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615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۳۷ میلیون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658987" y="2700338"/>
            <a:ext cx="57030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7500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نخریده‌ها ۶۴٪ جامعه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 rot="2700000">
            <a:off x="4419600" y="242887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FDB913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392" y="2390775"/>
            <a:ext cx="1227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نزدیک ۴٫۵ میلیون · ۱۲٪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 rot="2700000">
            <a:off x="4419600" y="275272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241030" y="2714625"/>
            <a:ext cx="1169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دور ۳۲٫۶ میلیون · ۸۸٪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667250" y="1504950"/>
            <a:ext cx="69151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مانع اعلامی نخریدن — ترکیب موانع در دو گروه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0221144" y="1790700"/>
            <a:ext cx="13612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مشتری بالقوه‌ی نزدیک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28584" y="1819275"/>
            <a:ext cx="6020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۴٫۵ میلیون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7999214" y="2076450"/>
            <a:ext cx="3583186" cy="2667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45466" y="2076450"/>
            <a:ext cx="36906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۵۷٪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53349" y="2076450"/>
            <a:ext cx="1445865" cy="2667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2" name="Text 20"/>
          <p:cNvSpPr/>
          <p:nvPr/>
        </p:nvSpPr>
        <p:spPr>
          <a:xfrm>
            <a:off x="6515249" y="2076450"/>
            <a:ext cx="15220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۲۳٪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73328" y="2076450"/>
            <a:ext cx="880021" cy="266700"/>
          </a:xfrm>
          <a:prstGeom prst="rect">
            <a:avLst/>
          </a:prstGeom>
          <a:solidFill>
            <a:srgbClr val="8F8F8F"/>
          </a:solidFill>
          <a:ln/>
        </p:spPr>
      </p:sp>
      <p:sp>
        <p:nvSpPr>
          <p:cNvPr id="24" name="Text 22"/>
          <p:cNvSpPr/>
          <p:nvPr/>
        </p:nvSpPr>
        <p:spPr>
          <a:xfrm>
            <a:off x="5635228" y="2076450"/>
            <a:ext cx="956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۱۴٪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96198" y="2076450"/>
            <a:ext cx="377130" cy="266700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258098" y="2076450"/>
            <a:ext cx="4533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۶٪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30768" y="2438400"/>
            <a:ext cx="11516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مشتری بالقوه‌ی دور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17584" y="2466975"/>
            <a:ext cx="67508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۳۲٫۶ میلیون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8627864" y="2724150"/>
            <a:ext cx="2954536" cy="2667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583546" y="2724150"/>
            <a:ext cx="3043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۴۷٪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59278" y="2724150"/>
            <a:ext cx="1068586" cy="2667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2" name="Text 30"/>
          <p:cNvSpPr/>
          <p:nvPr/>
        </p:nvSpPr>
        <p:spPr>
          <a:xfrm>
            <a:off x="7521178" y="2724150"/>
            <a:ext cx="11447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۱۷٪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73328" y="2724150"/>
            <a:ext cx="1885950" cy="266700"/>
          </a:xfrm>
          <a:prstGeom prst="rect">
            <a:avLst/>
          </a:prstGeom>
          <a:solidFill>
            <a:srgbClr val="8F8F8F"/>
          </a:solidFill>
          <a:ln/>
        </p:spPr>
      </p:sp>
      <p:sp>
        <p:nvSpPr>
          <p:cNvPr id="34" name="Text 32"/>
          <p:cNvSpPr/>
          <p:nvPr/>
        </p:nvSpPr>
        <p:spPr>
          <a:xfrm>
            <a:off x="5635228" y="2724150"/>
            <a:ext cx="1962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۳۰٪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296198" y="2724150"/>
            <a:ext cx="377130" cy="266700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258098" y="2724150"/>
            <a:ext cx="4533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۶٪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1468100" y="3114675"/>
            <a:ext cx="114300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10471100" y="3086100"/>
            <a:ext cx="997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پیچیدگی و اطلاعات کم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128200" y="3114675"/>
            <a:ext cx="114300" cy="1143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40" name="Text 38"/>
          <p:cNvSpPr/>
          <p:nvPr/>
        </p:nvSpPr>
        <p:spPr>
          <a:xfrm>
            <a:off x="9309795" y="3086100"/>
            <a:ext cx="8184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نداشتن پول کافی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66895" y="3114675"/>
            <a:ext cx="114300" cy="114300"/>
          </a:xfrm>
          <a:prstGeom prst="rect">
            <a:avLst/>
          </a:prstGeom>
          <a:solidFill>
            <a:srgbClr val="8F8F8F"/>
          </a:solidFill>
          <a:ln/>
        </p:spPr>
      </p:sp>
      <p:sp>
        <p:nvSpPr>
          <p:cNvPr id="42" name="Text 40"/>
          <p:cNvSpPr/>
          <p:nvPr/>
        </p:nvSpPr>
        <p:spPr>
          <a:xfrm>
            <a:off x="8071693" y="3086100"/>
            <a:ext cx="8952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عدم امنیت و اعتماد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28793" y="3114675"/>
            <a:ext cx="114300" cy="114300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456140" y="3086100"/>
            <a:ext cx="2726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سایر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7250" y="3352800"/>
            <a:ext cx="69151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گروه نزدیک، بی‌اعتمادی از ۳۰٪ به ۱۴٪ می‌افتد؛ مانع اصلی پیچیدگی است، نه اعتماد.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115377" y="3848100"/>
            <a:ext cx="4670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رمزارز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9349963" y="3886200"/>
            <a:ext cx="17273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تبدیل شناخت به استفاده ۱۸٪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0972800" y="4195763"/>
            <a:ext cx="60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شناخت</a:t>
            </a:r>
            <a:endParaRPr lang="en-US" sz="975" dirty="0"/>
          </a:p>
        </p:txBody>
      </p:sp>
      <p:sp>
        <p:nvSpPr>
          <p:cNvPr id="49" name="Shape 47"/>
          <p:cNvSpPr/>
          <p:nvPr/>
        </p:nvSpPr>
        <p:spPr>
          <a:xfrm>
            <a:off x="5829300" y="4224338"/>
            <a:ext cx="5105400" cy="133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37389" y="4224338"/>
            <a:ext cx="2297311" cy="1333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5219700" y="4191000"/>
            <a:ext cx="495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۴۵٪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972800" y="4471988"/>
            <a:ext cx="60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استفاده</a:t>
            </a:r>
            <a:endParaRPr lang="en-US" sz="975" dirty="0"/>
          </a:p>
        </p:txBody>
      </p:sp>
      <p:sp>
        <p:nvSpPr>
          <p:cNvPr id="53" name="Shape 51"/>
          <p:cNvSpPr/>
          <p:nvPr/>
        </p:nvSpPr>
        <p:spPr>
          <a:xfrm>
            <a:off x="5829300" y="4500563"/>
            <a:ext cx="5105400" cy="133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526316" y="4500563"/>
            <a:ext cx="408384" cy="1333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55" name="Text 53"/>
          <p:cNvSpPr/>
          <p:nvPr/>
        </p:nvSpPr>
        <p:spPr>
          <a:xfrm>
            <a:off x="5219700" y="4467225"/>
            <a:ext cx="495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۸٪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534650" y="4857750"/>
            <a:ext cx="1047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پلتفرم آنلاین طلا</a:t>
            </a:r>
            <a:endParaRPr lang="en-US" sz="1275" dirty="0"/>
          </a:p>
        </p:txBody>
      </p:sp>
      <p:sp>
        <p:nvSpPr>
          <p:cNvPr id="57" name="Text 55"/>
          <p:cNvSpPr/>
          <p:nvPr/>
        </p:nvSpPr>
        <p:spPr>
          <a:xfrm>
            <a:off x="9713714" y="4895850"/>
            <a:ext cx="7828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تبدیل ۴۲٪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10972800" y="5205413"/>
            <a:ext cx="60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شناخت</a:t>
            </a:r>
            <a:endParaRPr lang="en-US" sz="975" dirty="0"/>
          </a:p>
        </p:txBody>
      </p:sp>
      <p:sp>
        <p:nvSpPr>
          <p:cNvPr id="59" name="Shape 57"/>
          <p:cNvSpPr/>
          <p:nvPr/>
        </p:nvSpPr>
        <p:spPr>
          <a:xfrm>
            <a:off x="5829300" y="5233988"/>
            <a:ext cx="5105400" cy="133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79904" y="5233988"/>
            <a:ext cx="2654796" cy="1333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1" name="Text 59"/>
          <p:cNvSpPr/>
          <p:nvPr/>
        </p:nvSpPr>
        <p:spPr>
          <a:xfrm>
            <a:off x="5219700" y="5200650"/>
            <a:ext cx="495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۵۲٪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0972800" y="5481638"/>
            <a:ext cx="60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استفاده</a:t>
            </a:r>
            <a:endParaRPr lang="en-US" sz="975" dirty="0"/>
          </a:p>
        </p:txBody>
      </p:sp>
      <p:sp>
        <p:nvSpPr>
          <p:cNvPr id="63" name="Shape 61"/>
          <p:cNvSpPr/>
          <p:nvPr/>
        </p:nvSpPr>
        <p:spPr>
          <a:xfrm>
            <a:off x="5829300" y="5510213"/>
            <a:ext cx="5105400" cy="133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811643" y="5510213"/>
            <a:ext cx="1123057" cy="1333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65" name="Text 63"/>
          <p:cNvSpPr/>
          <p:nvPr/>
        </p:nvSpPr>
        <p:spPr>
          <a:xfrm>
            <a:off x="5219700" y="5476875"/>
            <a:ext cx="495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۲۲٪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09600" y="3848100"/>
            <a:ext cx="3924300" cy="18669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 rot="2700000">
            <a:off x="38100" y="4743450"/>
            <a:ext cx="1638301" cy="1638301"/>
          </a:xfrm>
          <a:prstGeom prst="roundRect">
            <a:avLst>
              <a:gd name="adj" fmla="val 13953"/>
            </a:avLst>
          </a:prstGeom>
          <a:ln w="9525">
            <a:solidFill>
              <a:srgbClr val="FDB913">
                <a:alpha val="28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8630" y="4019550"/>
            <a:ext cx="3855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FFFFFF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محرک مشترک طلا و رمزارز</a:t>
            </a:r>
            <a:endParaRPr lang="en-US" sz="975" dirty="0"/>
          </a:p>
        </p:txBody>
      </p:sp>
      <p:sp>
        <p:nvSpPr>
          <p:cNvPr id="69" name="Shape 67"/>
          <p:cNvSpPr/>
          <p:nvPr/>
        </p:nvSpPr>
        <p:spPr>
          <a:xfrm rot="2700000">
            <a:off x="3981450" y="4343400"/>
            <a:ext cx="342900" cy="342900"/>
          </a:xfrm>
          <a:prstGeom prst="roundRect">
            <a:avLst>
              <a:gd name="adj" fmla="val 27778"/>
            </a:avLst>
          </a:prstGeom>
          <a:ln w="9525">
            <a:solidFill>
              <a:srgbClr val="FDB913">
                <a:alpha val="7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33850" y="4481513"/>
            <a:ext cx="38100" cy="1143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1" name="Shape 69"/>
          <p:cNvSpPr/>
          <p:nvPr/>
        </p:nvSpPr>
        <p:spPr>
          <a:xfrm>
            <a:off x="4095750" y="4433887"/>
            <a:ext cx="114300" cy="6667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2" name="Text 70"/>
          <p:cNvSpPr/>
          <p:nvPr/>
        </p:nvSpPr>
        <p:spPr>
          <a:xfrm>
            <a:off x="3143994" y="4421981"/>
            <a:ext cx="73268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4783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پوشش تورم</a:t>
            </a:r>
            <a:endParaRPr lang="en-US" sz="1125" dirty="0"/>
          </a:p>
        </p:txBody>
      </p:sp>
      <p:sp>
        <p:nvSpPr>
          <p:cNvPr id="73" name="Shape 71"/>
          <p:cNvSpPr/>
          <p:nvPr/>
        </p:nvSpPr>
        <p:spPr>
          <a:xfrm rot="2700000">
            <a:off x="2143125" y="4343400"/>
            <a:ext cx="342900" cy="342900"/>
          </a:xfrm>
          <a:prstGeom prst="roundRect">
            <a:avLst>
              <a:gd name="adj" fmla="val 27778"/>
            </a:avLst>
          </a:prstGeom>
          <a:ln w="9525">
            <a:solidFill>
              <a:srgbClr val="FDB913">
                <a:alpha val="7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2233612" y="4433887"/>
            <a:ext cx="161925" cy="161925"/>
          </a:xfrm>
          <a:prstGeom prst="roundRect">
            <a:avLst>
              <a:gd name="adj" fmla="val 17647"/>
            </a:avLst>
          </a:prstGeom>
          <a:ln w="9525">
            <a:solidFill>
              <a:srgbClr val="FDB91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2281237" y="4481512"/>
            <a:ext cx="66675" cy="66675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sp>
        <p:nvSpPr>
          <p:cNvPr id="76" name="Text 74"/>
          <p:cNvSpPr/>
          <p:nvPr/>
        </p:nvSpPr>
        <p:spPr>
          <a:xfrm>
            <a:off x="1167259" y="4421981"/>
            <a:ext cx="87109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4783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حفظ ارزش پول</a:t>
            </a:r>
            <a:endParaRPr lang="en-US" sz="1125" dirty="0"/>
          </a:p>
        </p:txBody>
      </p:sp>
      <p:sp>
        <p:nvSpPr>
          <p:cNvPr id="77" name="Shape 75"/>
          <p:cNvSpPr/>
          <p:nvPr/>
        </p:nvSpPr>
        <p:spPr>
          <a:xfrm>
            <a:off x="819150" y="4819650"/>
            <a:ext cx="3505200" cy="19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8" name="Shape 76"/>
          <p:cNvSpPr/>
          <p:nvPr/>
        </p:nvSpPr>
        <p:spPr>
          <a:xfrm rot="2700000">
            <a:off x="3981450" y="5005387"/>
            <a:ext cx="342900" cy="342900"/>
          </a:xfrm>
          <a:prstGeom prst="roundRect">
            <a:avLst>
              <a:gd name="adj" fmla="val 27778"/>
            </a:avLst>
          </a:prstGeom>
          <a:ln w="9525">
            <a:solidFill>
              <a:srgbClr val="FDB913">
                <a:alpha val="7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057650" y="5124450"/>
            <a:ext cx="123825" cy="123825"/>
          </a:xfrm>
          <a:prstGeom prst="ellipse">
            <a:avLst/>
          </a:prstGeom>
          <a:ln w="9525">
            <a:solidFill>
              <a:srgbClr val="FDB91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43375" y="5124450"/>
            <a:ext cx="104775" cy="104775"/>
          </a:xfrm>
          <a:prstGeom prst="ellipse">
            <a:avLst/>
          </a:prstGeom>
          <a:solidFill>
            <a:srgbClr val="FDB913"/>
          </a:solidFill>
          <a:ln/>
        </p:spPr>
      </p:sp>
      <p:sp>
        <p:nvSpPr>
          <p:cNvPr id="81" name="Text 79"/>
          <p:cNvSpPr/>
          <p:nvPr/>
        </p:nvSpPr>
        <p:spPr>
          <a:xfrm>
            <a:off x="2236262" y="4972050"/>
            <a:ext cx="16308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4783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پرسونای مشترک</a:t>
            </a:r>
            <a:endParaRPr lang="en-US" sz="1125" dirty="0"/>
          </a:p>
        </p:txBody>
      </p:sp>
      <p:sp>
        <p:nvSpPr>
          <p:cNvPr id="82" name="Text 80"/>
          <p:cNvSpPr/>
          <p:nvPr/>
        </p:nvSpPr>
        <p:spPr>
          <a:xfrm>
            <a:off x="2236262" y="5195888"/>
            <a:ext cx="163088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7500"/>
              </a:lnSpc>
              <a:buNone/>
            </a:pP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هزینه‌ی متقاعدسازی پایین است.</a:t>
            </a:r>
            <a:endParaRPr lang="en-US" sz="975" dirty="0"/>
          </a:p>
        </p:txBody>
      </p:sp>
      <p:sp>
        <p:nvSpPr>
          <p:cNvPr id="83" name="Text 81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۱۴ / ۴۱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85" name="Text 83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095501" y="3047999"/>
            <a:ext cx="5334002" cy="5334002"/>
          </a:xfrm>
          <a:prstGeom prst="roundRect">
            <a:avLst>
              <a:gd name="adj" fmla="val 11429"/>
            </a:avLst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1333501" y="3809999"/>
            <a:ext cx="3810001" cy="3810001"/>
          </a:xfrm>
          <a:prstGeom prst="roundRect">
            <a:avLst>
              <a:gd name="adj" fmla="val 12000"/>
            </a:avLst>
          </a:prstGeom>
          <a:solidFill>
            <a:srgbClr val="6E6E6E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571500" y="4572000"/>
            <a:ext cx="2286001" cy="2286001"/>
          </a:xfrm>
          <a:prstGeom prst="roundRect">
            <a:avLst>
              <a:gd name="adj" fmla="val 13333"/>
            </a:avLst>
          </a:prstGeom>
          <a:solidFill>
            <a:srgbClr val="B7820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33350" y="5276850"/>
            <a:ext cx="876300" cy="876300"/>
          </a:xfrm>
          <a:prstGeom prst="roundRect">
            <a:avLst>
              <a:gd name="adj" fmla="val 17391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>
            <a:off x="5905500" y="1143000"/>
            <a:ext cx="628650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" name="Shape 5"/>
          <p:cNvSpPr/>
          <p:nvPr/>
        </p:nvSpPr>
        <p:spPr>
          <a:xfrm>
            <a:off x="11468100" y="1638300"/>
            <a:ext cx="114300" cy="112395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۰۴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33950" y="1981200"/>
            <a:ext cx="6286500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65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رقابت و مزیت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22645" y="2819400"/>
            <a:ext cx="5297805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7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مزیت یک ویژگی نسبی است. این فصل قابلیت‌های میلی را در برابر بازیگران موجود می‌گذارد و می‌گوید کدام فضا خالی مانده است.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0550" y="1638300"/>
            <a:ext cx="4400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78" kern="0" dirty="0">
                <a:solidFill>
                  <a:srgbClr val="FFFFF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فصل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 rot="2700000">
            <a:off x="4800600" y="210978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3" name="Text 11"/>
          <p:cNvSpPr/>
          <p:nvPr/>
        </p:nvSpPr>
        <p:spPr>
          <a:xfrm>
            <a:off x="1408956" y="2076450"/>
            <a:ext cx="32201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تمرکز بازار در کجاست و نقشه‌ی بازیگران اصلی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rot="2700000">
            <a:off x="4800600" y="261461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5" name="Text 13"/>
          <p:cNvSpPr/>
          <p:nvPr/>
        </p:nvSpPr>
        <p:spPr>
          <a:xfrm>
            <a:off x="784562" y="2581275"/>
            <a:ext cx="38445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بازار چه قابلیتی داریم و چه چیزهایی لازم داریم؟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 rot="2700000">
            <a:off x="4800600" y="311943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7" name="Text 15"/>
          <p:cNvSpPr/>
          <p:nvPr/>
        </p:nvSpPr>
        <p:spPr>
          <a:xfrm>
            <a:off x="2115041" y="3086100"/>
            <a:ext cx="25141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بازار چه فضاهایی وجود دارد؟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27635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42975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۴ · ۴‑۱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بازار به‌شدت متمرکز است، اما همه‌ی بازیگران بزرگ اردربوکی‌اند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324600" y="1619250"/>
            <a:ext cx="5257800" cy="838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073140" y="1752600"/>
            <a:ext cx="52806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بیش از ۵۰٪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73140" y="2124075"/>
            <a:ext cx="52806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بازیگر نخست، نوبیتکس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86980" y="1619250"/>
            <a:ext cx="3337620" cy="838200"/>
          </a:xfrm>
          <a:prstGeom prst="rect">
            <a:avLst/>
          </a:prstGeom>
          <a:solidFill>
            <a:srgbClr val="B78206"/>
          </a:solidFill>
          <a:ln/>
        </p:spPr>
      </p:sp>
      <p:sp>
        <p:nvSpPr>
          <p:cNvPr id="11" name="Text 9"/>
          <p:cNvSpPr/>
          <p:nvPr/>
        </p:nvSpPr>
        <p:spPr>
          <a:xfrm>
            <a:off x="2927539" y="1781175"/>
            <a:ext cx="31684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۳۰٪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927539" y="2095500"/>
            <a:ext cx="31684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بازیگران دوم تا چهارم، والکس و بیت‌پین و رمزینکس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9600" y="1619250"/>
            <a:ext cx="2377380" cy="8382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6182" y="1781175"/>
            <a:ext cx="21121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۲۰٪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6182" y="2095500"/>
            <a:ext cx="21121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مابقی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93880" y="3352800"/>
            <a:ext cx="458852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6224" y="3543300"/>
            <a:ext cx="47261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مدل معاملاتی همه‌ی بزرگان یکی است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rot="2700000">
            <a:off x="11296650" y="401955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9" name="Text 17"/>
          <p:cNvSpPr/>
          <p:nvPr/>
        </p:nvSpPr>
        <p:spPr>
          <a:xfrm rot="-2700000">
            <a:off x="11341425" y="4052940"/>
            <a:ext cx="1201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7281223" y="4000500"/>
            <a:ext cx="3882077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هر چهار بازیگر نخست اردربوکی‌اند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28264" y="4253805"/>
            <a:ext cx="3635036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محصولشان برای کاربری طراحی شده که سال‌ها قبل وارد بازار شده است.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2700000">
            <a:off x="11296650" y="4645223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23" name="Text 21"/>
          <p:cNvSpPr/>
          <p:nvPr/>
        </p:nvSpPr>
        <p:spPr>
          <a:xfrm rot="-2700000">
            <a:off x="11326989" y="4678614"/>
            <a:ext cx="14897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8605971" y="4626173"/>
            <a:ext cx="2557329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فضای سواپ ساده بدون رقیب بزرگ است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62256" y="4879479"/>
            <a:ext cx="2401044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یک دکمه، یک قیمت اعلامی.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rot="2700000">
            <a:off x="11296650" y="5270897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27" name="Text 25"/>
          <p:cNvSpPr/>
          <p:nvPr/>
        </p:nvSpPr>
        <p:spPr>
          <a:xfrm rot="-2700000">
            <a:off x="11311213" y="5304287"/>
            <a:ext cx="180529" cy="257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7087553" y="5251847"/>
            <a:ext cx="4075748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ریشه در زمان ورود آن‌ها دارد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46918" y="5505152"/>
            <a:ext cx="3816382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مخاطبان اولیه، کاربران حرفه‌ای آشنا با بازارهای مالی و پنل‌های بورسی بودند.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9600" y="3352800"/>
            <a:ext cx="5965180" cy="19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1" name="Text 29"/>
          <p:cNvSpPr/>
          <p:nvPr/>
        </p:nvSpPr>
        <p:spPr>
          <a:xfrm>
            <a:off x="430645" y="3543300"/>
            <a:ext cx="61441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بازیگران بازار رمزارز ایران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5032787" y="3886200"/>
            <a:ext cx="154199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نوبیتکس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4162425" y="3981450"/>
            <a:ext cx="8390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957"/>
              </a:lnSpc>
              <a:buNone/>
            </a:pPr>
            <a:r>
              <a:rPr lang="en-US" sz="2325" b="1" dirty="0">
                <a:solidFill>
                  <a:srgbClr val="FDB913">
                    <a:alpha val="9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والکس</a:t>
            </a:r>
            <a:endParaRPr lang="en-US" sz="2325" dirty="0"/>
          </a:p>
        </p:txBody>
      </p:sp>
      <p:sp>
        <p:nvSpPr>
          <p:cNvPr id="34" name="Text 32"/>
          <p:cNvSpPr/>
          <p:nvPr/>
        </p:nvSpPr>
        <p:spPr>
          <a:xfrm>
            <a:off x="3148757" y="3981450"/>
            <a:ext cx="9184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957"/>
              </a:lnSpc>
              <a:buNone/>
            </a:pPr>
            <a:r>
              <a:rPr lang="en-US" sz="2325" b="1" dirty="0">
                <a:solidFill>
                  <a:srgbClr val="0B23B5">
                    <a:alpha val="96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بیت‌پین</a:t>
            </a:r>
            <a:endParaRPr lang="en-US" sz="2325" dirty="0"/>
          </a:p>
        </p:txBody>
      </p:sp>
      <p:sp>
        <p:nvSpPr>
          <p:cNvPr id="35" name="Text 33"/>
          <p:cNvSpPr/>
          <p:nvPr/>
        </p:nvSpPr>
        <p:spPr>
          <a:xfrm>
            <a:off x="1990279" y="4000500"/>
            <a:ext cx="10632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909"/>
              </a:lnSpc>
              <a:buNone/>
            </a:pPr>
            <a:r>
              <a:rPr lang="en-US" sz="2175" b="1" dirty="0">
                <a:solidFill>
                  <a:srgbClr val="051061">
                    <a:alpha val="94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رمزینکس</a:t>
            </a:r>
            <a:endParaRPr lang="en-US" sz="2175" dirty="0"/>
          </a:p>
        </p:txBody>
      </p:sp>
      <p:sp>
        <p:nvSpPr>
          <p:cNvPr id="36" name="Text 34"/>
          <p:cNvSpPr/>
          <p:nvPr/>
        </p:nvSpPr>
        <p:spPr>
          <a:xfrm>
            <a:off x="1316682" y="4057650"/>
            <a:ext cx="5783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500" b="1" dirty="0">
                <a:solidFill>
                  <a:srgbClr val="333333">
                    <a:alpha val="9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آبان‌تتر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4913" y="4067175"/>
            <a:ext cx="4865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517"/>
              </a:lnSpc>
              <a:buNone/>
            </a:pPr>
            <a:r>
              <a:rPr lang="en-US" sz="1425" b="1" dirty="0">
                <a:solidFill>
                  <a:srgbClr val="8F8F8F">
                    <a:alpha val="9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تبدیل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5666333" y="4410075"/>
            <a:ext cx="90844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517"/>
              </a:lnSpc>
              <a:buNone/>
            </a:pPr>
            <a:r>
              <a:rPr lang="en-US" sz="1425" dirty="0">
                <a:solidFill>
                  <a:srgbClr val="333333">
                    <a:alpha val="8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اوکی‌اکسچنج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4862364" y="4410075"/>
            <a:ext cx="7087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517"/>
              </a:lnSpc>
              <a:buNone/>
            </a:pPr>
            <a:r>
              <a:rPr lang="en-US" sz="1425" b="1" dirty="0">
                <a:solidFill>
                  <a:srgbClr val="B78206">
                    <a:alpha val="86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اکسکوینو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4295329" y="4419600"/>
            <a:ext cx="4717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350" dirty="0">
                <a:solidFill>
                  <a:srgbClr val="6B6B6B">
                    <a:alpha val="84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تترلند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3735735" y="4419600"/>
            <a:ext cx="4643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350" dirty="0">
                <a:solidFill>
                  <a:srgbClr val="333333">
                    <a:alpha val="8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ارزپایا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3081933" y="4410075"/>
            <a:ext cx="55855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517"/>
              </a:lnSpc>
              <a:buNone/>
            </a:pPr>
            <a:r>
              <a:rPr lang="en-US" sz="1425" dirty="0">
                <a:solidFill>
                  <a:srgbClr val="0B23B5">
                    <a:alpha val="8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بیت۲۴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2557314" y="4429125"/>
            <a:ext cx="4293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385"/>
              </a:lnSpc>
              <a:buNone/>
            </a:pPr>
            <a:r>
              <a:rPr lang="en-US" sz="1275" dirty="0">
                <a:solidFill>
                  <a:srgbClr val="8F8F8F">
                    <a:alpha val="7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پینگی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1714054" y="4419600"/>
            <a:ext cx="7480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350" dirty="0">
                <a:solidFill>
                  <a:srgbClr val="333333">
                    <a:alpha val="76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ایرانیکارت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36129" y="4429125"/>
            <a:ext cx="6826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385"/>
              </a:lnSpc>
              <a:buNone/>
            </a:pPr>
            <a:r>
              <a:rPr lang="en-US" sz="1275" dirty="0">
                <a:solidFill>
                  <a:srgbClr val="6B6B6B">
                    <a:alpha val="74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سرمایکس</a:t>
            </a:r>
            <a:endParaRPr lang="en-US" sz="1275" dirty="0"/>
          </a:p>
        </p:txBody>
      </p:sp>
      <p:sp>
        <p:nvSpPr>
          <p:cNvPr id="46" name="Text 44"/>
          <p:cNvSpPr/>
          <p:nvPr/>
        </p:nvSpPr>
        <p:spPr>
          <a:xfrm>
            <a:off x="6110585" y="4695825"/>
            <a:ext cx="4641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350" dirty="0">
                <a:solidFill>
                  <a:srgbClr val="B78206">
                    <a:alpha val="7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اکسیر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529263" y="4705350"/>
            <a:ext cx="4860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385"/>
              </a:lnSpc>
              <a:buNone/>
            </a:pPr>
            <a:r>
              <a:rPr lang="en-US" sz="1275" dirty="0">
                <a:solidFill>
                  <a:srgbClr val="333333">
                    <a:alpha val="7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اوام‌پی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4700736" y="4705350"/>
            <a:ext cx="7332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200" dirty="0">
                <a:solidFill>
                  <a:srgbClr val="8F8F8F">
                    <a:alpha val="6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کیف‌پول من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033093" y="4705350"/>
            <a:ext cx="5723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385"/>
              </a:lnSpc>
              <a:buNone/>
            </a:pPr>
            <a:r>
              <a:rPr lang="en-US" sz="1275" dirty="0">
                <a:solidFill>
                  <a:srgbClr val="051061">
                    <a:alpha val="66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بیتمکس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3227636" y="4705350"/>
            <a:ext cx="7102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200" dirty="0">
                <a:solidFill>
                  <a:srgbClr val="6B6B6B">
                    <a:alpha val="64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آرسونیکس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691110" y="4705350"/>
            <a:ext cx="4412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200" dirty="0">
                <a:solidFill>
                  <a:srgbClr val="333333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پول نو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003673" y="4705350"/>
            <a:ext cx="5921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200" dirty="0">
                <a:solidFill>
                  <a:srgbClr val="0B23B5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فراسواپ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82725" y="4714875"/>
            <a:ext cx="825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217"/>
              </a:lnSpc>
              <a:buNone/>
            </a:pPr>
            <a:r>
              <a:rPr lang="en-US" sz="1125" dirty="0">
                <a:solidFill>
                  <a:srgbClr val="333333">
                    <a:alpha val="5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فرهاد اکسچنج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6038106" y="4972050"/>
            <a:ext cx="5366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217"/>
              </a:lnSpc>
              <a:buNone/>
            </a:pPr>
            <a:r>
              <a:rPr lang="en-US" sz="1125" dirty="0">
                <a:solidFill>
                  <a:srgbClr val="6B6B6B">
                    <a:alpha val="56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کوین‌کده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5390406" y="4972050"/>
            <a:ext cx="552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217"/>
              </a:lnSpc>
              <a:buNone/>
            </a:pPr>
            <a:r>
              <a:rPr lang="en-US" sz="1125" dirty="0">
                <a:solidFill>
                  <a:srgbClr val="B78206">
                    <a:alpha val="54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بیت‌مارت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4590455" y="4972050"/>
            <a:ext cx="7047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217"/>
              </a:lnSpc>
              <a:buNone/>
            </a:pPr>
            <a:r>
              <a:rPr lang="en-US" sz="1125" dirty="0">
                <a:solidFill>
                  <a:srgbClr val="333333">
                    <a:alpha val="5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نیک‌پرداخت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3879949" y="4981575"/>
            <a:ext cx="6152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050" dirty="0">
                <a:solidFill>
                  <a:srgbClr val="8F8F8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پی‌ام‌ایکس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369915" y="4981575"/>
            <a:ext cx="41478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050" dirty="0">
                <a:solidFill>
                  <a:srgbClr val="051061">
                    <a:alpha val="4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ارزینجا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727275" y="4981575"/>
            <a:ext cx="5473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050" dirty="0">
                <a:solidFill>
                  <a:srgbClr val="333333">
                    <a:alpha val="46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اکس‌نوین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166938" y="4981575"/>
            <a:ext cx="4650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050" dirty="0">
                <a:solidFill>
                  <a:srgbClr val="6B6B6B">
                    <a:alpha val="44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دکان‌تتر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595884" y="4981575"/>
            <a:ext cx="47580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1050" dirty="0">
                <a:solidFill>
                  <a:srgbClr val="0B23B5">
                    <a:alpha val="4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توایکس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98786" y="4991100"/>
            <a:ext cx="50184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000"/>
              </a:lnSpc>
              <a:buNone/>
            </a:pPr>
            <a:r>
              <a:rPr lang="en-US" sz="975" dirty="0">
                <a:solidFill>
                  <a:srgbClr val="333333">
                    <a:alpha val="4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بیت‌ستان</a:t>
            </a:r>
            <a:endParaRPr lang="en-US" sz="975" dirty="0"/>
          </a:p>
        </p:txBody>
      </p:sp>
      <p:sp>
        <p:nvSpPr>
          <p:cNvPr id="63" name="Text 61"/>
          <p:cNvSpPr/>
          <p:nvPr/>
        </p:nvSpPr>
        <p:spPr>
          <a:xfrm>
            <a:off x="5960864" y="5219700"/>
            <a:ext cx="6139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000"/>
              </a:lnSpc>
              <a:buNone/>
            </a:pPr>
            <a:r>
              <a:rPr lang="en-US" sz="975" dirty="0">
                <a:solidFill>
                  <a:srgbClr val="8F8F8F">
                    <a:alpha val="3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ایران‌کریپتو</a:t>
            </a:r>
            <a:endParaRPr lang="en-US" sz="975" dirty="0"/>
          </a:p>
        </p:txBody>
      </p:sp>
      <p:sp>
        <p:nvSpPr>
          <p:cNvPr id="64" name="Text 62"/>
          <p:cNvSpPr/>
          <p:nvPr/>
        </p:nvSpPr>
        <p:spPr>
          <a:xfrm>
            <a:off x="5433566" y="5219700"/>
            <a:ext cx="43204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000"/>
              </a:lnSpc>
              <a:buNone/>
            </a:pPr>
            <a:r>
              <a:rPr lang="en-US" sz="975" dirty="0">
                <a:solidFill>
                  <a:srgbClr val="6B6B6B">
                    <a:alpha val="36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مزدکس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4898678" y="5219700"/>
            <a:ext cx="43963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000"/>
              </a:lnSpc>
              <a:buNone/>
            </a:pPr>
            <a:r>
              <a:rPr lang="en-US" sz="975" dirty="0">
                <a:solidFill>
                  <a:srgbClr val="333333">
                    <a:alpha val="34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اریترون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4307384" y="5219700"/>
            <a:ext cx="49604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000"/>
              </a:lnSpc>
              <a:buNone/>
            </a:pPr>
            <a:r>
              <a:rPr lang="en-US" sz="975" dirty="0">
                <a:solidFill>
                  <a:srgbClr val="B78206">
                    <a:alpha val="3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یوبیتکس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3721001" y="5219700"/>
            <a:ext cx="49113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000"/>
              </a:lnSpc>
              <a:buNone/>
            </a:pPr>
            <a:r>
              <a:rPr lang="en-US" sz="975" dirty="0">
                <a:solidFill>
                  <a:srgbClr val="051061">
                    <a:alpha val="3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کوین‌نیک</a:t>
            </a:r>
            <a:endParaRPr lang="en-US" sz="975" dirty="0"/>
          </a:p>
        </p:txBody>
      </p:sp>
      <p:sp>
        <p:nvSpPr>
          <p:cNvPr id="68" name="Text 66"/>
          <p:cNvSpPr/>
          <p:nvPr/>
        </p:nvSpPr>
        <p:spPr>
          <a:xfrm>
            <a:off x="2943374" y="5219700"/>
            <a:ext cx="6823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900" dirty="0">
                <a:solidFill>
                  <a:srgbClr val="6B6B6B">
                    <a:alpha val="2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نوبیتکس‌پلاس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473077" y="5219700"/>
            <a:ext cx="37504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900" dirty="0">
                <a:solidFill>
                  <a:srgbClr val="333333">
                    <a:alpha val="26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بیت‌ارز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948607" y="5219700"/>
            <a:ext cx="4292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6667"/>
              </a:lnSpc>
              <a:buNone/>
            </a:pPr>
            <a:r>
              <a:rPr lang="en-US" sz="900" dirty="0">
                <a:solidFill>
                  <a:srgbClr val="8F8F8F">
                    <a:alpha val="24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ارزپلاس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۱۶ / ۴۱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73" name="Text 71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25730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4297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۴ · ۴‑۲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اعتماد و توزیع را داریم؛ خزانه، کاستودی و انطباق را نداریم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11130" y="1428750"/>
            <a:ext cx="1471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قابلیت لازم برای عرضه‌ی رمزارز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43500" y="1428750"/>
            <a:ext cx="8886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میزان آمادگی امروز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19700" y="2181225"/>
            <a:ext cx="63627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78793" y="1824038"/>
            <a:ext cx="60036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برند و اعتماد نگهداری دارایی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2625" y="18335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581650" y="18335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00675" y="18335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5219700" y="18335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219700" y="2676525"/>
            <a:ext cx="63627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578793" y="2319338"/>
            <a:ext cx="60036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پایگاه کاربری و کانال توزیع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2625" y="23288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581650" y="23288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00675" y="23288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219700" y="23288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9700" y="3171825"/>
            <a:ext cx="63627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578793" y="2814638"/>
            <a:ext cx="60036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تجربه‌ی کاربری ساده‌سازی‌شده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2625" y="28241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581650" y="28241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400675" y="28241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219700" y="28241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219700" y="3667125"/>
            <a:ext cx="63627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578793" y="3309938"/>
            <a:ext cx="60036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زیرساخت ریفرال در مقیاس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62625" y="33194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581650" y="33194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5400675" y="33194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219700" y="33194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5219700" y="4162425"/>
            <a:ext cx="63627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578793" y="3805237"/>
            <a:ext cx="60036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انطباق و پایش تراکنش رمزارز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62625" y="38147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5581650" y="38147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5400675" y="38147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19700" y="38147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9700" y="4657725"/>
            <a:ext cx="63627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578793" y="4300538"/>
            <a:ext cx="60036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کاستودی و امنیت کلید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62625" y="43100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5581650" y="43100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400675" y="43100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219700" y="43100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9700" y="5153025"/>
            <a:ext cx="63627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578793" y="4795838"/>
            <a:ext cx="60036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خزانه‌داری و بازارگردانی رمزارز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762625" y="4805363"/>
            <a:ext cx="152400" cy="2095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5581650" y="48053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400675" y="48053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219700" y="48053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219700" y="5648325"/>
            <a:ext cx="63627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578793" y="5291138"/>
            <a:ext cx="60036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لاین ریالی مجوزدار برای رمزارز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762625" y="53006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581650" y="53006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400675" y="53006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219700" y="5300663"/>
            <a:ext cx="152400" cy="2095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205740" y="1428750"/>
            <a:ext cx="44424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پایگاه کاربری — میلی در برابر بزرگ‌ترین بازیگر رمزارز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4297710" y="1847850"/>
            <a:ext cx="350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میلی</a:t>
            </a:r>
            <a:endParaRPr lang="en-US" sz="1275" dirty="0"/>
          </a:p>
        </p:txBody>
      </p:sp>
      <p:sp>
        <p:nvSpPr>
          <p:cNvPr id="59" name="Text 57"/>
          <p:cNvSpPr/>
          <p:nvPr/>
        </p:nvSpPr>
        <p:spPr>
          <a:xfrm>
            <a:off x="3906589" y="1895475"/>
            <a:ext cx="3720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ثبت‌نام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9600" y="2171700"/>
            <a:ext cx="4038600" cy="400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1" name="Text 59"/>
          <p:cNvSpPr/>
          <p:nvPr/>
        </p:nvSpPr>
        <p:spPr>
          <a:xfrm>
            <a:off x="640842" y="2171700"/>
            <a:ext cx="385495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۲۷ میلیون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4030266" y="2762250"/>
            <a:ext cx="61793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نوبیتکس</a:t>
            </a:r>
            <a:endParaRPr lang="en-US" sz="1275" dirty="0"/>
          </a:p>
        </p:txBody>
      </p:sp>
      <p:sp>
        <p:nvSpPr>
          <p:cNvPr id="63" name="Text 61"/>
          <p:cNvSpPr/>
          <p:nvPr/>
        </p:nvSpPr>
        <p:spPr>
          <a:xfrm>
            <a:off x="3639145" y="2809875"/>
            <a:ext cx="3720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ثبت‌نام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404914" y="3086100"/>
            <a:ext cx="2243286" cy="400050"/>
          </a:xfrm>
          <a:prstGeom prst="rect">
            <a:avLst/>
          </a:prstGeom>
          <a:solidFill>
            <a:srgbClr val="8F8F8F"/>
          </a:solidFill>
          <a:ln/>
        </p:spPr>
      </p:sp>
      <p:sp>
        <p:nvSpPr>
          <p:cNvPr id="65" name="Text 63"/>
          <p:cNvSpPr/>
          <p:nvPr/>
        </p:nvSpPr>
        <p:spPr>
          <a:xfrm>
            <a:off x="2481114" y="3086100"/>
            <a:ext cx="201468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۱۳ میلیون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609600" y="3619500"/>
            <a:ext cx="4038600" cy="19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67" name="Text 65"/>
          <p:cNvSpPr/>
          <p:nvPr/>
        </p:nvSpPr>
        <p:spPr>
          <a:xfrm>
            <a:off x="205740" y="3800475"/>
            <a:ext cx="4442460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6667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سه محوری که در این بازار مدنظر ما واقعا روی آن‌ها رقابت می‌شود.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09600" y="4097536"/>
            <a:ext cx="4038600" cy="2667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9" name="Text 67"/>
          <p:cNvSpPr/>
          <p:nvPr/>
        </p:nvSpPr>
        <p:spPr>
          <a:xfrm>
            <a:off x="4303961" y="4121348"/>
            <a:ext cx="1918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۰۱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3794373" y="4116586"/>
            <a:ext cx="4524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سادگی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09600" y="4421386"/>
            <a:ext cx="4038600" cy="32385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2" name="Text 70"/>
          <p:cNvSpPr/>
          <p:nvPr/>
        </p:nvSpPr>
        <p:spPr>
          <a:xfrm>
            <a:off x="4275088" y="4473773"/>
            <a:ext cx="22071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۰۲</a:t>
            </a:r>
            <a:endParaRPr lang="en-US" sz="1125" dirty="0"/>
          </a:p>
        </p:txBody>
      </p:sp>
      <p:sp>
        <p:nvSpPr>
          <p:cNvPr id="73" name="Text 71"/>
          <p:cNvSpPr/>
          <p:nvPr/>
        </p:nvSpPr>
        <p:spPr>
          <a:xfrm>
            <a:off x="3801070" y="4469011"/>
            <a:ext cx="4168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اعتماد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09600" y="4802386"/>
            <a:ext cx="4038600" cy="2667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5" name="Text 73"/>
          <p:cNvSpPr/>
          <p:nvPr/>
        </p:nvSpPr>
        <p:spPr>
          <a:xfrm>
            <a:off x="4243536" y="4826198"/>
            <a:ext cx="25226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۰۳</a:t>
            </a:r>
            <a:endParaRPr lang="en-US" sz="1125" dirty="0"/>
          </a:p>
        </p:txBody>
      </p:sp>
      <p:sp>
        <p:nvSpPr>
          <p:cNvPr id="76" name="Text 74"/>
          <p:cNvSpPr/>
          <p:nvPr/>
        </p:nvSpPr>
        <p:spPr>
          <a:xfrm>
            <a:off x="1610395" y="4826198"/>
            <a:ext cx="25759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دسترسی انبوه به مصرف‌کننده‌ی خارج از بازار</a:t>
            </a:r>
            <a:endParaRPr lang="en-US" sz="1125" dirty="0"/>
          </a:p>
        </p:txBody>
      </p:sp>
      <p:sp>
        <p:nvSpPr>
          <p:cNvPr id="77" name="Text 75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۱۷ / ۴۱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79" name="Text 77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23825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23925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0960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5" name="Text 3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۴ · ۴‑۳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0416" y="704850"/>
            <a:ext cx="11301984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سه فضای خالی که هیچ رقیبی پر نکرده است — و پنجره‌ی زمانی که تصرف آنها را ممکن می‌کند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989219" y="2552700"/>
            <a:ext cx="2593181" cy="25336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8570119" y="4305300"/>
            <a:ext cx="1257300" cy="1257300"/>
          </a:xfrm>
          <a:prstGeom prst="roundRect">
            <a:avLst>
              <a:gd name="adj" fmla="val 13636"/>
            </a:avLst>
          </a:prstGeom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10915650" y="2762250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B913"/>
          </a:solidFill>
          <a:ln/>
        </p:spPr>
      </p:sp>
      <p:sp>
        <p:nvSpPr>
          <p:cNvPr id="10" name="Shape 8"/>
          <p:cNvSpPr/>
          <p:nvPr/>
        </p:nvSpPr>
        <p:spPr>
          <a:xfrm>
            <a:off x="11020425" y="2905125"/>
            <a:ext cx="228600" cy="152400"/>
          </a:xfrm>
          <a:prstGeom prst="roundRect">
            <a:avLst>
              <a:gd name="adj" fmla="val 50000"/>
            </a:avLst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06150" y="2952750"/>
            <a:ext cx="57150" cy="571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17819" y="2971800"/>
            <a:ext cx="1564481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004221" y="3390900"/>
            <a:ext cx="23495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 ‑ گروه ۶۴ درصدی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1619" y="3752850"/>
            <a:ext cx="2212181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33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«آشنا بدون تجربه‌ی خرید». هیچ بازیگر بزرگی محصولش را حول مانع پیچیدگی طراحی نکرده است.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6013" y="2552700"/>
            <a:ext cx="2593181" cy="25336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 rot="2700000">
            <a:off x="5776912" y="4305300"/>
            <a:ext cx="1257300" cy="1257300"/>
          </a:xfrm>
          <a:prstGeom prst="roundRect">
            <a:avLst>
              <a:gd name="adj" fmla="val 13636"/>
            </a:avLst>
          </a:prstGeom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8122444" y="2762250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B913"/>
          </a:solidFill>
          <a:ln/>
        </p:spPr>
      </p:sp>
      <p:sp>
        <p:nvSpPr>
          <p:cNvPr id="18" name="Shape 16"/>
          <p:cNvSpPr/>
          <p:nvPr/>
        </p:nvSpPr>
        <p:spPr>
          <a:xfrm rot="2700000">
            <a:off x="8251031" y="2890837"/>
            <a:ext cx="180975" cy="180975"/>
          </a:xfrm>
          <a:prstGeom prst="roundRect">
            <a:avLst>
              <a:gd name="adj" fmla="val 15789"/>
            </a:avLst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8308181" y="2947987"/>
            <a:ext cx="66675" cy="66675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4613" y="2971800"/>
            <a:ext cx="1564481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211014" y="3390900"/>
            <a:ext cx="23495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 ‑ اعتماد به‌عنوان محصول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48413" y="3752850"/>
            <a:ext cx="2212181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33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پس از هک خرداد ۱۴۰۴ و اقدامات تحریمی، اعتماد به صرافی‌های داخلی آسیب دیده است. برندی با پیشینه‌ی غیرکریپتویی در این نقطه متمایز است.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02806" y="2552700"/>
            <a:ext cx="2593181" cy="25336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4" name="Shape 22"/>
          <p:cNvSpPr/>
          <p:nvPr/>
        </p:nvSpPr>
        <p:spPr>
          <a:xfrm rot="2700000">
            <a:off x="2983706" y="4305300"/>
            <a:ext cx="1257300" cy="1257300"/>
          </a:xfrm>
          <a:prstGeom prst="roundRect">
            <a:avLst>
              <a:gd name="adj" fmla="val 13636"/>
            </a:avLst>
          </a:prstGeom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5329237" y="2762250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B913"/>
          </a:solidFill>
          <a:ln/>
        </p:spPr>
      </p:sp>
      <p:sp>
        <p:nvSpPr>
          <p:cNvPr id="26" name="Shape 24"/>
          <p:cNvSpPr/>
          <p:nvPr/>
        </p:nvSpPr>
        <p:spPr>
          <a:xfrm>
            <a:off x="5500688" y="2881313"/>
            <a:ext cx="114300" cy="114300"/>
          </a:xfrm>
          <a:prstGeom prst="ellipse">
            <a:avLst/>
          </a:prstGeom>
          <a:ln w="9525">
            <a:solidFill>
              <a:srgbClr val="00000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453063" y="2995613"/>
            <a:ext cx="209550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453063" y="2995613"/>
            <a:ext cx="9525" cy="95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5653087" y="2995613"/>
            <a:ext cx="9525" cy="95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3631406" y="2971800"/>
            <a:ext cx="1564481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3417808" y="3390900"/>
            <a:ext cx="23495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 ‑ کاربران خاموش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55206" y="3752850"/>
            <a:ext cx="2212181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33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حدود ۲ میلیون نفر که از طریق آشنایان خرید کرده‌اند و در هیچ صرافی حساب ندارند. هزینه‌ی جذب پایین‌تر، بدون رقیب.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9600" y="2552700"/>
            <a:ext cx="2593181" cy="25336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4" name="Shape 32"/>
          <p:cNvSpPr/>
          <p:nvPr/>
        </p:nvSpPr>
        <p:spPr>
          <a:xfrm rot="2700000">
            <a:off x="190500" y="4305300"/>
            <a:ext cx="1257300" cy="1257300"/>
          </a:xfrm>
          <a:prstGeom prst="roundRect">
            <a:avLst>
              <a:gd name="adj" fmla="val 13636"/>
            </a:avLst>
          </a:prstGeom>
          <a:ln w="9525">
            <a:solidFill>
              <a:srgbClr val="00000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2536031" y="2762250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2669381" y="2876550"/>
            <a:ext cx="85725" cy="952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7" name="Shape 35"/>
          <p:cNvSpPr/>
          <p:nvPr/>
        </p:nvSpPr>
        <p:spPr>
          <a:xfrm>
            <a:off x="2755106" y="2876550"/>
            <a:ext cx="85725" cy="952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8" name="Shape 36"/>
          <p:cNvSpPr/>
          <p:nvPr/>
        </p:nvSpPr>
        <p:spPr>
          <a:xfrm>
            <a:off x="2669381" y="2990850"/>
            <a:ext cx="85725" cy="952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9" name="Shape 37"/>
          <p:cNvSpPr/>
          <p:nvPr/>
        </p:nvSpPr>
        <p:spPr>
          <a:xfrm>
            <a:off x="2755106" y="2990850"/>
            <a:ext cx="85725" cy="952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40" name="Text 38"/>
          <p:cNvSpPr/>
          <p:nvPr/>
        </p:nvSpPr>
        <p:spPr>
          <a:xfrm>
            <a:off x="681752" y="2886075"/>
            <a:ext cx="17209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spc="39" kern="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پنجره‌ی فرصت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624602" y="3390900"/>
            <a:ext cx="23495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سیکل بعدی بازار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62000" y="3752850"/>
            <a:ext cx="2212181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333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بازار رمزارز طی چند ماه آینده وارد سیکل جدید می‌شود. اگر مشابه سیکل‌های پیشین رفتار کند، جذب کاربر در همین دوره به اوج می‌رسد — یعنی زمان ورود، همین حالاست.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۱۸ / ۴۱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095501" y="3047999"/>
            <a:ext cx="5334002" cy="5334002"/>
          </a:xfrm>
          <a:prstGeom prst="roundRect">
            <a:avLst>
              <a:gd name="adj" fmla="val 11429"/>
            </a:avLst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1333501" y="3809999"/>
            <a:ext cx="3810001" cy="3810001"/>
          </a:xfrm>
          <a:prstGeom prst="roundRect">
            <a:avLst>
              <a:gd name="adj" fmla="val 12000"/>
            </a:avLst>
          </a:prstGeom>
          <a:solidFill>
            <a:srgbClr val="6E6E6E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571500" y="4572000"/>
            <a:ext cx="2286001" cy="2286001"/>
          </a:xfrm>
          <a:prstGeom prst="roundRect">
            <a:avLst>
              <a:gd name="adj" fmla="val 13333"/>
            </a:avLst>
          </a:prstGeom>
          <a:solidFill>
            <a:srgbClr val="B7820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33350" y="5276850"/>
            <a:ext cx="876300" cy="876300"/>
          </a:xfrm>
          <a:prstGeom prst="roundRect">
            <a:avLst>
              <a:gd name="adj" fmla="val 17391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>
            <a:off x="5905500" y="1143000"/>
            <a:ext cx="628650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" name="Shape 5"/>
          <p:cNvSpPr/>
          <p:nvPr/>
        </p:nvSpPr>
        <p:spPr>
          <a:xfrm>
            <a:off x="11468100" y="1638300"/>
            <a:ext cx="114300" cy="112395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۰۵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33950" y="1981200"/>
            <a:ext cx="6286500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65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محیط مقرراتی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0550" y="1638300"/>
            <a:ext cx="4400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78" kern="0" dirty="0">
                <a:solidFill>
                  <a:srgbClr val="FFFFF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فصل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 rot="2700000">
            <a:off x="4800600" y="210978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2" name="Text 10"/>
          <p:cNvSpPr/>
          <p:nvPr/>
        </p:nvSpPr>
        <p:spPr>
          <a:xfrm>
            <a:off x="2691795" y="2076450"/>
            <a:ext cx="19373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کدام لایه امروز اجرا می‌شود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 rot="2700000">
            <a:off x="4800600" y="261461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4" name="Text 12"/>
          <p:cNvSpPr/>
          <p:nvPr/>
        </p:nvSpPr>
        <p:spPr>
          <a:xfrm>
            <a:off x="1668765" y="2581275"/>
            <a:ext cx="29603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فاصله‌ی احراز هویت میلی تا الزامات رمزارز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4297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۵ · ۵‑۱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مهمترین دستورالعمل‌ها متعلق به بانک مرکزی و پلیس فتا هستند.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-487680" y="1428750"/>
            <a:ext cx="120700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لایه‌ی مقرراتی و وضعیت اجرا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6196013" y="1714500"/>
            <a:ext cx="5386388" cy="1638300"/>
          </a:xfrm>
          <a:prstGeom prst="rect">
            <a:avLst/>
          </a:prstGeom>
          <a:solidFill>
            <a:srgbClr val="FDB913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5795962" y="2590800"/>
            <a:ext cx="1219200" cy="1219200"/>
          </a:xfrm>
          <a:prstGeom prst="roundRect">
            <a:avLst>
              <a:gd name="adj" fmla="val 14063"/>
            </a:avLst>
          </a:prstGeom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10934700" y="1885950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B913"/>
          </a:solidFill>
          <a:ln/>
        </p:spPr>
      </p:sp>
      <p:sp>
        <p:nvSpPr>
          <p:cNvPr id="10" name="Shape 8"/>
          <p:cNvSpPr/>
          <p:nvPr/>
        </p:nvSpPr>
        <p:spPr>
          <a:xfrm>
            <a:off x="11049000" y="2028825"/>
            <a:ext cx="85725" cy="666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2825" y="2028825"/>
            <a:ext cx="104775" cy="8572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49000" y="2124075"/>
            <a:ext cx="209550" cy="171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72945" y="2095500"/>
            <a:ext cx="3428405" cy="19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5563" y="1943100"/>
            <a:ext cx="834033" cy="3238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5" name="Text 13"/>
          <p:cNvSpPr/>
          <p:nvPr/>
        </p:nvSpPr>
        <p:spPr>
          <a:xfrm>
            <a:off x="6481763" y="2009775"/>
            <a:ext cx="6054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حال اجرا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908834" y="2457450"/>
            <a:ext cx="5464016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44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مبارزه با پول‌شویی و الزامات بانکی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6256544" y="2777877"/>
            <a:ext cx="5116306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33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شناسایی مشتری، منشأ وجوه، گزارش تراکنش مشکوک و تسویه از حساب شخصی.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9600" y="1714500"/>
            <a:ext cx="5386388" cy="1638300"/>
          </a:xfrm>
          <a:prstGeom prst="rect">
            <a:avLst/>
          </a:prstGeom>
          <a:solidFill>
            <a:srgbClr val="FDB913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2700000">
            <a:off x="209550" y="2590800"/>
            <a:ext cx="1219200" cy="1219200"/>
          </a:xfrm>
          <a:prstGeom prst="roundRect">
            <a:avLst>
              <a:gd name="adj" fmla="val 14063"/>
            </a:avLst>
          </a:prstGeom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5348287" y="1885950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B913"/>
          </a:solidFill>
          <a:ln/>
        </p:spPr>
      </p:sp>
      <p:sp>
        <p:nvSpPr>
          <p:cNvPr id="21" name="Shape 19"/>
          <p:cNvSpPr/>
          <p:nvPr/>
        </p:nvSpPr>
        <p:spPr>
          <a:xfrm>
            <a:off x="5472113" y="2000250"/>
            <a:ext cx="209550" cy="95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472113" y="2000250"/>
            <a:ext cx="9525" cy="1428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5672137" y="2000250"/>
            <a:ext cx="9525" cy="1428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472113" y="2124075"/>
            <a:ext cx="190500" cy="857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538788" y="2038350"/>
            <a:ext cx="57150" cy="571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6533" y="2095500"/>
            <a:ext cx="3428405" cy="19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7" name="Shape 25"/>
          <p:cNvSpPr/>
          <p:nvPr/>
        </p:nvSpPr>
        <p:spPr>
          <a:xfrm>
            <a:off x="819150" y="1943100"/>
            <a:ext cx="834033" cy="3238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8" name="Text 26"/>
          <p:cNvSpPr/>
          <p:nvPr/>
        </p:nvSpPr>
        <p:spPr>
          <a:xfrm>
            <a:off x="895350" y="2009775"/>
            <a:ext cx="6054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حال اجرا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322421" y="2457450"/>
            <a:ext cx="5464016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44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الزامات پلیس فتا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670131" y="2777877"/>
            <a:ext cx="5116306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33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تعیین‌کننده‌ی الزامات احراز هویت و عملیات روزمره؛ رسیدگی به کلاه‌برداری و تراکنش‌های مشکوک ریالی و رمزارزی.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6013" y="3552825"/>
            <a:ext cx="5386388" cy="16383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2" name="Shape 30"/>
          <p:cNvSpPr/>
          <p:nvPr/>
        </p:nvSpPr>
        <p:spPr>
          <a:xfrm rot="2700000">
            <a:off x="5795962" y="4429125"/>
            <a:ext cx="1219200" cy="1219200"/>
          </a:xfrm>
          <a:prstGeom prst="roundRect">
            <a:avLst>
              <a:gd name="adj" fmla="val 14063"/>
            </a:avLst>
          </a:prstGeom>
          <a:ln w="9525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10934700" y="3724275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000000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058525" y="3838575"/>
            <a:ext cx="190500" cy="209550"/>
          </a:xfrm>
          <a:prstGeom prst="rect">
            <a:avLst/>
          </a:prstGeom>
          <a:ln w="9525">
            <a:solidFill>
              <a:srgbClr val="000000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15675" y="3895725"/>
            <a:ext cx="28575" cy="9525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172825" y="3895725"/>
            <a:ext cx="28575" cy="9525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146578" y="3933825"/>
            <a:ext cx="3654772" cy="1905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05563" y="3781425"/>
            <a:ext cx="607665" cy="3238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81763" y="3848100"/>
            <a:ext cx="3790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متوقف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5908834" y="4295775"/>
            <a:ext cx="5464016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44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دستورالعمل کارگزاران رمزپول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6256544" y="4616202"/>
            <a:ext cx="5116306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33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نوشته شده اما اجرا نمی‌شود. طراحی باید در برابر احیای آن تاب‌آور باشد.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9600" y="3552825"/>
            <a:ext cx="5386388" cy="1638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 rot="2700000">
            <a:off x="171450" y="4333875"/>
            <a:ext cx="1352550" cy="1352550"/>
          </a:xfrm>
          <a:prstGeom prst="roundRect">
            <a:avLst>
              <a:gd name="adj" fmla="val 14085"/>
            </a:avLst>
          </a:prstGeom>
          <a:ln w="9525">
            <a:solidFill>
              <a:srgbClr val="FDB913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457200" y="4638675"/>
            <a:ext cx="762000" cy="762000"/>
          </a:xfrm>
          <a:prstGeom prst="roundRect">
            <a:avLst>
              <a:gd name="adj" fmla="val 15000"/>
            </a:avLst>
          </a:prstGeom>
          <a:solidFill>
            <a:srgbClr val="FDB913">
              <a:alpha val="1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672138" y="3724275"/>
            <a:ext cx="114300" cy="28575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46" name="Text 44"/>
          <p:cNvSpPr/>
          <p:nvPr/>
        </p:nvSpPr>
        <p:spPr>
          <a:xfrm>
            <a:off x="4816822" y="3771900"/>
            <a:ext cx="7219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FFFFFF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نتیجه‌ی طراحی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670131" y="4143375"/>
            <a:ext cx="511630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870"/>
              </a:lnSpc>
              <a:buNone/>
            </a:pPr>
            <a:r>
              <a:rPr lang="en-US" sz="1125" dirty="0">
                <a:solidFill>
                  <a:srgbClr val="FFFFFF">
                    <a:alpha val="86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طراحی محصول باید با لایه‌های در حال اجرا منطبق و در برابر احیای قوانین محدودکننده تاب‌آور باشد.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 rot="2700000">
            <a:off x="5634037" y="4757737"/>
            <a:ext cx="152400" cy="152400"/>
          </a:xfrm>
          <a:prstGeom prst="roundRect">
            <a:avLst>
              <a:gd name="adj" fmla="val 31250"/>
            </a:avLst>
          </a:prstGeom>
          <a:solidFill>
            <a:srgbClr val="FDB913"/>
          </a:solidFill>
          <a:ln/>
        </p:spPr>
      </p:sp>
      <p:sp>
        <p:nvSpPr>
          <p:cNvPr id="49" name="Text 47"/>
          <p:cNvSpPr/>
          <p:nvPr/>
        </p:nvSpPr>
        <p:spPr>
          <a:xfrm>
            <a:off x="2819653" y="4724400"/>
            <a:ext cx="270008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همین قید، گزینه‌های ج و ه را عملا حذف می‌کند.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609600" y="5334000"/>
            <a:ext cx="10972800" cy="8382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51" name="Shape 49"/>
          <p:cNvSpPr/>
          <p:nvPr/>
        </p:nvSpPr>
        <p:spPr>
          <a:xfrm rot="2700000">
            <a:off x="228600" y="5448300"/>
            <a:ext cx="1162050" cy="1162050"/>
          </a:xfrm>
          <a:prstGeom prst="roundRect">
            <a:avLst>
              <a:gd name="adj" fmla="val 13115"/>
            </a:avLst>
          </a:prstGeom>
          <a:ln w="9525">
            <a:solidFill>
              <a:srgbClr val="000000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10991850" y="5572125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000000"/>
          </a:solidFill>
          <a:ln/>
        </p:spPr>
      </p:sp>
      <p:sp>
        <p:nvSpPr>
          <p:cNvPr id="53" name="Text 51"/>
          <p:cNvSpPr/>
          <p:nvPr/>
        </p:nvSpPr>
        <p:spPr>
          <a:xfrm rot="-2700000">
            <a:off x="11070558" y="5615040"/>
            <a:ext cx="1284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!</a:t>
            </a:r>
            <a:endParaRPr lang="en-US" sz="1425" dirty="0"/>
          </a:p>
        </p:txBody>
      </p:sp>
      <p:sp>
        <p:nvSpPr>
          <p:cNvPr id="54" name="Text 52"/>
          <p:cNvSpPr/>
          <p:nvPr/>
        </p:nvSpPr>
        <p:spPr>
          <a:xfrm>
            <a:off x="-160020" y="5622578"/>
            <a:ext cx="10980420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3333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سابقه‌ی اقدامات ناگهانی حاکمیتی، بخشی از ریسک‌های این لایه است.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۲۰ / ۴۱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23925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0960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4" name="Text 2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۵ · ۵‑۲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هر قدم افزوده‌ی احراز هویت، نرخ تبدیل را پایین می‌آورد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" y="1428750"/>
            <a:ext cx="120700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قدم‌های احراز هویت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2000250" y="1771650"/>
            <a:ext cx="8191500" cy="62865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9601200" y="18859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9734550" y="1981200"/>
            <a:ext cx="133350" cy="209550"/>
          </a:xfrm>
          <a:prstGeom prst="roundRect">
            <a:avLst>
              <a:gd name="adj" fmla="val 21429"/>
            </a:avLst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72650" y="2152650"/>
            <a:ext cx="5715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328696" y="1976438"/>
            <a:ext cx="1201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484575" y="1983135"/>
            <a:ext cx="776792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شماره موبایل و کد ملی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76500" y="2514600"/>
            <a:ext cx="7239000" cy="62865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9124950" y="26289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9220200" y="2733675"/>
            <a:ext cx="209550" cy="76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9250" y="2828925"/>
            <a:ext cx="28575" cy="9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0688" y="2828925"/>
            <a:ext cx="28575" cy="9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382125" y="2828925"/>
            <a:ext cx="28575" cy="9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823573" y="2719388"/>
            <a:ext cx="14897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2058963" y="2726085"/>
            <a:ext cx="668841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تطبیق شماره شبا و مالکیت حساب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52750" y="3257550"/>
            <a:ext cx="6286500" cy="628650"/>
          </a:xfrm>
          <a:prstGeom prst="rect">
            <a:avLst/>
          </a:prstGeom>
          <a:solidFill>
            <a:srgbClr val="FDB913">
              <a:alpha val="1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8648700" y="33718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sp>
        <p:nvSpPr>
          <p:cNvPr id="23" name="Shape 21"/>
          <p:cNvSpPr/>
          <p:nvPr/>
        </p:nvSpPr>
        <p:spPr>
          <a:xfrm>
            <a:off x="8753475" y="3476625"/>
            <a:ext cx="190500" cy="190500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05863" y="3543300"/>
            <a:ext cx="28575" cy="285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3013" y="3543300"/>
            <a:ext cx="28575" cy="285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801100" y="3600450"/>
            <a:ext cx="95250" cy="1711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315771" y="3462338"/>
            <a:ext cx="1805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B78206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2633618" y="3469035"/>
            <a:ext cx="5605954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احراز زنده‌بودن: ویدیو زنده با خواندن متن، یا عکس سلفی با متن در دست و امضا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29000" y="4000500"/>
            <a:ext cx="5334000" cy="628650"/>
          </a:xfrm>
          <a:prstGeom prst="rect">
            <a:avLst/>
          </a:prstGeom>
          <a:solidFill>
            <a:srgbClr val="FDB913">
              <a:alpha val="1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8172450" y="41148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sp>
        <p:nvSpPr>
          <p:cNvPr id="31" name="Shape 29"/>
          <p:cNvSpPr/>
          <p:nvPr/>
        </p:nvSpPr>
        <p:spPr>
          <a:xfrm>
            <a:off x="8267700" y="4219575"/>
            <a:ext cx="161925" cy="20002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1199999">
            <a:off x="8296275" y="4332908"/>
            <a:ext cx="1524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7851279" y="4205288"/>
            <a:ext cx="16877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B78206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۴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3203942" y="4211985"/>
            <a:ext cx="4571137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رضایت‌نامه‌ی انتقال داده و تعهدنامه‌ی منشأ وجوه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9600" y="4953000"/>
            <a:ext cx="10972800" cy="1143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 rot="2700000">
            <a:off x="171450" y="5238750"/>
            <a:ext cx="1352550" cy="1352550"/>
          </a:xfrm>
          <a:prstGeom prst="roundRect">
            <a:avLst>
              <a:gd name="adj" fmla="val 14085"/>
            </a:avLst>
          </a:prstGeom>
          <a:ln w="9525">
            <a:solidFill>
              <a:srgbClr val="FDB913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10858500" y="5314950"/>
            <a:ext cx="419100" cy="419100"/>
          </a:xfrm>
          <a:prstGeom prst="roundRect">
            <a:avLst>
              <a:gd name="adj" fmla="val 29545"/>
            </a:avLst>
          </a:prstGeom>
          <a:solidFill>
            <a:srgbClr val="FDB913"/>
          </a:solidFill>
          <a:ln/>
        </p:spPr>
      </p:sp>
      <p:sp>
        <p:nvSpPr>
          <p:cNvPr id="38" name="Text 36"/>
          <p:cNvSpPr/>
          <p:nvPr/>
        </p:nvSpPr>
        <p:spPr>
          <a:xfrm rot="-2700000">
            <a:off x="10938250" y="5362627"/>
            <a:ext cx="1835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؟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622935" y="5241727"/>
            <a:ext cx="10006965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عبور از قدم‌های ۳ و ۴ مهم‌ترین متغیر ناشناخته‌ی قیف است. </a:t>
            </a:r>
            <a:pPr algn="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کاهش اصطکاک این مسیر اولویت نخست طراحی محصول است و آزمون آن در فاز اول انجام می‌شود.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۲۱ / ۴۱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095501" y="3047999"/>
            <a:ext cx="5334002" cy="5334002"/>
          </a:xfrm>
          <a:prstGeom prst="roundRect">
            <a:avLst>
              <a:gd name="adj" fmla="val 11429"/>
            </a:avLst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1333501" y="3809999"/>
            <a:ext cx="3810001" cy="3810001"/>
          </a:xfrm>
          <a:prstGeom prst="roundRect">
            <a:avLst>
              <a:gd name="adj" fmla="val 12000"/>
            </a:avLst>
          </a:prstGeom>
          <a:solidFill>
            <a:srgbClr val="6E6E6E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571500" y="4572000"/>
            <a:ext cx="2286001" cy="2286001"/>
          </a:xfrm>
          <a:prstGeom prst="roundRect">
            <a:avLst>
              <a:gd name="adj" fmla="val 13333"/>
            </a:avLst>
          </a:prstGeom>
          <a:solidFill>
            <a:srgbClr val="B7820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33350" y="5276850"/>
            <a:ext cx="876300" cy="876300"/>
          </a:xfrm>
          <a:prstGeom prst="roundRect">
            <a:avLst>
              <a:gd name="adj" fmla="val 17391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>
            <a:off x="5905500" y="1143000"/>
            <a:ext cx="628650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" name="Shape 5"/>
          <p:cNvSpPr/>
          <p:nvPr/>
        </p:nvSpPr>
        <p:spPr>
          <a:xfrm>
            <a:off x="11468100" y="1638300"/>
            <a:ext cx="114300" cy="112395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۰۶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33950" y="1981200"/>
            <a:ext cx="6286500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65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توصیه و استراتژی ورود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22645" y="2819400"/>
            <a:ext cx="5297805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7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از تشخیص به سیاست راهنما: کدام گزینه، با چه شرایطی، برای چه مخاطبی — و محصول که از دل همین انتخاب‌ها بیرون می‌آید.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0550" y="1638300"/>
            <a:ext cx="4400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78" kern="0" dirty="0">
                <a:solidFill>
                  <a:srgbClr val="FFFFF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فصل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 rot="2700000">
            <a:off x="4800600" y="210978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3" name="Text 11"/>
          <p:cNvSpPr/>
          <p:nvPr/>
        </p:nvSpPr>
        <p:spPr>
          <a:xfrm>
            <a:off x="2155314" y="2076450"/>
            <a:ext cx="24738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گزینه ب — و دلیل رد سایر گزینه‌ها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rot="2700000">
            <a:off x="4800600" y="261461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5" name="Text 13"/>
          <p:cNvSpPr/>
          <p:nvPr/>
        </p:nvSpPr>
        <p:spPr>
          <a:xfrm>
            <a:off x="2142545" y="2581275"/>
            <a:ext cx="24866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بیانیه استراتژی: هدف، دامنه، مزیت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 rot="2700000">
            <a:off x="4800600" y="311943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7" name="Text 15"/>
          <p:cNvSpPr/>
          <p:nvPr/>
        </p:nvSpPr>
        <p:spPr>
          <a:xfrm>
            <a:off x="2399734" y="3086100"/>
            <a:ext cx="222941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مخاطب کیست و محصول چیست؟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27635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42975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۶ · ۶‑۱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-487680" y="704850"/>
            <a:ext cx="120700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3404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وارد می‌شویم — با سواپ ساده، در یک شرکت کاملاً مجزا، و با مسیر ورود از اپ میلی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427470" y="1504950"/>
            <a:ext cx="51549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گزینه‌ی توصیه‌شده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896100" y="1828800"/>
            <a:ext cx="4686300" cy="4286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6362700" y="5086350"/>
            <a:ext cx="1638301" cy="1638301"/>
          </a:xfrm>
          <a:prstGeom prst="roundRect">
            <a:avLst>
              <a:gd name="adj" fmla="val 13953"/>
            </a:avLst>
          </a:prstGeom>
          <a:ln w="9525">
            <a:solidFill>
              <a:srgbClr val="FDB913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705600" y="5467350"/>
            <a:ext cx="914400" cy="914400"/>
          </a:xfrm>
          <a:prstGeom prst="roundRect">
            <a:avLst>
              <a:gd name="adj" fmla="val 14583"/>
            </a:avLst>
          </a:prstGeom>
          <a:solidFill>
            <a:srgbClr val="FDB913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10744200" y="2076450"/>
            <a:ext cx="571500" cy="571500"/>
          </a:xfrm>
          <a:prstGeom prst="roundRect">
            <a:avLst>
              <a:gd name="adj" fmla="val 28333"/>
            </a:avLst>
          </a:prstGeom>
          <a:solidFill>
            <a:srgbClr val="FDB913"/>
          </a:solidFill>
          <a:ln/>
        </p:spPr>
      </p:sp>
      <p:sp>
        <p:nvSpPr>
          <p:cNvPr id="12" name="Text 10"/>
          <p:cNvSpPr/>
          <p:nvPr/>
        </p:nvSpPr>
        <p:spPr>
          <a:xfrm rot="-2700000">
            <a:off x="10849421" y="2157413"/>
            <a:ext cx="28485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857336" y="2219325"/>
            <a:ext cx="273446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1081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سواپ محدود در شرکت مجزا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62800" y="2876550"/>
            <a:ext cx="4152900" cy="19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11163300" y="3152775"/>
            <a:ext cx="152400" cy="152400"/>
          </a:xfrm>
          <a:prstGeom prst="roundRect">
            <a:avLst>
              <a:gd name="adj" fmla="val 31250"/>
            </a:avLst>
          </a:prstGeom>
          <a:solidFill>
            <a:srgbClr val="FDB913"/>
          </a:solidFill>
          <a:ln/>
        </p:spPr>
      </p:sp>
      <p:sp>
        <p:nvSpPr>
          <p:cNvPr id="16" name="Text 14"/>
          <p:cNvSpPr/>
          <p:nvPr/>
        </p:nvSpPr>
        <p:spPr>
          <a:xfrm>
            <a:off x="7046786" y="3105150"/>
            <a:ext cx="3983165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از پایگاه کاربری احرازهویت‌شده‌ی میلی بهره می‌برد — مزیتی که هیچ گزینه‌ی دیگری حفظ نمی‌کند.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2700000">
            <a:off x="11163300" y="3826966"/>
            <a:ext cx="152400" cy="152400"/>
          </a:xfrm>
          <a:prstGeom prst="roundRect">
            <a:avLst>
              <a:gd name="adj" fmla="val 31250"/>
            </a:avLst>
          </a:prstGeom>
          <a:solidFill>
            <a:srgbClr val="FDB913"/>
          </a:solidFill>
          <a:ln/>
        </p:spPr>
      </p:sp>
      <p:sp>
        <p:nvSpPr>
          <p:cNvPr id="18" name="Text 16"/>
          <p:cNvSpPr/>
          <p:nvPr/>
        </p:nvSpPr>
        <p:spPr>
          <a:xfrm>
            <a:off x="7046786" y="3779341"/>
            <a:ext cx="3983165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سقف رشد قابل قبول: سواپ چند دارایی اصلی، نه محدود به تتر.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2700000">
            <a:off x="11163300" y="4249787"/>
            <a:ext cx="152400" cy="152400"/>
          </a:xfrm>
          <a:prstGeom prst="roundRect">
            <a:avLst>
              <a:gd name="adj" fmla="val 31250"/>
            </a:avLst>
          </a:prstGeom>
          <a:solidFill>
            <a:srgbClr val="FDB913"/>
          </a:solidFill>
          <a:ln/>
        </p:spPr>
      </p:sp>
      <p:sp>
        <p:nvSpPr>
          <p:cNvPr id="20" name="Text 18"/>
          <p:cNvSpPr/>
          <p:nvPr/>
        </p:nvSpPr>
        <p:spPr>
          <a:xfrm>
            <a:off x="7046786" y="4202162"/>
            <a:ext cx="3983165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لاین مجوزدار طلا را در معرض قرار نمی‌دهد؛ تفکیک شرکتی و عملیاتی کامل است.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2700000">
            <a:off x="11163300" y="4923978"/>
            <a:ext cx="152400" cy="152400"/>
          </a:xfrm>
          <a:prstGeom prst="roundRect">
            <a:avLst>
              <a:gd name="adj" fmla="val 31250"/>
            </a:avLst>
          </a:prstGeom>
          <a:solidFill>
            <a:srgbClr val="FDB913"/>
          </a:solidFill>
          <a:ln/>
        </p:spPr>
      </p:sp>
      <p:sp>
        <p:nvSpPr>
          <p:cNvPr id="22" name="Text 20"/>
          <p:cNvSpPr/>
          <p:nvPr/>
        </p:nvSpPr>
        <p:spPr>
          <a:xfrm>
            <a:off x="7046786" y="4876354"/>
            <a:ext cx="3983165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کنترل کامل بر تجربه‌ی کاربر و برند باقی می‌ماند.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2700000">
            <a:off x="11163300" y="5346799"/>
            <a:ext cx="152400" cy="152400"/>
          </a:xfrm>
          <a:prstGeom prst="roundRect">
            <a:avLst>
              <a:gd name="adj" fmla="val 31250"/>
            </a:avLst>
          </a:prstGeom>
          <a:solidFill>
            <a:srgbClr val="FDB913"/>
          </a:solidFill>
          <a:ln/>
        </p:spPr>
      </p:sp>
      <p:sp>
        <p:nvSpPr>
          <p:cNvPr id="24" name="Text 22"/>
          <p:cNvSpPr/>
          <p:nvPr/>
        </p:nvSpPr>
        <p:spPr>
          <a:xfrm>
            <a:off x="7046786" y="5299174"/>
            <a:ext cx="3983165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ریسک مقرراتی و تحریمی میان گزینه‌های ورود تمایزی ایجاد نمی‌کند — همه در یک سطح‌اند.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05" y="1504950"/>
            <a:ext cx="66846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گزینه‌های رد‌شده و دلیل رد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09600" y="1828800"/>
            <a:ext cx="6076950" cy="7810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7" name="Shape 25"/>
          <p:cNvSpPr/>
          <p:nvPr/>
        </p:nvSpPr>
        <p:spPr>
          <a:xfrm rot="2700000">
            <a:off x="6134100" y="203835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 rot="-2700000">
            <a:off x="6140329" y="2114603"/>
            <a:ext cx="2733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الف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1940" y="1953518"/>
            <a:ext cx="569976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سواپ تتر درون‌اپی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92316" y="2218283"/>
            <a:ext cx="789384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20891" y="2265908"/>
            <a:ext cx="656034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محدود به دلار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99842" y="2218283"/>
            <a:ext cx="1635323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528417" y="2265908"/>
            <a:ext cx="1501973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از دست دادن بخش بزرگی از بازار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00610" y="2218283"/>
            <a:ext cx="942082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529185" y="2265908"/>
            <a:ext cx="808732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سقف سود محدود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9600" y="2705100"/>
            <a:ext cx="6076950" cy="7810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7" name="Shape 35"/>
          <p:cNvSpPr/>
          <p:nvPr/>
        </p:nvSpPr>
        <p:spPr>
          <a:xfrm rot="2700000">
            <a:off x="6134100" y="291465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 rot="-2700000">
            <a:off x="6197479" y="2990903"/>
            <a:ext cx="1590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ج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81940" y="2829818"/>
            <a:ext cx="569976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اردربوکی کامل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65848" y="3094583"/>
            <a:ext cx="1815852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194423" y="3142208"/>
            <a:ext cx="1682502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مخاطبش معامله‌گر جذب‌شده‌ی رقباست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28466" y="3094583"/>
            <a:ext cx="1380232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2757041" y="3142208"/>
            <a:ext cx="1246882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اردربوک خود پیچیدگی است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9600" y="3581400"/>
            <a:ext cx="6076950" cy="7810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5" name="Shape 43"/>
          <p:cNvSpPr/>
          <p:nvPr/>
        </p:nvSpPr>
        <p:spPr>
          <a:xfrm rot="2700000">
            <a:off x="6134100" y="379095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 rot="-2700000">
            <a:off x="6201370" y="3867150"/>
            <a:ext cx="1512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د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81940" y="3706118"/>
            <a:ext cx="569976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شراکت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283869" y="3970883"/>
            <a:ext cx="1697831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312444" y="4018508"/>
            <a:ext cx="1564481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انتقال ریسک انطباق و تحریم شریک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87972" y="3970883"/>
            <a:ext cx="1638746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2616547" y="4018508"/>
            <a:ext cx="1505396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از دست دادن کنترل تجربه‌ی کاربر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9600" y="4457700"/>
            <a:ext cx="6076950" cy="7810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3" name="Shape 51"/>
          <p:cNvSpPr/>
          <p:nvPr/>
        </p:nvSpPr>
        <p:spPr>
          <a:xfrm rot="2700000">
            <a:off x="6134100" y="466725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 rot="-2700000">
            <a:off x="6204177" y="4743503"/>
            <a:ext cx="14570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ه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81940" y="4582418"/>
            <a:ext cx="569976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تملک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370487" y="4847183"/>
            <a:ext cx="1611213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399062" y="4894808"/>
            <a:ext cx="1477863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از دست دادن مزیت پایگاه کاربری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89758" y="4847183"/>
            <a:ext cx="1723579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2618333" y="4894808"/>
            <a:ext cx="1590229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نداشتن اعتماد برند و نیاز به ری‌برند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099989" y="4847183"/>
            <a:ext cx="1432620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128564" y="4894808"/>
            <a:ext cx="1299270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بدهی پنهان مقرراتی و امنیتی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09600" y="5334000"/>
            <a:ext cx="6076950" cy="7810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3" name="Shape 61"/>
          <p:cNvSpPr/>
          <p:nvPr/>
        </p:nvSpPr>
        <p:spPr>
          <a:xfrm rot="2700000">
            <a:off x="6134100" y="554355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 rot="-2700000">
            <a:off x="6204177" y="5619802"/>
            <a:ext cx="14570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و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281940" y="5458718"/>
            <a:ext cx="569976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6667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ورود نکردن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902547" y="5723483"/>
            <a:ext cx="1079153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4931122" y="5771108"/>
            <a:ext cx="945803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واگذاری بازار به رقبا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773835" y="5723483"/>
            <a:ext cx="1071563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3802410" y="5771108"/>
            <a:ext cx="938213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از دست دادن AUM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479798" y="5723483"/>
            <a:ext cx="2236887" cy="2667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508373" y="5771108"/>
            <a:ext cx="2103537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ناممکن شدن اکوسیستم یکپارچه‌ی سرمایه‌گذاری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۲۳ / ۴۱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74" name="Text 72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EF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25730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4297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۶ · ۶‑۲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78005" y="704850"/>
            <a:ext cx="1704395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4884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بیانیه استراتژی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 rot="2700000">
            <a:off x="10953750" y="1533525"/>
            <a:ext cx="628650" cy="628650"/>
          </a:xfrm>
          <a:prstGeom prst="roundRect">
            <a:avLst>
              <a:gd name="adj" fmla="val 28788"/>
            </a:avLst>
          </a:prstGeom>
          <a:solidFill>
            <a:srgbClr val="FDB91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50" y="1724025"/>
            <a:ext cx="247650" cy="247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66152" y="1657350"/>
            <a:ext cx="61614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هدف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609600" y="1428750"/>
            <a:ext cx="8782050" cy="83820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11" name="Shape 8"/>
          <p:cNvSpPr/>
          <p:nvPr/>
        </p:nvSpPr>
        <p:spPr>
          <a:xfrm rot="2700000">
            <a:off x="209550" y="1504950"/>
            <a:ext cx="1219200" cy="1219200"/>
          </a:xfrm>
          <a:prstGeom prst="roundRect">
            <a:avLst>
              <a:gd name="adj" fmla="val 14063"/>
            </a:avLst>
          </a:prstGeom>
          <a:ln w="9525">
            <a:solidFill>
              <a:srgbClr val="FDB913">
                <a:alpha val="4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2700000">
            <a:off x="438150" y="1695450"/>
            <a:ext cx="800100" cy="800100"/>
          </a:xfrm>
          <a:prstGeom prst="roundRect">
            <a:avLst>
              <a:gd name="adj" fmla="val 14286"/>
            </a:avLst>
          </a:prstGeom>
          <a:solidFill>
            <a:srgbClr val="FDB913">
              <a:alpha val="3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067800" y="1619250"/>
            <a:ext cx="76200" cy="457200"/>
          </a:xfrm>
          <a:prstGeom prst="roundRect">
            <a:avLst>
              <a:gd name="adj" fmla="val 25000"/>
            </a:avLst>
          </a:prstGeom>
          <a:solidFill>
            <a:srgbClr val="FDB913"/>
          </a:solidFill>
          <a:ln/>
        </p:spPr>
      </p:sp>
      <p:sp>
        <p:nvSpPr>
          <p:cNvPr id="14" name="Text 11"/>
          <p:cNvSpPr/>
          <p:nvPr/>
        </p:nvSpPr>
        <p:spPr>
          <a:xfrm>
            <a:off x="4281443" y="1712119"/>
            <a:ext cx="459585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827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تبدیل شدن به مسیر ورود آسان کاربران میلی به جهان رمزارز.</a:t>
            </a:r>
            <a:endParaRPr lang="en-US" sz="1425" dirty="0"/>
          </a:p>
        </p:txBody>
      </p:sp>
      <p:sp>
        <p:nvSpPr>
          <p:cNvPr id="15" name="Shape 12"/>
          <p:cNvSpPr/>
          <p:nvPr/>
        </p:nvSpPr>
        <p:spPr>
          <a:xfrm>
            <a:off x="4591050" y="2828925"/>
            <a:ext cx="171450" cy="190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581525" y="2552700"/>
            <a:ext cx="19050" cy="5715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419600" y="2543175"/>
            <a:ext cx="171450" cy="190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419600" y="3114675"/>
            <a:ext cx="171450" cy="190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09600" y="2295525"/>
            <a:ext cx="3810000" cy="514350"/>
          </a:xfrm>
          <a:prstGeom prst="rect">
            <a:avLst/>
          </a:prstGeom>
          <a:solidFill>
            <a:srgbClr val="FDB913">
              <a:alpha val="3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 rot="2700000">
            <a:off x="3943350" y="239077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DB913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500" y="2447925"/>
            <a:ext cx="209550" cy="2095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68579" y="2453580"/>
            <a:ext cx="2441421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32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تمرکز بر کاربر پس انداز کننده (هولدر)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09600" y="2867025"/>
            <a:ext cx="3810000" cy="5143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4" name="Shape 20"/>
          <p:cNvSpPr/>
          <p:nvPr/>
        </p:nvSpPr>
        <p:spPr>
          <a:xfrm rot="2700000">
            <a:off x="3943350" y="296227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000000">
              <a:alpha val="10000"/>
            </a:srgbClr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0500" y="3019425"/>
            <a:ext cx="209550" cy="2095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75482" y="3025080"/>
            <a:ext cx="2334518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3200"/>
              </a:lnSpc>
              <a:buNone/>
            </a:pPr>
            <a:r>
              <a:rPr lang="en-US" sz="1200" b="1" strike="sngStrike" dirty="0">
                <a:solidFill>
                  <a:srgbClr val="8A8A8A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عدم تمرکز بر کاربر معامله گر (تریدر)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 rot="2700000">
            <a:off x="10953750" y="2524125"/>
            <a:ext cx="628650" cy="628650"/>
          </a:xfrm>
          <a:prstGeom prst="roundRect">
            <a:avLst>
              <a:gd name="adj" fmla="val 28788"/>
            </a:avLst>
          </a:prstGeom>
          <a:solidFill>
            <a:srgbClr val="FDB913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44250" y="2714625"/>
            <a:ext cx="247650" cy="24765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149334" y="2647950"/>
            <a:ext cx="6329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دامنه</a:t>
            </a:r>
            <a:endParaRPr lang="en-US" sz="1950" dirty="0"/>
          </a:p>
        </p:txBody>
      </p:sp>
      <p:sp>
        <p:nvSpPr>
          <p:cNvPr id="30" name="Shape 24"/>
          <p:cNvSpPr/>
          <p:nvPr/>
        </p:nvSpPr>
        <p:spPr>
          <a:xfrm>
            <a:off x="4762500" y="2343150"/>
            <a:ext cx="4629150" cy="990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5"/>
          <p:cNvSpPr/>
          <p:nvPr/>
        </p:nvSpPr>
        <p:spPr>
          <a:xfrm>
            <a:off x="9067800" y="2533650"/>
            <a:ext cx="76200" cy="609600"/>
          </a:xfrm>
          <a:prstGeom prst="roundRect">
            <a:avLst>
              <a:gd name="adj" fmla="val 25000"/>
            </a:avLst>
          </a:prstGeom>
          <a:solidFill>
            <a:srgbClr val="FDB913"/>
          </a:solidFill>
          <a:ln/>
        </p:spPr>
      </p:sp>
      <p:sp>
        <p:nvSpPr>
          <p:cNvPr id="32" name="Text 26"/>
          <p:cNvSpPr/>
          <p:nvPr/>
        </p:nvSpPr>
        <p:spPr>
          <a:xfrm>
            <a:off x="5067746" y="2702719"/>
            <a:ext cx="380955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827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سواپ با قیمت اعلامی روی تتر و چند دارایی اصلی.</a:t>
            </a:r>
            <a:endParaRPr lang="en-US" sz="1425" dirty="0"/>
          </a:p>
        </p:txBody>
      </p:sp>
      <p:sp>
        <p:nvSpPr>
          <p:cNvPr id="33" name="Shape 27"/>
          <p:cNvSpPr/>
          <p:nvPr/>
        </p:nvSpPr>
        <p:spPr>
          <a:xfrm>
            <a:off x="4591050" y="4105275"/>
            <a:ext cx="171450" cy="190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4" name="Shape 28"/>
          <p:cNvSpPr/>
          <p:nvPr/>
        </p:nvSpPr>
        <p:spPr>
          <a:xfrm>
            <a:off x="4581525" y="3829050"/>
            <a:ext cx="19050" cy="5715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4419600" y="3819525"/>
            <a:ext cx="171450" cy="190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4419600" y="4391025"/>
            <a:ext cx="171450" cy="190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609600" y="3571875"/>
            <a:ext cx="3810000" cy="514350"/>
          </a:xfrm>
          <a:prstGeom prst="rect">
            <a:avLst/>
          </a:prstGeom>
          <a:solidFill>
            <a:srgbClr val="FDB913">
              <a:alpha val="30000"/>
            </a:srgbClr>
          </a:solidFill>
          <a:ln/>
        </p:spPr>
      </p:sp>
      <p:sp>
        <p:nvSpPr>
          <p:cNvPr id="38" name="Shape 32"/>
          <p:cNvSpPr/>
          <p:nvPr/>
        </p:nvSpPr>
        <p:spPr>
          <a:xfrm rot="2700000">
            <a:off x="3943350" y="366712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DB913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0500" y="3724275"/>
            <a:ext cx="209550" cy="20955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2230844" y="3729930"/>
            <a:ext cx="157915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32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تکیه بر توان ساده سازی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609600" y="4143375"/>
            <a:ext cx="3810000" cy="514350"/>
          </a:xfrm>
          <a:prstGeom prst="rect">
            <a:avLst/>
          </a:prstGeom>
          <a:solidFill>
            <a:srgbClr val="FDB913">
              <a:alpha val="30000"/>
            </a:srgbClr>
          </a:solidFill>
          <a:ln/>
        </p:spPr>
      </p:sp>
      <p:sp>
        <p:nvSpPr>
          <p:cNvPr id="42" name="Shape 35"/>
          <p:cNvSpPr/>
          <p:nvPr/>
        </p:nvSpPr>
        <p:spPr>
          <a:xfrm rot="2700000">
            <a:off x="3943350" y="423862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DB913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00500" y="4295775"/>
            <a:ext cx="209550" cy="20955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2198102" y="4301430"/>
            <a:ext cx="1611898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32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تکیه بر توان اعتمادسازی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 rot="2700000">
            <a:off x="10953750" y="3800475"/>
            <a:ext cx="628650" cy="628650"/>
          </a:xfrm>
          <a:prstGeom prst="roundRect">
            <a:avLst>
              <a:gd name="adj" fmla="val 28788"/>
            </a:avLst>
          </a:prstGeom>
          <a:solidFill>
            <a:srgbClr val="FDB913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44250" y="3990975"/>
            <a:ext cx="247650" cy="24765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0184904" y="3924300"/>
            <a:ext cx="59739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مزیت</a:t>
            </a:r>
            <a:endParaRPr lang="en-US" sz="1950" dirty="0"/>
          </a:p>
        </p:txBody>
      </p:sp>
      <p:sp>
        <p:nvSpPr>
          <p:cNvPr id="48" name="Shape 39"/>
          <p:cNvSpPr/>
          <p:nvPr/>
        </p:nvSpPr>
        <p:spPr>
          <a:xfrm>
            <a:off x="4762500" y="3619500"/>
            <a:ext cx="4629150" cy="990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0"/>
          <p:cNvSpPr/>
          <p:nvPr/>
        </p:nvSpPr>
        <p:spPr>
          <a:xfrm>
            <a:off x="9067800" y="3810000"/>
            <a:ext cx="76200" cy="609600"/>
          </a:xfrm>
          <a:prstGeom prst="roundRect">
            <a:avLst>
              <a:gd name="adj" fmla="val 25000"/>
            </a:avLst>
          </a:prstGeom>
          <a:solidFill>
            <a:srgbClr val="FDB913"/>
          </a:solidFill>
          <a:ln/>
        </p:spPr>
      </p:sp>
      <p:sp>
        <p:nvSpPr>
          <p:cNvPr id="50" name="Text 41"/>
          <p:cNvSpPr/>
          <p:nvPr/>
        </p:nvSpPr>
        <p:spPr>
          <a:xfrm>
            <a:off x="4894136" y="3843338"/>
            <a:ext cx="398316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827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پایگاه کاربری احراز هویت اولیه شده که از کل کاربران احراز شده و نشده بزرگترین بازیگر رمزارز بزرگتر است.</a:t>
            </a:r>
            <a:endParaRPr lang="en-US" sz="1425" dirty="0"/>
          </a:p>
        </p:txBody>
      </p:sp>
      <p:sp>
        <p:nvSpPr>
          <p:cNvPr id="51" name="Shape 42"/>
          <p:cNvSpPr/>
          <p:nvPr/>
        </p:nvSpPr>
        <p:spPr>
          <a:xfrm>
            <a:off x="609600" y="4876800"/>
            <a:ext cx="10972800" cy="107424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2" name="Text 43"/>
          <p:cNvSpPr/>
          <p:nvPr/>
        </p:nvSpPr>
        <p:spPr>
          <a:xfrm>
            <a:off x="603504" y="5124450"/>
            <a:ext cx="10674096" cy="6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828"/>
              </a:lnSpc>
              <a:buNone/>
            </a:pPr>
            <a:r>
              <a:rPr lang="en-US" sz="1425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راه ما از ارائه محصول آسان به کاربران فعلی می‌گذرد: تبدیل کسی که رمزارز را می‌شناسد؛ قصد خرید آن را دارد اما به دلایل مختلف آن را نخریده و در پایگاه کاربری میلی قرار دارد.</a:t>
            </a:r>
            <a:endParaRPr lang="en-US" sz="1425" dirty="0"/>
          </a:p>
        </p:txBody>
      </p:sp>
      <p:sp>
        <p:nvSpPr>
          <p:cNvPr id="53" name="Text 44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A4A4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۲۴ / ۴۱</a:t>
            </a:r>
            <a:endParaRPr lang="en-US" sz="825" dirty="0"/>
          </a:p>
        </p:txBody>
      </p:sp>
      <p:sp>
        <p:nvSpPr>
          <p:cNvPr id="54" name="Text 45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A4A4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55" name="Text 46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7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23825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23925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0960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5" name="Text 3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۶ · ۶‑۳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569247" y="704850"/>
            <a:ext cx="2013153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4884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مخاطب و محصول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 rot="2700000">
            <a:off x="8705850" y="1904999"/>
            <a:ext cx="2857501" cy="2857501"/>
          </a:xfrm>
          <a:prstGeom prst="roundRect">
            <a:avLst>
              <a:gd name="adj" fmla="val 10667"/>
            </a:avLst>
          </a:prstGeom>
          <a:solidFill>
            <a:srgbClr val="FDB913"/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9848850" y="1828800"/>
            <a:ext cx="571500" cy="571500"/>
          </a:xfrm>
          <a:prstGeom prst="roundRect">
            <a:avLst>
              <a:gd name="adj" fmla="val 28333"/>
            </a:avLst>
          </a:prstGeom>
          <a:solidFill>
            <a:srgbClr val="0000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91725" y="1971675"/>
            <a:ext cx="285750" cy="285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72525" y="2533650"/>
            <a:ext cx="272415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1628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مخاطب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761095" y="2895600"/>
            <a:ext cx="274701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774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کسی که رمزارز را می‌شناسد و رمزارز نخریده اما قصد خرید آن را دارد.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 rot="2700000">
            <a:off x="4667249" y="1904999"/>
            <a:ext cx="2857501" cy="2857501"/>
          </a:xfrm>
          <a:prstGeom prst="roundRect">
            <a:avLst>
              <a:gd name="adj" fmla="val 10667"/>
            </a:avLst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3810000" y="3057525"/>
            <a:ext cx="4572000" cy="5524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4" name="Shape 11"/>
          <p:cNvSpPr/>
          <p:nvPr/>
        </p:nvSpPr>
        <p:spPr>
          <a:xfrm rot="2700000">
            <a:off x="5810250" y="1828800"/>
            <a:ext cx="571500" cy="571500"/>
          </a:xfrm>
          <a:prstGeom prst="roundRect">
            <a:avLst>
              <a:gd name="adj" fmla="val 28333"/>
            </a:avLst>
          </a:prstGeom>
          <a:solidFill>
            <a:srgbClr val="FDB91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3125" y="1971675"/>
            <a:ext cx="285750" cy="285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33925" y="2533650"/>
            <a:ext cx="272415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1628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محصول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4463415" y="3057525"/>
            <a:ext cx="326517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269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سواپ ساده با احراز هویت کم‌اصطکاک.</a:t>
            </a:r>
            <a:endParaRPr lang="en-US" sz="1275" dirty="0"/>
          </a:p>
        </p:txBody>
      </p:sp>
      <p:sp>
        <p:nvSpPr>
          <p:cNvPr id="18" name="Shape 14"/>
          <p:cNvSpPr/>
          <p:nvPr/>
        </p:nvSpPr>
        <p:spPr>
          <a:xfrm rot="2700000">
            <a:off x="6405711" y="380047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B91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3336" y="3848100"/>
            <a:ext cx="209550" cy="2095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05438" y="3855690"/>
            <a:ext cx="905024" cy="2323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7846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رفع پیچیدگی</a:t>
            </a:r>
            <a:endParaRPr lang="en-US" sz="1275" dirty="0"/>
          </a:p>
        </p:txBody>
      </p:sp>
      <p:sp>
        <p:nvSpPr>
          <p:cNvPr id="21" name="Shape 16"/>
          <p:cNvSpPr/>
          <p:nvPr/>
        </p:nvSpPr>
        <p:spPr>
          <a:xfrm rot="2700000">
            <a:off x="6470452" y="42386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B91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8077" y="4286250"/>
            <a:ext cx="209550" cy="2095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0548" y="4293840"/>
            <a:ext cx="1034653" cy="2323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7846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رفع بی‌اعتمادی</a:t>
            </a:r>
            <a:endParaRPr lang="en-US" sz="1275" dirty="0"/>
          </a:p>
        </p:txBody>
      </p:sp>
      <p:sp>
        <p:nvSpPr>
          <p:cNvPr id="24" name="Shape 18"/>
          <p:cNvSpPr/>
          <p:nvPr/>
        </p:nvSpPr>
        <p:spPr>
          <a:xfrm rot="2700000">
            <a:off x="628650" y="1904999"/>
            <a:ext cx="2857501" cy="2857501"/>
          </a:xfrm>
          <a:prstGeom prst="roundRect">
            <a:avLst>
              <a:gd name="adj" fmla="val 10667"/>
            </a:avLst>
          </a:prstGeom>
          <a:solidFill>
            <a:srgbClr val="6E6E6E"/>
          </a:solidFill>
          <a:ln/>
        </p:spPr>
      </p:sp>
      <p:sp>
        <p:nvSpPr>
          <p:cNvPr id="25" name="Shape 19"/>
          <p:cNvSpPr/>
          <p:nvPr/>
        </p:nvSpPr>
        <p:spPr>
          <a:xfrm>
            <a:off x="-228600" y="3057525"/>
            <a:ext cx="4572000" cy="5524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0"/>
          <p:cNvSpPr/>
          <p:nvPr/>
        </p:nvSpPr>
        <p:spPr>
          <a:xfrm rot="2700000">
            <a:off x="1771650" y="1828800"/>
            <a:ext cx="571500" cy="571500"/>
          </a:xfrm>
          <a:prstGeom prst="roundRect">
            <a:avLst>
              <a:gd name="adj" fmla="val 28333"/>
            </a:avLst>
          </a:prstGeom>
          <a:solidFill>
            <a:srgbClr val="FDB91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14525" y="1971675"/>
            <a:ext cx="285750" cy="2857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5325" y="2533650"/>
            <a:ext cx="272415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1628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درآمد</a:t>
            </a:r>
            <a:endParaRPr lang="en-US" sz="2100" dirty="0"/>
          </a:p>
        </p:txBody>
      </p:sp>
      <p:sp>
        <p:nvSpPr>
          <p:cNvPr id="29" name="Text 22"/>
          <p:cNvSpPr/>
          <p:nvPr/>
        </p:nvSpPr>
        <p:spPr>
          <a:xfrm>
            <a:off x="424815" y="3057525"/>
            <a:ext cx="326517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269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کارمزد معاملات، اختلاف قیمت بازارها</a:t>
            </a:r>
            <a:endParaRPr lang="en-US" sz="1275" dirty="0"/>
          </a:p>
        </p:txBody>
      </p:sp>
      <p:sp>
        <p:nvSpPr>
          <p:cNvPr id="30" name="Shape 23"/>
          <p:cNvSpPr/>
          <p:nvPr/>
        </p:nvSpPr>
        <p:spPr>
          <a:xfrm rot="2700000">
            <a:off x="2419648" y="380047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B91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67273" y="3848100"/>
            <a:ext cx="209550" cy="2095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14301" y="3855690"/>
            <a:ext cx="1010096" cy="2323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7846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کانال: اپ میلی</a:t>
            </a:r>
            <a:endParaRPr lang="en-US" sz="1275" dirty="0"/>
          </a:p>
        </p:txBody>
      </p:sp>
      <p:sp>
        <p:nvSpPr>
          <p:cNvPr id="33" name="Shape 25"/>
          <p:cNvSpPr/>
          <p:nvPr/>
        </p:nvSpPr>
        <p:spPr>
          <a:xfrm rot="2700000">
            <a:off x="2332285" y="42386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B913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79911" y="4286250"/>
            <a:ext cx="209550" cy="20955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401663" y="4293840"/>
            <a:ext cx="835372" cy="2323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7846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رشد: ریفرال</a:t>
            </a:r>
            <a:endParaRPr lang="en-US" sz="1275" dirty="0"/>
          </a:p>
        </p:txBody>
      </p:sp>
      <p:sp>
        <p:nvSpPr>
          <p:cNvPr id="36" name="Shape 27"/>
          <p:cNvSpPr/>
          <p:nvPr/>
        </p:nvSpPr>
        <p:spPr>
          <a:xfrm>
            <a:off x="0" y="5410200"/>
            <a:ext cx="12192000" cy="704850"/>
          </a:xfrm>
          <a:prstGeom prst="rect">
            <a:avLst/>
          </a:prstGeom>
          <a:solidFill>
            <a:srgbClr val="D3D2D0"/>
          </a:solidFill>
          <a:ln/>
        </p:spPr>
      </p:sp>
      <p:sp>
        <p:nvSpPr>
          <p:cNvPr id="37" name="Text 28"/>
          <p:cNvSpPr/>
          <p:nvPr/>
        </p:nvSpPr>
        <p:spPr>
          <a:xfrm>
            <a:off x="426720" y="5619750"/>
            <a:ext cx="113385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رقیب ما و دلیل شکست ما تصمیم به نخریدن گرفتن کاربرانی است که قصد خرید داشتند نه صرافی های رمزارزی.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A4A4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۲۵ / ۴۱</a:t>
            </a:r>
            <a:endParaRPr lang="en-US" sz="825" dirty="0"/>
          </a:p>
        </p:txBody>
      </p:sp>
      <p:sp>
        <p:nvSpPr>
          <p:cNvPr id="39" name="Text 30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A4A4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40" name="Text 31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095501" y="3047999"/>
            <a:ext cx="5334002" cy="5334002"/>
          </a:xfrm>
          <a:prstGeom prst="roundRect">
            <a:avLst>
              <a:gd name="adj" fmla="val 11429"/>
            </a:avLst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1333501" y="3809999"/>
            <a:ext cx="3810001" cy="3810001"/>
          </a:xfrm>
          <a:prstGeom prst="roundRect">
            <a:avLst>
              <a:gd name="adj" fmla="val 12000"/>
            </a:avLst>
          </a:prstGeom>
          <a:solidFill>
            <a:srgbClr val="6E6E6E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571500" y="4572000"/>
            <a:ext cx="2286001" cy="2286001"/>
          </a:xfrm>
          <a:prstGeom prst="roundRect">
            <a:avLst>
              <a:gd name="adj" fmla="val 13333"/>
            </a:avLst>
          </a:prstGeom>
          <a:solidFill>
            <a:srgbClr val="B7820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33350" y="5276850"/>
            <a:ext cx="876300" cy="876300"/>
          </a:xfrm>
          <a:prstGeom prst="roundRect">
            <a:avLst>
              <a:gd name="adj" fmla="val 17391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>
            <a:off x="5905500" y="1143000"/>
            <a:ext cx="628650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" name="Shape 5"/>
          <p:cNvSpPr/>
          <p:nvPr/>
        </p:nvSpPr>
        <p:spPr>
          <a:xfrm>
            <a:off x="11468100" y="1638300"/>
            <a:ext cx="114300" cy="112395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۰۷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33950" y="1981200"/>
            <a:ext cx="6286500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65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اندازه بازار و مالی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22645" y="2819400"/>
            <a:ext cx="5297805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7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فصل با تخمین و حدس اندازه بازار به تحلیل مالی و بیزنسی محصول مورد نظر می‌پردازیم و سعی می‌کنیم با عددی کردن فروض تایید نشده فعلی دیدگاهی قابل سنجش برای تصمیم به ورود به این بازار بسازیم.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0550" y="1638300"/>
            <a:ext cx="4400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78" kern="0" dirty="0">
                <a:solidFill>
                  <a:srgbClr val="FFFFF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فصل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 rot="2700000">
            <a:off x="4819650" y="2085528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FDB913"/>
          </a:solidFill>
          <a:ln/>
        </p:spPr>
      </p:sp>
      <p:sp>
        <p:nvSpPr>
          <p:cNvPr id="13" name="Text 11"/>
          <p:cNvSpPr/>
          <p:nvPr/>
        </p:nvSpPr>
        <p:spPr>
          <a:xfrm>
            <a:off x="2555706" y="2057400"/>
            <a:ext cx="2111544" cy="265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57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از TAM تا تارگت ۲۵۰ هزار کاربر</a:t>
            </a:r>
            <a:endParaRPr lang="en-US" sz="1238" dirty="0"/>
          </a:p>
        </p:txBody>
      </p:sp>
      <p:sp>
        <p:nvSpPr>
          <p:cNvPr id="14" name="Shape 12"/>
          <p:cNvSpPr/>
          <p:nvPr/>
        </p:nvSpPr>
        <p:spPr>
          <a:xfrm rot="2700000">
            <a:off x="4819650" y="2494359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FDB913"/>
          </a:solidFill>
          <a:ln/>
        </p:spPr>
      </p:sp>
      <p:sp>
        <p:nvSpPr>
          <p:cNvPr id="15" name="Text 13"/>
          <p:cNvSpPr/>
          <p:nvPr/>
        </p:nvSpPr>
        <p:spPr>
          <a:xfrm>
            <a:off x="2417534" y="2466231"/>
            <a:ext cx="2249716" cy="265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57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اقتصاد واحد، AUM و ترکیب درآمد</a:t>
            </a:r>
            <a:endParaRPr lang="en-US" sz="1238" dirty="0"/>
          </a:p>
        </p:txBody>
      </p:sp>
      <p:sp>
        <p:nvSpPr>
          <p:cNvPr id="16" name="Shape 14"/>
          <p:cNvSpPr/>
          <p:nvPr/>
        </p:nvSpPr>
        <p:spPr>
          <a:xfrm rot="2700000">
            <a:off x="4819650" y="2903190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FDB913"/>
          </a:solidFill>
          <a:ln/>
        </p:spPr>
      </p:sp>
      <p:sp>
        <p:nvSpPr>
          <p:cNvPr id="17" name="Text 15"/>
          <p:cNvSpPr/>
          <p:nvPr/>
        </p:nvSpPr>
        <p:spPr>
          <a:xfrm>
            <a:off x="2533442" y="2875062"/>
            <a:ext cx="2133808" cy="265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57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سود و زیان سالانه و ترکیب هزینه</a:t>
            </a:r>
            <a:endParaRPr lang="en-US" sz="1238" dirty="0"/>
          </a:p>
        </p:txBody>
      </p:sp>
      <p:sp>
        <p:nvSpPr>
          <p:cNvPr id="18" name="Shape 16"/>
          <p:cNvSpPr/>
          <p:nvPr/>
        </p:nvSpPr>
        <p:spPr>
          <a:xfrm rot="2700000">
            <a:off x="4819650" y="3312021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FDB913"/>
          </a:solidFill>
          <a:ln/>
        </p:spPr>
      </p:sp>
      <p:sp>
        <p:nvSpPr>
          <p:cNvPr id="19" name="Text 17"/>
          <p:cNvSpPr/>
          <p:nvPr/>
        </p:nvSpPr>
        <p:spPr>
          <a:xfrm>
            <a:off x="2111722" y="3283893"/>
            <a:ext cx="2555528" cy="265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57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ارزش‌گذاری، سنجه‌های تصمیم و سرمایه</a:t>
            </a:r>
            <a:endParaRPr lang="en-US" sz="1238" dirty="0"/>
          </a:p>
        </p:txBody>
      </p:sp>
      <p:sp>
        <p:nvSpPr>
          <p:cNvPr id="20" name="Shape 18"/>
          <p:cNvSpPr/>
          <p:nvPr/>
        </p:nvSpPr>
        <p:spPr>
          <a:xfrm rot="2700000">
            <a:off x="4819650" y="3720852"/>
            <a:ext cx="171450" cy="171450"/>
          </a:xfrm>
          <a:prstGeom prst="roundRect">
            <a:avLst>
              <a:gd name="adj" fmla="val 33333"/>
            </a:avLst>
          </a:prstGeom>
          <a:solidFill>
            <a:srgbClr val="FDB913"/>
          </a:solidFill>
          <a:ln/>
        </p:spPr>
      </p:sp>
      <p:sp>
        <p:nvSpPr>
          <p:cNvPr id="21" name="Text 19"/>
          <p:cNvSpPr/>
          <p:nvPr/>
        </p:nvSpPr>
        <p:spPr>
          <a:xfrm>
            <a:off x="2595979" y="3692723"/>
            <a:ext cx="2071271" cy="265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5700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سناریو، حساسیت و تصمیم امروز</a:t>
            </a:r>
            <a:endParaRPr lang="en-US" sz="1238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94310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609725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127635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942975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۷ · ۷‑۱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0416" y="685800"/>
            <a:ext cx="1130198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12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بازار ۴٫۵ میلیون‌نفری پس از سه فیلتر به ۷۲۵ هزار نفر می‌رسد؛ تارگت ما ۲۵۰ هزار کاربر فعال ماهانه است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 rot="2700000">
            <a:off x="11296650" y="17907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8563" y="1852612"/>
            <a:ext cx="161925" cy="1619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2839" y="1822103"/>
            <a:ext cx="2039511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3571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سه فیلتر، از کل بازار تا تارگت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295900" y="2228850"/>
            <a:ext cx="628650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6429"/>
              </a:lnSpc>
              <a:buNone/>
            </a:pPr>
            <a:r>
              <a:rPr lang="en-US" sz="1013" dirty="0">
                <a:solidFill>
                  <a:srgbClr val="666666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پایه‌ی TAM: کاربرانی که رمزارز را می‌شناسند، تا کنون خرید نکرده‌اند و قصد خرید دارند.</a:t>
            </a:r>
            <a:endParaRPr lang="en-US" sz="1013" dirty="0"/>
          </a:p>
        </p:txBody>
      </p:sp>
      <p:sp>
        <p:nvSpPr>
          <p:cNvPr id="13" name="Shape 10"/>
          <p:cNvSpPr/>
          <p:nvPr/>
        </p:nvSpPr>
        <p:spPr>
          <a:xfrm>
            <a:off x="5867400" y="2536031"/>
            <a:ext cx="5715000" cy="3286125"/>
          </a:xfrm>
          <a:prstGeom prst="rect">
            <a:avLst/>
          </a:prstGeom>
          <a:solidFill>
            <a:srgbClr val="FDB913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867400" y="2536031"/>
            <a:ext cx="5715000" cy="5429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2"/>
          <p:cNvSpPr/>
          <p:nvPr/>
        </p:nvSpPr>
        <p:spPr>
          <a:xfrm>
            <a:off x="9179674" y="2683669"/>
            <a:ext cx="22122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TAM — کل کاربران فعال بالقوه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5981700" y="2645569"/>
            <a:ext cx="10126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۴٬۵۰۰٬۰۰۰</a:t>
            </a:r>
            <a:endParaRPr lang="en-US" sz="16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49433" y="3164681"/>
            <a:ext cx="142875" cy="1428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75523" y="3140869"/>
            <a:ext cx="17977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78206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فیلتر ۱ · احراز هویت تکمیلی رمزارز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7481292" y="3131344"/>
            <a:ext cx="4814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8206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۲۹٫۳٪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486525" y="3393281"/>
            <a:ext cx="4476750" cy="542925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21" name="Text 17"/>
          <p:cNvSpPr/>
          <p:nvPr/>
        </p:nvSpPr>
        <p:spPr>
          <a:xfrm>
            <a:off x="9024015" y="3540919"/>
            <a:ext cx="1748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SAM — قابل خدمت‌دهی</a:t>
            </a:r>
            <a:endParaRPr lang="en-US" sz="1275" dirty="0"/>
          </a:p>
        </p:txBody>
      </p:sp>
      <p:sp>
        <p:nvSpPr>
          <p:cNvPr id="22" name="Text 18"/>
          <p:cNvSpPr/>
          <p:nvPr/>
        </p:nvSpPr>
        <p:spPr>
          <a:xfrm>
            <a:off x="6600825" y="3502819"/>
            <a:ext cx="9606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۱٬۳۰۰٬۰۰۰</a:t>
            </a:r>
            <a:endParaRPr lang="en-US" sz="16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6770" y="4021931"/>
            <a:ext cx="142875" cy="1428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81714" y="3998119"/>
            <a:ext cx="16788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78206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فیلتر ۲ · احراز هویت شده و فعال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7593955" y="3988594"/>
            <a:ext cx="36418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8206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۵۵٪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010400" y="4250531"/>
            <a:ext cx="3429000" cy="542925"/>
          </a:xfrm>
          <a:prstGeom prst="rect">
            <a:avLst/>
          </a:prstGeom>
          <a:solidFill>
            <a:srgbClr val="B78206"/>
          </a:solidFill>
          <a:ln/>
        </p:spPr>
      </p:sp>
      <p:sp>
        <p:nvSpPr>
          <p:cNvPr id="27" name="Text 22"/>
          <p:cNvSpPr/>
          <p:nvPr/>
        </p:nvSpPr>
        <p:spPr>
          <a:xfrm>
            <a:off x="8691682" y="4398169"/>
            <a:ext cx="15572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SOM — قابل دستیابی</a:t>
            </a:r>
            <a:endParaRPr lang="en-US" sz="1275" dirty="0"/>
          </a:p>
        </p:txBody>
      </p:sp>
      <p:sp>
        <p:nvSpPr>
          <p:cNvPr id="28" name="Text 23"/>
          <p:cNvSpPr/>
          <p:nvPr/>
        </p:nvSpPr>
        <p:spPr>
          <a:xfrm>
            <a:off x="7124700" y="4360069"/>
            <a:ext cx="8261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۷۲۵٬۰۰۰</a:t>
            </a:r>
            <a:endParaRPr lang="en-US" sz="16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8467" y="4879181"/>
            <a:ext cx="142875" cy="14287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603793" y="4855369"/>
            <a:ext cx="219847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فیلتر ۳ · سهم هدف ما از بازار قابل دستیابی</a:t>
            </a:r>
            <a:endParaRPr lang="en-US" sz="975" dirty="0"/>
          </a:p>
        </p:txBody>
      </p:sp>
      <p:sp>
        <p:nvSpPr>
          <p:cNvPr id="31" name="Text 25"/>
          <p:cNvSpPr/>
          <p:nvPr/>
        </p:nvSpPr>
        <p:spPr>
          <a:xfrm>
            <a:off x="7352407" y="4845844"/>
            <a:ext cx="37504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۳۴٪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477125" y="5107781"/>
            <a:ext cx="2495550" cy="714375"/>
          </a:xfrm>
          <a:prstGeom prst="rect">
            <a:avLst/>
          </a:prstGeom>
          <a:solidFill>
            <a:srgbClr val="FDB913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732797" y="5231606"/>
            <a:ext cx="18189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تارگت — کاربر فعال ماهانه، ماه ۳۶</a:t>
            </a:r>
            <a:endParaRPr lang="en-US" sz="1013" dirty="0"/>
          </a:p>
        </p:txBody>
      </p:sp>
      <p:sp>
        <p:nvSpPr>
          <p:cNvPr id="34" name="Text 28"/>
          <p:cNvSpPr/>
          <p:nvPr/>
        </p:nvSpPr>
        <p:spPr>
          <a:xfrm>
            <a:off x="8213229" y="5450681"/>
            <a:ext cx="9472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۲۵۰٬۰۰۰</a:t>
            </a:r>
            <a:endParaRPr lang="en-US" sz="1950" dirty="0"/>
          </a:p>
        </p:txBody>
      </p:sp>
      <p:sp>
        <p:nvSpPr>
          <p:cNvPr id="35" name="Shape 29"/>
          <p:cNvSpPr/>
          <p:nvPr/>
        </p:nvSpPr>
        <p:spPr>
          <a:xfrm rot="2700000">
            <a:off x="5276850" y="17907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000000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8763" y="1852612"/>
            <a:ext cx="161925" cy="16192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57089" y="1822103"/>
            <a:ext cx="3805461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3571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مسیر رسیدن به تارگت — خروجی مدل، سناریوی پایه</a:t>
            </a:r>
            <a:endParaRPr lang="en-US" sz="1350" dirty="0"/>
          </a:p>
        </p:txBody>
      </p:sp>
      <p:sp>
        <p:nvSpPr>
          <p:cNvPr id="38" name="Shape 31"/>
          <p:cNvSpPr/>
          <p:nvPr/>
        </p:nvSpPr>
        <p:spPr>
          <a:xfrm>
            <a:off x="609600" y="2228850"/>
            <a:ext cx="49530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Shape 32"/>
          <p:cNvSpPr/>
          <p:nvPr/>
        </p:nvSpPr>
        <p:spPr>
          <a:xfrm>
            <a:off x="609600" y="3438525"/>
            <a:ext cx="49530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1581150" y="2581275"/>
            <a:ext cx="39814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ثبت‌نام تجمعی ۳۶ ماه</a:t>
            </a:r>
            <a:endParaRPr lang="en-US" sz="1425" dirty="0"/>
          </a:p>
        </p:txBody>
      </p:sp>
      <p:sp>
        <p:nvSpPr>
          <p:cNvPr id="41" name="Text 34"/>
          <p:cNvSpPr/>
          <p:nvPr/>
        </p:nvSpPr>
        <p:spPr>
          <a:xfrm>
            <a:off x="1581150" y="2895600"/>
            <a:ext cx="39814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666666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تبدیل از پایگاه هدف ۴٫۵ میلیونی</a:t>
            </a:r>
            <a:endParaRPr lang="en-US" sz="1088" dirty="0"/>
          </a:p>
        </p:txBody>
      </p:sp>
      <p:sp>
        <p:nvSpPr>
          <p:cNvPr id="42" name="Text 35"/>
          <p:cNvSpPr/>
          <p:nvPr/>
        </p:nvSpPr>
        <p:spPr>
          <a:xfrm>
            <a:off x="609600" y="2524125"/>
            <a:ext cx="14668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۱٬۲۰۲٬۷۰۰</a:t>
            </a:r>
            <a:endParaRPr lang="en-US" sz="1950" dirty="0"/>
          </a:p>
        </p:txBody>
      </p:sp>
      <p:sp>
        <p:nvSpPr>
          <p:cNvPr id="43" name="Text 36"/>
          <p:cNvSpPr/>
          <p:nvPr/>
        </p:nvSpPr>
        <p:spPr>
          <a:xfrm>
            <a:off x="609600" y="2943225"/>
            <a:ext cx="14668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B78206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۳۸٪</a:t>
            </a:r>
            <a:endParaRPr lang="en-US" sz="1125" dirty="0"/>
          </a:p>
        </p:txBody>
      </p:sp>
      <p:sp>
        <p:nvSpPr>
          <p:cNvPr id="44" name="Shape 37"/>
          <p:cNvSpPr/>
          <p:nvPr/>
        </p:nvSpPr>
        <p:spPr>
          <a:xfrm>
            <a:off x="609600" y="3448050"/>
            <a:ext cx="4953000" cy="1200150"/>
          </a:xfrm>
          <a:prstGeom prst="rect">
            <a:avLst/>
          </a:prstGeom>
          <a:solidFill>
            <a:srgbClr val="FDB913">
              <a:alpha val="14000"/>
            </a:srgbClr>
          </a:solidFill>
          <a:ln/>
        </p:spPr>
      </p:sp>
      <p:sp>
        <p:nvSpPr>
          <p:cNvPr id="45" name="Shape 38"/>
          <p:cNvSpPr/>
          <p:nvPr/>
        </p:nvSpPr>
        <p:spPr>
          <a:xfrm>
            <a:off x="609600" y="4638675"/>
            <a:ext cx="49530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6" name="Text 39"/>
          <p:cNvSpPr/>
          <p:nvPr/>
        </p:nvSpPr>
        <p:spPr>
          <a:xfrm>
            <a:off x="1588770" y="3781425"/>
            <a:ext cx="38976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تکمیل احراز هویت تکمیلی</a:t>
            </a:r>
            <a:endParaRPr lang="en-US" sz="1425" dirty="0"/>
          </a:p>
        </p:txBody>
      </p:sp>
      <p:sp>
        <p:nvSpPr>
          <p:cNvPr id="47" name="Text 40"/>
          <p:cNvSpPr/>
          <p:nvPr/>
        </p:nvSpPr>
        <p:spPr>
          <a:xfrm>
            <a:off x="1588770" y="4095750"/>
            <a:ext cx="38976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666666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تبدیل از ثبت‌نام</a:t>
            </a:r>
            <a:endParaRPr lang="en-US" sz="1088" dirty="0"/>
          </a:p>
        </p:txBody>
      </p:sp>
      <p:sp>
        <p:nvSpPr>
          <p:cNvPr id="48" name="Text 41"/>
          <p:cNvSpPr/>
          <p:nvPr/>
        </p:nvSpPr>
        <p:spPr>
          <a:xfrm>
            <a:off x="609600" y="3724275"/>
            <a:ext cx="14668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۶۶۱٬۴۸۷</a:t>
            </a:r>
            <a:endParaRPr lang="en-US" sz="1950" dirty="0"/>
          </a:p>
        </p:txBody>
      </p:sp>
      <p:sp>
        <p:nvSpPr>
          <p:cNvPr id="49" name="Text 42"/>
          <p:cNvSpPr/>
          <p:nvPr/>
        </p:nvSpPr>
        <p:spPr>
          <a:xfrm>
            <a:off x="609600" y="4143375"/>
            <a:ext cx="14668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B78206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۵۵٪</a:t>
            </a:r>
            <a:endParaRPr lang="en-US" sz="1125" dirty="0"/>
          </a:p>
        </p:txBody>
      </p:sp>
      <p:sp>
        <p:nvSpPr>
          <p:cNvPr id="50" name="Shape 43"/>
          <p:cNvSpPr/>
          <p:nvPr/>
        </p:nvSpPr>
        <p:spPr>
          <a:xfrm>
            <a:off x="609600" y="5838825"/>
            <a:ext cx="49530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51" name="Text 44"/>
          <p:cNvSpPr/>
          <p:nvPr/>
        </p:nvSpPr>
        <p:spPr>
          <a:xfrm>
            <a:off x="1581150" y="4981575"/>
            <a:ext cx="39814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کاربر فعال ماهانه در ماه ۳۶</a:t>
            </a:r>
            <a:endParaRPr lang="en-US" sz="1425" dirty="0"/>
          </a:p>
        </p:txBody>
      </p:sp>
      <p:sp>
        <p:nvSpPr>
          <p:cNvPr id="52" name="Text 45"/>
          <p:cNvSpPr/>
          <p:nvPr/>
        </p:nvSpPr>
        <p:spPr>
          <a:xfrm>
            <a:off x="1581150" y="5295900"/>
            <a:ext cx="39814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88" dirty="0">
                <a:solidFill>
                  <a:srgbClr val="666666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پس از ریزش ماهانه ۵٪</a:t>
            </a:r>
            <a:endParaRPr lang="en-US" sz="1088" dirty="0"/>
          </a:p>
        </p:txBody>
      </p:sp>
      <p:sp>
        <p:nvSpPr>
          <p:cNvPr id="53" name="Text 46"/>
          <p:cNvSpPr/>
          <p:nvPr/>
        </p:nvSpPr>
        <p:spPr>
          <a:xfrm>
            <a:off x="609600" y="5053013"/>
            <a:ext cx="14668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۲۲۰٬۶۴۸</a:t>
            </a:r>
            <a:endParaRPr lang="en-US" sz="1950" dirty="0"/>
          </a:p>
        </p:txBody>
      </p:sp>
      <p:sp>
        <p:nvSpPr>
          <p:cNvPr id="54" name="Text 47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۲۷ / ۴۱</a:t>
            </a:r>
            <a:endParaRPr lang="en-US" sz="825" dirty="0"/>
          </a:p>
        </p:txBody>
      </p:sp>
      <p:sp>
        <p:nvSpPr>
          <p:cNvPr id="55" name="Text 48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56" name="Text 49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92405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60972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127635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942975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45341" y="419100"/>
            <a:ext cx="12370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۷ · ۷‑۲ · پشتیبان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0416" y="685800"/>
            <a:ext cx="1130198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12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هر کاربر فعال فقط ۲٫۰۷ دلار در ماه درآمد می‌سازد اما ۲۰۳ دلار دارایی نگه می‌دارد — ارزش بلندمدت این کسب‌وکار در AUM است، نه در کارمزد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 rot="2700000">
            <a:off x="11334750" y="1581150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FDB91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87138" y="1633538"/>
            <a:ext cx="142875" cy="1428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14397" y="1585913"/>
            <a:ext cx="82510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اقتصاد واحد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10200" y="2181225"/>
            <a:ext cx="61722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8187690" y="1943100"/>
            <a:ext cx="33947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شاخص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29500" y="1943100"/>
            <a:ext cx="1104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۱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0" y="1943100"/>
            <a:ext cx="1104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۲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72100" y="1943100"/>
            <a:ext cx="1104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۳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10200" y="2524125"/>
            <a:ext cx="61722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8187690" y="2262188"/>
            <a:ext cx="33947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کاربر فعال جدید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429500" y="226218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۶٬۰۹۸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0" y="226218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۱۶۹٬۳۵۷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372100" y="226218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۲۲۱٬۴۳۷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10200" y="2857500"/>
            <a:ext cx="61722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8187690" y="2595563"/>
            <a:ext cx="33947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ARPU ماهانه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429500" y="2595563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۱٫۵۰ دلار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0" y="2595563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۱٫۹۳ دلار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372100" y="2595563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۲٫۰۷ دلار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10200" y="3190875"/>
            <a:ext cx="61722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187690" y="2928938"/>
            <a:ext cx="33947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حاشیه‌ی مشارکت ماهانه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429500" y="292893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۱٫۴۸ دلار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400800" y="292893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۱٫۶۶ دلار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72100" y="292893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۱٫۷۶ دلار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410200" y="3524250"/>
            <a:ext cx="61722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8187690" y="3262313"/>
            <a:ext cx="33947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CAC کامل — تشویق + برندینگ + تیم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429500" y="3262313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۲۴٫۳۴ دلار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400800" y="3262313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۳٫۲۲ دلار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372100" y="3262313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۲٫۹۶ دلار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10200" y="3857625"/>
            <a:ext cx="61722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8187690" y="3595688"/>
            <a:ext cx="33947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LTV تنزیل‌شده — طول عمر ۲۰ ماه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429500" y="359568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۲۷٫۳۷ دلار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400800" y="359568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۳۰٫۷۱ دلار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372100" y="359568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۳۲٫۶۲ دلار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5410200" y="3867150"/>
            <a:ext cx="6172200" cy="390525"/>
          </a:xfrm>
          <a:prstGeom prst="rect">
            <a:avLst/>
          </a:prstGeom>
          <a:solidFill>
            <a:srgbClr val="FDB913">
              <a:alpha val="14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410200" y="4248150"/>
            <a:ext cx="61722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8187690" y="3957638"/>
            <a:ext cx="33375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LTV ÷ CAC کامل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7825680" y="3900488"/>
            <a:ext cx="3123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8206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۱٫۱۲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943850" y="4167188"/>
            <a:ext cx="76200" cy="47625"/>
          </a:xfrm>
          <a:prstGeom prst="rect">
            <a:avLst/>
          </a:prstGeom>
          <a:solidFill>
            <a:srgbClr val="B78206"/>
          </a:solidFill>
          <a:ln/>
        </p:spPr>
      </p:sp>
      <p:sp>
        <p:nvSpPr>
          <p:cNvPr id="47" name="Text 44"/>
          <p:cNvSpPr/>
          <p:nvPr/>
        </p:nvSpPr>
        <p:spPr>
          <a:xfrm>
            <a:off x="6753671" y="3900488"/>
            <a:ext cx="39915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۹٫۵۲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657975" y="4167188"/>
            <a:ext cx="59055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49" name="Text 46"/>
          <p:cNvSpPr/>
          <p:nvPr/>
        </p:nvSpPr>
        <p:spPr>
          <a:xfrm>
            <a:off x="5730180" y="3900488"/>
            <a:ext cx="3887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۱۱٫۰۲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581650" y="4167188"/>
            <a:ext cx="68580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51" name="Text 48"/>
          <p:cNvSpPr/>
          <p:nvPr/>
        </p:nvSpPr>
        <p:spPr>
          <a:xfrm>
            <a:off x="8187690" y="4319588"/>
            <a:ext cx="33947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دوره‌ی بازگشت CAC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7429500" y="431958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۱۶٫۴ ماه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6400800" y="431958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۱٫۹۴ ماه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5372100" y="4319588"/>
            <a:ext cx="11049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۱٫۶۸ ماه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 rot="2700000">
            <a:off x="4552950" y="1581150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/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5338" y="1633538"/>
            <a:ext cx="142875" cy="142875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2971368" y="1585913"/>
            <a:ext cx="148633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دارایی و حجم معاملات</a:t>
            </a:r>
            <a:endParaRPr lang="en-US" sz="1200" dirty="0"/>
          </a:p>
        </p:txBody>
      </p:sp>
      <p:sp>
        <p:nvSpPr>
          <p:cNvPr id="58" name="Text 54"/>
          <p:cNvSpPr/>
          <p:nvPr/>
        </p:nvSpPr>
        <p:spPr>
          <a:xfrm>
            <a:off x="190500" y="1943100"/>
            <a:ext cx="46101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حجم معاملات تجمعی — M$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4343400" y="2195513"/>
            <a:ext cx="457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۱</a:t>
            </a:r>
            <a:endParaRPr lang="en-US" sz="938" dirty="0"/>
          </a:p>
        </p:txBody>
      </p:sp>
      <p:sp>
        <p:nvSpPr>
          <p:cNvPr id="60" name="Shape 56"/>
          <p:cNvSpPr/>
          <p:nvPr/>
        </p:nvSpPr>
        <p:spPr>
          <a:xfrm>
            <a:off x="1257300" y="2219325"/>
            <a:ext cx="3162300" cy="133350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61" name="Shape 57"/>
          <p:cNvSpPr/>
          <p:nvPr/>
        </p:nvSpPr>
        <p:spPr>
          <a:xfrm>
            <a:off x="4381500" y="2219325"/>
            <a:ext cx="38100" cy="13335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62" name="Text 58"/>
          <p:cNvSpPr/>
          <p:nvPr/>
        </p:nvSpPr>
        <p:spPr>
          <a:xfrm>
            <a:off x="609600" y="2190750"/>
            <a:ext cx="7239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۱٫۸۲</a:t>
            </a:r>
            <a:endParaRPr lang="en-US" sz="938" dirty="0"/>
          </a:p>
        </p:txBody>
      </p:sp>
      <p:sp>
        <p:nvSpPr>
          <p:cNvPr id="63" name="Text 59"/>
          <p:cNvSpPr/>
          <p:nvPr/>
        </p:nvSpPr>
        <p:spPr>
          <a:xfrm>
            <a:off x="4343400" y="2424113"/>
            <a:ext cx="457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۲</a:t>
            </a:r>
            <a:endParaRPr lang="en-US" sz="938" dirty="0"/>
          </a:p>
        </p:txBody>
      </p:sp>
      <p:sp>
        <p:nvSpPr>
          <p:cNvPr id="64" name="Shape 60"/>
          <p:cNvSpPr/>
          <p:nvPr/>
        </p:nvSpPr>
        <p:spPr>
          <a:xfrm>
            <a:off x="1257300" y="2447925"/>
            <a:ext cx="3162300" cy="133350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65" name="Shape 61"/>
          <p:cNvSpPr/>
          <p:nvPr/>
        </p:nvSpPr>
        <p:spPr>
          <a:xfrm>
            <a:off x="3695700" y="2447925"/>
            <a:ext cx="723900" cy="13335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66" name="Text 62"/>
          <p:cNvSpPr/>
          <p:nvPr/>
        </p:nvSpPr>
        <p:spPr>
          <a:xfrm>
            <a:off x="609600" y="2419350"/>
            <a:ext cx="7239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۱۵۵٫۱</a:t>
            </a:r>
            <a:endParaRPr lang="en-US" sz="938" dirty="0"/>
          </a:p>
        </p:txBody>
      </p:sp>
      <p:sp>
        <p:nvSpPr>
          <p:cNvPr id="67" name="Text 63"/>
          <p:cNvSpPr/>
          <p:nvPr/>
        </p:nvSpPr>
        <p:spPr>
          <a:xfrm>
            <a:off x="4343400" y="2652713"/>
            <a:ext cx="457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۳</a:t>
            </a:r>
            <a:endParaRPr lang="en-US" sz="938" dirty="0"/>
          </a:p>
        </p:txBody>
      </p:sp>
      <p:sp>
        <p:nvSpPr>
          <p:cNvPr id="68" name="Shape 64"/>
          <p:cNvSpPr/>
          <p:nvPr/>
        </p:nvSpPr>
        <p:spPr>
          <a:xfrm>
            <a:off x="1257300" y="2676525"/>
            <a:ext cx="3162300" cy="133350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69" name="Shape 65"/>
          <p:cNvSpPr/>
          <p:nvPr/>
        </p:nvSpPr>
        <p:spPr>
          <a:xfrm>
            <a:off x="1276350" y="2676525"/>
            <a:ext cx="3143250" cy="1333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0" name="Text 66"/>
          <p:cNvSpPr/>
          <p:nvPr/>
        </p:nvSpPr>
        <p:spPr>
          <a:xfrm>
            <a:off x="609600" y="2647950"/>
            <a:ext cx="7239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۶۷۱٫۹</a:t>
            </a:r>
            <a:endParaRPr lang="en-US" sz="938" dirty="0"/>
          </a:p>
        </p:txBody>
      </p:sp>
      <p:sp>
        <p:nvSpPr>
          <p:cNvPr id="71" name="Text 67"/>
          <p:cNvSpPr/>
          <p:nvPr/>
        </p:nvSpPr>
        <p:spPr>
          <a:xfrm>
            <a:off x="190500" y="2990850"/>
            <a:ext cx="46101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AUM — گردش به دارایی ۱۵ — M$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4343400" y="3243263"/>
            <a:ext cx="457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۱</a:t>
            </a:r>
            <a:endParaRPr lang="en-US" sz="938" dirty="0"/>
          </a:p>
        </p:txBody>
      </p:sp>
      <p:sp>
        <p:nvSpPr>
          <p:cNvPr id="73" name="Shape 69"/>
          <p:cNvSpPr/>
          <p:nvPr/>
        </p:nvSpPr>
        <p:spPr>
          <a:xfrm>
            <a:off x="1257300" y="3267075"/>
            <a:ext cx="3162300" cy="133350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74" name="Shape 70"/>
          <p:cNvSpPr/>
          <p:nvPr/>
        </p:nvSpPr>
        <p:spPr>
          <a:xfrm>
            <a:off x="4381500" y="3267075"/>
            <a:ext cx="38100" cy="133350"/>
          </a:xfrm>
          <a:prstGeom prst="rect">
            <a:avLst/>
          </a:prstGeom>
          <a:solidFill>
            <a:srgbClr val="FDB913">
              <a:alpha val="55000"/>
            </a:srgbClr>
          </a:solidFill>
          <a:ln/>
        </p:spPr>
      </p:sp>
      <p:sp>
        <p:nvSpPr>
          <p:cNvPr id="75" name="Text 71"/>
          <p:cNvSpPr/>
          <p:nvPr/>
        </p:nvSpPr>
        <p:spPr>
          <a:xfrm>
            <a:off x="609600" y="3238500"/>
            <a:ext cx="7239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۰٫۱۲</a:t>
            </a:r>
            <a:endParaRPr lang="en-US" sz="938" dirty="0"/>
          </a:p>
        </p:txBody>
      </p:sp>
      <p:sp>
        <p:nvSpPr>
          <p:cNvPr id="76" name="Text 72"/>
          <p:cNvSpPr/>
          <p:nvPr/>
        </p:nvSpPr>
        <p:spPr>
          <a:xfrm>
            <a:off x="4343400" y="3471863"/>
            <a:ext cx="457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۲</a:t>
            </a:r>
            <a:endParaRPr lang="en-US" sz="938" dirty="0"/>
          </a:p>
        </p:txBody>
      </p:sp>
      <p:sp>
        <p:nvSpPr>
          <p:cNvPr id="77" name="Shape 73"/>
          <p:cNvSpPr/>
          <p:nvPr/>
        </p:nvSpPr>
        <p:spPr>
          <a:xfrm>
            <a:off x="1257300" y="3495675"/>
            <a:ext cx="3162300" cy="133350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78" name="Shape 74"/>
          <p:cNvSpPr/>
          <p:nvPr/>
        </p:nvSpPr>
        <p:spPr>
          <a:xfrm>
            <a:off x="3695700" y="3495675"/>
            <a:ext cx="723900" cy="133350"/>
          </a:xfrm>
          <a:prstGeom prst="rect">
            <a:avLst/>
          </a:prstGeom>
          <a:solidFill>
            <a:srgbClr val="FDB913">
              <a:alpha val="55000"/>
            </a:srgbClr>
          </a:solidFill>
          <a:ln/>
        </p:spPr>
      </p:sp>
      <p:sp>
        <p:nvSpPr>
          <p:cNvPr id="79" name="Text 75"/>
          <p:cNvSpPr/>
          <p:nvPr/>
        </p:nvSpPr>
        <p:spPr>
          <a:xfrm>
            <a:off x="609600" y="3467100"/>
            <a:ext cx="7239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۱۰٫۳۴</a:t>
            </a:r>
            <a:endParaRPr lang="en-US" sz="938" dirty="0"/>
          </a:p>
        </p:txBody>
      </p:sp>
      <p:sp>
        <p:nvSpPr>
          <p:cNvPr id="80" name="Text 76"/>
          <p:cNvSpPr/>
          <p:nvPr/>
        </p:nvSpPr>
        <p:spPr>
          <a:xfrm>
            <a:off x="4343400" y="3700463"/>
            <a:ext cx="457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۳</a:t>
            </a:r>
            <a:endParaRPr lang="en-US" sz="938" dirty="0"/>
          </a:p>
        </p:txBody>
      </p:sp>
      <p:sp>
        <p:nvSpPr>
          <p:cNvPr id="81" name="Shape 77"/>
          <p:cNvSpPr/>
          <p:nvPr/>
        </p:nvSpPr>
        <p:spPr>
          <a:xfrm>
            <a:off x="1257300" y="3724275"/>
            <a:ext cx="3162300" cy="133350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82" name="Shape 78"/>
          <p:cNvSpPr/>
          <p:nvPr/>
        </p:nvSpPr>
        <p:spPr>
          <a:xfrm>
            <a:off x="1276350" y="3724275"/>
            <a:ext cx="3143250" cy="1333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83" name="Text 79"/>
          <p:cNvSpPr/>
          <p:nvPr/>
        </p:nvSpPr>
        <p:spPr>
          <a:xfrm>
            <a:off x="609600" y="3695700"/>
            <a:ext cx="7239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۴۴٫۷۹</a:t>
            </a:r>
            <a:endParaRPr lang="en-US" sz="938" dirty="0"/>
          </a:p>
        </p:txBody>
      </p:sp>
      <p:sp>
        <p:nvSpPr>
          <p:cNvPr id="84" name="Shape 80"/>
          <p:cNvSpPr/>
          <p:nvPr/>
        </p:nvSpPr>
        <p:spPr>
          <a:xfrm>
            <a:off x="609600" y="4038600"/>
            <a:ext cx="41910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85" name="Text 81"/>
          <p:cNvSpPr/>
          <p:nvPr/>
        </p:nvSpPr>
        <p:spPr>
          <a:xfrm>
            <a:off x="3539877" y="4124325"/>
            <a:ext cx="126072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حجم ماهانه‌ی هر کاربر فعال</a:t>
            </a:r>
            <a:endParaRPr lang="en-US" sz="938" dirty="0"/>
          </a:p>
        </p:txBody>
      </p:sp>
      <p:sp>
        <p:nvSpPr>
          <p:cNvPr id="86" name="Text 82"/>
          <p:cNvSpPr/>
          <p:nvPr/>
        </p:nvSpPr>
        <p:spPr>
          <a:xfrm>
            <a:off x="533400" y="4124325"/>
            <a:ext cx="12531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۲۰۰ ← ۲۲۰ ← </a:t>
            </a:r>
            <a:pPr algn="r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۲۴۲ دلار</a:t>
            </a:r>
            <a:endParaRPr lang="en-US" sz="938" dirty="0"/>
          </a:p>
        </p:txBody>
      </p:sp>
      <p:sp>
        <p:nvSpPr>
          <p:cNvPr id="87" name="Text 83"/>
          <p:cNvSpPr/>
          <p:nvPr/>
        </p:nvSpPr>
        <p:spPr>
          <a:xfrm>
            <a:off x="2968347" y="4362450"/>
            <a:ext cx="183225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AUM به‌ازای هر کاربر فعال — سال ۳</a:t>
            </a:r>
            <a:endParaRPr lang="en-US" sz="938" dirty="0"/>
          </a:p>
        </p:txBody>
      </p:sp>
      <p:sp>
        <p:nvSpPr>
          <p:cNvPr id="88" name="Text 84"/>
          <p:cNvSpPr/>
          <p:nvPr/>
        </p:nvSpPr>
        <p:spPr>
          <a:xfrm>
            <a:off x="533400" y="4362450"/>
            <a:ext cx="48369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۲۰۳ دلار</a:t>
            </a:r>
            <a:endParaRPr lang="en-US" sz="938" dirty="0"/>
          </a:p>
        </p:txBody>
      </p:sp>
      <p:sp>
        <p:nvSpPr>
          <p:cNvPr id="89" name="Shape 85"/>
          <p:cNvSpPr/>
          <p:nvPr/>
        </p:nvSpPr>
        <p:spPr>
          <a:xfrm>
            <a:off x="0" y="4914900"/>
            <a:ext cx="12192000" cy="2667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0" name="Text 86"/>
          <p:cNvSpPr/>
          <p:nvPr/>
        </p:nvSpPr>
        <p:spPr>
          <a:xfrm>
            <a:off x="8321933" y="4953000"/>
            <a:ext cx="32604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ترکیب درآمد سال سوم — ۴٫۴۳M$ · نرخ برداشت مؤثر ۰٫۸۶٪</a:t>
            </a:r>
            <a:endParaRPr lang="en-US" sz="975" dirty="0"/>
          </a:p>
        </p:txBody>
      </p:sp>
      <p:sp>
        <p:nvSpPr>
          <p:cNvPr id="91" name="Shape 87"/>
          <p:cNvSpPr/>
          <p:nvPr/>
        </p:nvSpPr>
        <p:spPr>
          <a:xfrm>
            <a:off x="2560439" y="5181600"/>
            <a:ext cx="9631561" cy="6096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92" name="Text 88"/>
          <p:cNvSpPr/>
          <p:nvPr/>
        </p:nvSpPr>
        <p:spPr>
          <a:xfrm>
            <a:off x="6966198" y="5295900"/>
            <a:ext cx="743843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کارمزد معاملات</a:t>
            </a:r>
            <a:endParaRPr lang="en-US" sz="975" dirty="0"/>
          </a:p>
        </p:txBody>
      </p:sp>
      <p:sp>
        <p:nvSpPr>
          <p:cNvPr id="93" name="Text 89"/>
          <p:cNvSpPr/>
          <p:nvPr/>
        </p:nvSpPr>
        <p:spPr>
          <a:xfrm>
            <a:off x="7134374" y="5505450"/>
            <a:ext cx="4076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286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۷۹٪</a:t>
            </a:r>
            <a:endParaRPr lang="en-US" sz="1350" dirty="0"/>
          </a:p>
        </p:txBody>
      </p:sp>
      <p:sp>
        <p:nvSpPr>
          <p:cNvPr id="94" name="Shape 90"/>
          <p:cNvSpPr/>
          <p:nvPr/>
        </p:nvSpPr>
        <p:spPr>
          <a:xfrm>
            <a:off x="975568" y="5181600"/>
            <a:ext cx="1584871" cy="609600"/>
          </a:xfrm>
          <a:prstGeom prst="rect">
            <a:avLst/>
          </a:prstGeom>
          <a:solidFill>
            <a:srgbClr val="B78206"/>
          </a:solidFill>
          <a:ln/>
        </p:spPr>
      </p:sp>
      <p:sp>
        <p:nvSpPr>
          <p:cNvPr id="95" name="Text 91"/>
          <p:cNvSpPr/>
          <p:nvPr/>
        </p:nvSpPr>
        <p:spPr>
          <a:xfrm>
            <a:off x="1428155" y="5334000"/>
            <a:ext cx="603647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تراکنش ریالی</a:t>
            </a:r>
            <a:endParaRPr lang="en-US" sz="825" dirty="0"/>
          </a:p>
        </p:txBody>
      </p:sp>
      <p:sp>
        <p:nvSpPr>
          <p:cNvPr id="96" name="Text 92"/>
          <p:cNvSpPr/>
          <p:nvPr/>
        </p:nvSpPr>
        <p:spPr>
          <a:xfrm>
            <a:off x="1574155" y="5514975"/>
            <a:ext cx="31149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۱۳٪</a:t>
            </a:r>
            <a:endParaRPr lang="en-US" sz="975" dirty="0"/>
          </a:p>
        </p:txBody>
      </p:sp>
      <p:sp>
        <p:nvSpPr>
          <p:cNvPr id="97" name="Shape 93"/>
          <p:cNvSpPr/>
          <p:nvPr/>
        </p:nvSpPr>
        <p:spPr>
          <a:xfrm>
            <a:off x="365968" y="5181600"/>
            <a:ext cx="609600" cy="60960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98" name="Text 94"/>
          <p:cNvSpPr/>
          <p:nvPr/>
        </p:nvSpPr>
        <p:spPr>
          <a:xfrm>
            <a:off x="502890" y="5434013"/>
            <a:ext cx="2597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۵٪</a:t>
            </a:r>
            <a:endParaRPr lang="en-US" sz="975" dirty="0"/>
          </a:p>
        </p:txBody>
      </p:sp>
      <p:sp>
        <p:nvSpPr>
          <p:cNvPr id="99" name="Shape 95"/>
          <p:cNvSpPr/>
          <p:nvPr/>
        </p:nvSpPr>
        <p:spPr>
          <a:xfrm>
            <a:off x="298" y="5181600"/>
            <a:ext cx="365671" cy="60960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00" name="Text 96"/>
          <p:cNvSpPr/>
          <p:nvPr/>
        </p:nvSpPr>
        <p:spPr>
          <a:xfrm>
            <a:off x="8334" y="5434013"/>
            <a:ext cx="27354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000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۳٪</a:t>
            </a:r>
            <a:endParaRPr lang="en-US" sz="975" dirty="0"/>
          </a:p>
        </p:txBody>
      </p:sp>
      <p:sp>
        <p:nvSpPr>
          <p:cNvPr id="101" name="Shape 97"/>
          <p:cNvSpPr/>
          <p:nvPr/>
        </p:nvSpPr>
        <p:spPr>
          <a:xfrm>
            <a:off x="666750" y="5791200"/>
            <a:ext cx="9525" cy="17145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102" name="Shape 98"/>
          <p:cNvSpPr/>
          <p:nvPr/>
        </p:nvSpPr>
        <p:spPr>
          <a:xfrm>
            <a:off x="666750" y="5962650"/>
            <a:ext cx="819150" cy="9525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103" name="Text 99"/>
          <p:cNvSpPr/>
          <p:nvPr/>
        </p:nvSpPr>
        <p:spPr>
          <a:xfrm>
            <a:off x="1421725" y="5876925"/>
            <a:ext cx="133457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۵٪ کارمزد تراکنش رمزارزی</a:t>
            </a:r>
            <a:endParaRPr lang="en-US" sz="938" dirty="0"/>
          </a:p>
        </p:txBody>
      </p:sp>
      <p:sp>
        <p:nvSpPr>
          <p:cNvPr id="104" name="Shape 100"/>
          <p:cNvSpPr/>
          <p:nvPr/>
        </p:nvSpPr>
        <p:spPr>
          <a:xfrm>
            <a:off x="180975" y="5791200"/>
            <a:ext cx="9525" cy="41910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105" name="Shape 101"/>
          <p:cNvSpPr/>
          <p:nvPr/>
        </p:nvSpPr>
        <p:spPr>
          <a:xfrm>
            <a:off x="180975" y="6210300"/>
            <a:ext cx="1304925" cy="9525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106" name="Text 102"/>
          <p:cNvSpPr/>
          <p:nvPr/>
        </p:nvSpPr>
        <p:spPr>
          <a:xfrm>
            <a:off x="1466850" y="6124575"/>
            <a:ext cx="114508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۳٪ سود خواب پول ریالی</a:t>
            </a:r>
            <a:endParaRPr lang="en-US" sz="938" dirty="0"/>
          </a:p>
        </p:txBody>
      </p:sp>
      <p:sp>
        <p:nvSpPr>
          <p:cNvPr id="107" name="Text 103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۲۸ / ۴۱</a:t>
            </a:r>
            <a:endParaRPr lang="en-US" sz="825" dirty="0"/>
          </a:p>
        </p:txBody>
      </p:sp>
      <p:sp>
        <p:nvSpPr>
          <p:cNvPr id="108" name="Text 104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109" name="Text 105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90500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59067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127635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942975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45341" y="419100"/>
            <a:ext cx="12370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۷ · ۷‑۳ · پشتیبان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0416" y="685800"/>
            <a:ext cx="1130198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12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درآمد از ۱۳٫۶ هزار دلار سال اول به ۴٫۴ میلیون دلار سال سوم می‌رسد و EBITDA از ماه ۱۸ مثبت می‌شود — حاشیه‌ی EBITDA سال سوم ۶۱٪ است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407390" y="1314450"/>
            <a:ext cx="317501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درآمد کل، هزینه کل، EBITDA و حاشیه‌ی آن — سالانه، هزار دلار</a:t>
            </a:r>
            <a:endParaRPr lang="en-US" sz="938" dirty="0"/>
          </a:p>
        </p:txBody>
      </p:sp>
      <p:sp>
        <p:nvSpPr>
          <p:cNvPr id="10" name="Shape 8"/>
          <p:cNvSpPr/>
          <p:nvPr/>
        </p:nvSpPr>
        <p:spPr>
          <a:xfrm>
            <a:off x="2786509" y="1343025"/>
            <a:ext cx="123825" cy="1238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1" name="Text 9"/>
          <p:cNvSpPr/>
          <p:nvPr/>
        </p:nvSpPr>
        <p:spPr>
          <a:xfrm>
            <a:off x="2297757" y="1314450"/>
            <a:ext cx="49827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درآمد کل</a:t>
            </a:r>
            <a:endParaRPr lang="en-US" sz="938" dirty="0"/>
          </a:p>
        </p:txBody>
      </p:sp>
      <p:sp>
        <p:nvSpPr>
          <p:cNvPr id="12" name="Shape 10"/>
          <p:cNvSpPr/>
          <p:nvPr/>
        </p:nvSpPr>
        <p:spPr>
          <a:xfrm>
            <a:off x="1945332" y="1343025"/>
            <a:ext cx="123825" cy="1238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3" name="Text 11"/>
          <p:cNvSpPr/>
          <p:nvPr/>
        </p:nvSpPr>
        <p:spPr>
          <a:xfrm>
            <a:off x="1458813" y="1314450"/>
            <a:ext cx="49604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هزینه کل</a:t>
            </a:r>
            <a:endParaRPr lang="en-US" sz="938" dirty="0"/>
          </a:p>
        </p:txBody>
      </p:sp>
      <p:sp>
        <p:nvSpPr>
          <p:cNvPr id="14" name="Shape 12"/>
          <p:cNvSpPr/>
          <p:nvPr/>
        </p:nvSpPr>
        <p:spPr>
          <a:xfrm>
            <a:off x="1106388" y="1343025"/>
            <a:ext cx="123825" cy="123825"/>
          </a:xfrm>
          <a:prstGeom prst="rect">
            <a:avLst/>
          </a:prstGeom>
          <a:solidFill>
            <a:srgbClr val="B78206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1314450"/>
            <a:ext cx="5063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EBITDA</a:t>
            </a:r>
            <a:endParaRPr lang="en-US" sz="938" dirty="0"/>
          </a:p>
        </p:txBody>
      </p:sp>
      <p:sp>
        <p:nvSpPr>
          <p:cNvPr id="16" name="Shape 14"/>
          <p:cNvSpPr/>
          <p:nvPr/>
        </p:nvSpPr>
        <p:spPr>
          <a:xfrm>
            <a:off x="609600" y="3495675"/>
            <a:ext cx="109728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773817" y="3219450"/>
            <a:ext cx="297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۱۳٫۶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10522297" y="3467100"/>
            <a:ext cx="876300" cy="2857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9" name="Text 17"/>
          <p:cNvSpPr/>
          <p:nvPr/>
        </p:nvSpPr>
        <p:spPr>
          <a:xfrm>
            <a:off x="9656564" y="3048000"/>
            <a:ext cx="3979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۴۷۹٫۹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9455497" y="3295650"/>
            <a:ext cx="876300" cy="2000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8752" y="3190875"/>
            <a:ext cx="1156246" cy="24765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2" name="Text 20"/>
          <p:cNvSpPr/>
          <p:nvPr/>
        </p:nvSpPr>
        <p:spPr>
          <a:xfrm>
            <a:off x="8127802" y="3219450"/>
            <a:ext cx="1041946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555555"/>
                </a:solidFill>
                <a:highlight>
                  <a:srgbClr val="E7E6E6"/>
                </a:highlight>
                <a:latin typeface="B Yekan" pitchFamily="34" charset="0"/>
                <a:ea typeface="B Yekan" pitchFamily="34" charset="-122"/>
                <a:cs typeface="B Yekan" pitchFamily="34" charset="-120"/>
              </a:rPr>
              <a:t>حاشیه EBITDA </a:t>
            </a:r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منفی</a:t>
            </a:r>
            <a:endParaRPr lang="en-US" sz="863" dirty="0"/>
          </a:p>
        </p:txBody>
      </p:sp>
      <p:sp>
        <p:nvSpPr>
          <p:cNvPr id="23" name="Shape 21"/>
          <p:cNvSpPr/>
          <p:nvPr/>
        </p:nvSpPr>
        <p:spPr>
          <a:xfrm>
            <a:off x="8248799" y="3495675"/>
            <a:ext cx="876300" cy="200025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24" name="Text 22"/>
          <p:cNvSpPr/>
          <p:nvPr/>
        </p:nvSpPr>
        <p:spPr>
          <a:xfrm>
            <a:off x="8210699" y="3752850"/>
            <a:ext cx="9525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0404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−۴۶۶٫۳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982569" y="2686050"/>
            <a:ext cx="5021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۱٬۳۴۲٫۵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833592" y="2933700"/>
            <a:ext cx="876300" cy="56197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7" name="Text 25"/>
          <p:cNvSpPr/>
          <p:nvPr/>
        </p:nvSpPr>
        <p:spPr>
          <a:xfrm>
            <a:off x="5928122" y="2790825"/>
            <a:ext cx="47758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۱٬۰۸۷٫۳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5766792" y="3038475"/>
            <a:ext cx="876300" cy="45720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9" name="Shape 27"/>
          <p:cNvSpPr/>
          <p:nvPr/>
        </p:nvSpPr>
        <p:spPr>
          <a:xfrm>
            <a:off x="4482257" y="2838450"/>
            <a:ext cx="1094036" cy="2476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0" name="Text 28"/>
          <p:cNvSpPr/>
          <p:nvPr/>
        </p:nvSpPr>
        <p:spPr>
          <a:xfrm>
            <a:off x="4501307" y="2867025"/>
            <a:ext cx="979736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A2C00"/>
                </a:solidFill>
                <a:highlight>
                  <a:srgbClr val="FDB913"/>
                </a:highlight>
                <a:latin typeface="B Yekan" pitchFamily="34" charset="0"/>
                <a:ea typeface="B Yekan" pitchFamily="34" charset="-122"/>
                <a:cs typeface="B Yekan" pitchFamily="34" charset="-120"/>
              </a:rPr>
              <a:t>حاشیه EBITDA </a:t>
            </a:r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۱۹٪</a:t>
            </a:r>
            <a:endParaRPr lang="en-US" sz="863" dirty="0"/>
          </a:p>
        </p:txBody>
      </p:sp>
      <p:sp>
        <p:nvSpPr>
          <p:cNvPr id="31" name="Text 29"/>
          <p:cNvSpPr/>
          <p:nvPr/>
        </p:nvSpPr>
        <p:spPr>
          <a:xfrm>
            <a:off x="4750594" y="3143250"/>
            <a:ext cx="4813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78206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+۲۵۵٫۲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4591199" y="3390900"/>
            <a:ext cx="876300" cy="104775"/>
          </a:xfrm>
          <a:prstGeom prst="rect">
            <a:avLst/>
          </a:prstGeom>
          <a:solidFill>
            <a:srgbClr val="B78206"/>
          </a:solidFill>
          <a:ln/>
        </p:spPr>
      </p:sp>
      <p:sp>
        <p:nvSpPr>
          <p:cNvPr id="33" name="Text 31"/>
          <p:cNvSpPr/>
          <p:nvPr/>
        </p:nvSpPr>
        <p:spPr>
          <a:xfrm>
            <a:off x="3326904" y="1381125"/>
            <a:ext cx="4958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۴٬۴۲۷٫۶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3174802" y="1628775"/>
            <a:ext cx="876300" cy="18669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5" name="Text 33"/>
          <p:cNvSpPr/>
          <p:nvPr/>
        </p:nvSpPr>
        <p:spPr>
          <a:xfrm>
            <a:off x="2283619" y="2533650"/>
            <a:ext cx="4488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۱٬۷۰۴٫۷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2108002" y="2781300"/>
            <a:ext cx="876300" cy="71437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7" name="Shape 35"/>
          <p:cNvSpPr/>
          <p:nvPr/>
        </p:nvSpPr>
        <p:spPr>
          <a:xfrm>
            <a:off x="825847" y="1790700"/>
            <a:ext cx="1091654" cy="2476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8" name="Text 36"/>
          <p:cNvSpPr/>
          <p:nvPr/>
        </p:nvSpPr>
        <p:spPr>
          <a:xfrm>
            <a:off x="844897" y="1819275"/>
            <a:ext cx="977354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dirty="0">
                <a:solidFill>
                  <a:srgbClr val="3A2C00"/>
                </a:solidFill>
                <a:highlight>
                  <a:srgbClr val="FDB913"/>
                </a:highlight>
                <a:latin typeface="B Yekan" pitchFamily="34" charset="0"/>
                <a:ea typeface="B Yekan" pitchFamily="34" charset="-122"/>
                <a:cs typeface="B Yekan" pitchFamily="34" charset="-120"/>
              </a:rPr>
              <a:t>حاشیه EBITDA </a:t>
            </a:r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۶۱٪</a:t>
            </a:r>
            <a:endParaRPr lang="en-US" sz="863" dirty="0"/>
          </a:p>
        </p:txBody>
      </p:sp>
      <p:sp>
        <p:nvSpPr>
          <p:cNvPr id="39" name="Text 37"/>
          <p:cNvSpPr/>
          <p:nvPr/>
        </p:nvSpPr>
        <p:spPr>
          <a:xfrm>
            <a:off x="1079748" y="2095500"/>
            <a:ext cx="5078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78206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+۲٬۷۲۲٫۹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933599" y="2343150"/>
            <a:ext cx="876300" cy="1152525"/>
          </a:xfrm>
          <a:prstGeom prst="rect">
            <a:avLst/>
          </a:prstGeom>
          <a:solidFill>
            <a:srgbClr val="B78206"/>
          </a:solidFill>
          <a:ln/>
        </p:spPr>
      </p:sp>
      <p:sp>
        <p:nvSpPr>
          <p:cNvPr id="41" name="Text 39"/>
          <p:cNvSpPr/>
          <p:nvPr/>
        </p:nvSpPr>
        <p:spPr>
          <a:xfrm>
            <a:off x="7741920" y="4010025"/>
            <a:ext cx="4023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۱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4084320" y="4010025"/>
            <a:ext cx="4023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۲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426720" y="4010025"/>
            <a:ext cx="4023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سال ۳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609600" y="514350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" y="468630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2700000">
            <a:off x="11372850" y="4814887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47" name="Text 45"/>
          <p:cNvSpPr/>
          <p:nvPr/>
        </p:nvSpPr>
        <p:spPr>
          <a:xfrm>
            <a:off x="10378529" y="4829175"/>
            <a:ext cx="8800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EBITDA سه‌ساله</a:t>
            </a:r>
            <a:endParaRPr lang="en-US" sz="938" dirty="0"/>
          </a:p>
        </p:txBody>
      </p:sp>
      <p:sp>
        <p:nvSpPr>
          <p:cNvPr id="48" name="Text 46"/>
          <p:cNvSpPr/>
          <p:nvPr/>
        </p:nvSpPr>
        <p:spPr>
          <a:xfrm>
            <a:off x="9760297" y="4810125"/>
            <a:ext cx="5801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+۲٬۵۱۱٫۸</a:t>
            </a:r>
            <a:endParaRPr lang="en-US" sz="1125" dirty="0"/>
          </a:p>
        </p:txBody>
      </p:sp>
      <p:sp>
        <p:nvSpPr>
          <p:cNvPr id="49" name="Shape 47"/>
          <p:cNvSpPr/>
          <p:nvPr/>
        </p:nvSpPr>
        <p:spPr>
          <a:xfrm rot="2700000">
            <a:off x="8520112" y="4814887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50" name="Text 48"/>
          <p:cNvSpPr/>
          <p:nvPr/>
        </p:nvSpPr>
        <p:spPr>
          <a:xfrm>
            <a:off x="7486650" y="4829175"/>
            <a:ext cx="9191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سود خالص سه‌ساله</a:t>
            </a:r>
            <a:endParaRPr lang="en-US" sz="938" dirty="0"/>
          </a:p>
        </p:txBody>
      </p:sp>
      <p:sp>
        <p:nvSpPr>
          <p:cNvPr id="51" name="Text 49"/>
          <p:cNvSpPr/>
          <p:nvPr/>
        </p:nvSpPr>
        <p:spPr>
          <a:xfrm>
            <a:off x="6827490" y="4810125"/>
            <a:ext cx="621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+۱٬۸۲۳٫۸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 rot="2700000">
            <a:off x="5587305" y="4814887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53" name="Text 51"/>
          <p:cNvSpPr/>
          <p:nvPr/>
        </p:nvSpPr>
        <p:spPr>
          <a:xfrm>
            <a:off x="4569768" y="4829175"/>
            <a:ext cx="9032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سربه‌سر EBITDA</a:t>
            </a:r>
            <a:endParaRPr lang="en-US" sz="938" dirty="0"/>
          </a:p>
        </p:txBody>
      </p:sp>
      <p:sp>
        <p:nvSpPr>
          <p:cNvPr id="54" name="Text 52"/>
          <p:cNvSpPr/>
          <p:nvPr/>
        </p:nvSpPr>
        <p:spPr>
          <a:xfrm>
            <a:off x="4114502" y="4810125"/>
            <a:ext cx="4171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ماه ۱۸</a:t>
            </a:r>
            <a:endParaRPr lang="en-US" sz="1125" dirty="0"/>
          </a:p>
        </p:txBody>
      </p:sp>
      <p:sp>
        <p:nvSpPr>
          <p:cNvPr id="55" name="Shape 53"/>
          <p:cNvSpPr/>
          <p:nvPr/>
        </p:nvSpPr>
        <p:spPr>
          <a:xfrm rot="2700000">
            <a:off x="2874318" y="4814887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56" name="Text 54"/>
          <p:cNvSpPr/>
          <p:nvPr/>
        </p:nvSpPr>
        <p:spPr>
          <a:xfrm>
            <a:off x="1776264" y="4829175"/>
            <a:ext cx="98375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حاشیه‌ی سود ناخالص</a:t>
            </a:r>
            <a:endParaRPr lang="en-US" sz="938" dirty="0"/>
          </a:p>
        </p:txBody>
      </p:sp>
      <p:sp>
        <p:nvSpPr>
          <p:cNvPr id="57" name="Text 55"/>
          <p:cNvSpPr/>
          <p:nvPr/>
        </p:nvSpPr>
        <p:spPr>
          <a:xfrm>
            <a:off x="533400" y="4810125"/>
            <a:ext cx="120476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۸۵٪ در هر سه سال</a:t>
            </a:r>
            <a:endParaRPr lang="en-US" sz="1125" dirty="0"/>
          </a:p>
        </p:txBody>
      </p:sp>
      <p:sp>
        <p:nvSpPr>
          <p:cNvPr id="58" name="Shape 56"/>
          <p:cNvSpPr/>
          <p:nvPr/>
        </p:nvSpPr>
        <p:spPr>
          <a:xfrm>
            <a:off x="0" y="5391150"/>
            <a:ext cx="12192000" cy="2667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8303761" y="5429250"/>
            <a:ext cx="3278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ترکیب هزینه در سال سوم — ۱٬۷۰۴٫۷ هزار دلار · ۳۹٪ از درآمد</a:t>
            </a:r>
            <a:endParaRPr lang="en-US" sz="975" dirty="0"/>
          </a:p>
        </p:txBody>
      </p:sp>
      <p:sp>
        <p:nvSpPr>
          <p:cNvPr id="60" name="Shape 58"/>
          <p:cNvSpPr/>
          <p:nvPr/>
        </p:nvSpPr>
        <p:spPr>
          <a:xfrm>
            <a:off x="7437239" y="5657850"/>
            <a:ext cx="4754761" cy="49530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1" name="Text 59"/>
          <p:cNvSpPr/>
          <p:nvPr/>
        </p:nvSpPr>
        <p:spPr>
          <a:xfrm>
            <a:off x="9440466" y="5729288"/>
            <a:ext cx="6721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بهای تمام‌شده</a:t>
            </a:r>
            <a:endParaRPr lang="en-US" sz="938" dirty="0"/>
          </a:p>
        </p:txBody>
      </p:sp>
      <p:sp>
        <p:nvSpPr>
          <p:cNvPr id="62" name="Text 60"/>
          <p:cNvSpPr/>
          <p:nvPr/>
        </p:nvSpPr>
        <p:spPr>
          <a:xfrm>
            <a:off x="9579769" y="5929313"/>
            <a:ext cx="3936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۳۹٪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926259" y="5657850"/>
            <a:ext cx="4510980" cy="4953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64" name="Text 62"/>
          <p:cNvSpPr/>
          <p:nvPr/>
        </p:nvSpPr>
        <p:spPr>
          <a:xfrm>
            <a:off x="4755803" y="5729288"/>
            <a:ext cx="7758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بازاریابی و جذب</a:t>
            </a:r>
            <a:endParaRPr lang="en-US" sz="938" dirty="0"/>
          </a:p>
        </p:txBody>
      </p:sp>
      <p:sp>
        <p:nvSpPr>
          <p:cNvPr id="65" name="Text 63"/>
          <p:cNvSpPr/>
          <p:nvPr/>
        </p:nvSpPr>
        <p:spPr>
          <a:xfrm>
            <a:off x="4941094" y="5929313"/>
            <a:ext cx="405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۳۷٪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463278" y="5657850"/>
            <a:ext cx="1462980" cy="495300"/>
          </a:xfrm>
          <a:prstGeom prst="rect">
            <a:avLst/>
          </a:prstGeom>
          <a:solidFill>
            <a:srgbClr val="B78206"/>
          </a:solidFill>
          <a:ln/>
        </p:spPr>
      </p:sp>
      <p:sp>
        <p:nvSpPr>
          <p:cNvPr id="67" name="Text 65"/>
          <p:cNvSpPr/>
          <p:nvPr/>
        </p:nvSpPr>
        <p:spPr>
          <a:xfrm>
            <a:off x="1764060" y="5743575"/>
            <a:ext cx="785366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زیرساخت و اداری</a:t>
            </a:r>
            <a:endParaRPr lang="en-US" sz="863" dirty="0"/>
          </a:p>
        </p:txBody>
      </p:sp>
      <p:sp>
        <p:nvSpPr>
          <p:cNvPr id="68" name="Text 66"/>
          <p:cNvSpPr/>
          <p:nvPr/>
        </p:nvSpPr>
        <p:spPr>
          <a:xfrm>
            <a:off x="2006650" y="5934075"/>
            <a:ext cx="3001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636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۱۲٪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98" y="5657850"/>
            <a:ext cx="1462980" cy="49530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0" name="Text 68"/>
          <p:cNvSpPr/>
          <p:nvPr/>
        </p:nvSpPr>
        <p:spPr>
          <a:xfrm>
            <a:off x="336352" y="5743575"/>
            <a:ext cx="714673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حقوق و دستمزد</a:t>
            </a:r>
            <a:endParaRPr lang="en-US" sz="863" dirty="0"/>
          </a:p>
        </p:txBody>
      </p:sp>
      <p:sp>
        <p:nvSpPr>
          <p:cNvPr id="71" name="Text 69"/>
          <p:cNvSpPr/>
          <p:nvPr/>
        </p:nvSpPr>
        <p:spPr>
          <a:xfrm>
            <a:off x="543669" y="5934075"/>
            <a:ext cx="3001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363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۱۲٪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۲۹ / ۴۱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74" name="Text 72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88595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57162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125730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94297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45341" y="419100"/>
            <a:ext cx="12370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۷ · ۷‑۴ · پشتیبان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0416" y="685800"/>
            <a:ext cx="1130198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12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اوج نیاز سرمایه ۳٫۰ میلیون دلار — اما تنها ۷۰۷ هزار دلار آن سوخت می‌شود؛ ۷۶٪ سرمایه در گردش خزانه است و بازمی‌گردد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248400" y="1752600"/>
            <a:ext cx="5334000" cy="7334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11144250" y="1976437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 rot="-2700000">
            <a:off x="11191875" y="2024062"/>
            <a:ext cx="114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805761" y="1914525"/>
            <a:ext cx="41860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NPV مالی افق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805761" y="2152650"/>
            <a:ext cx="41860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خود عملیات در سه سال چه ارزشی ساخت؟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24600" y="1962150"/>
            <a:ext cx="7093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۱٫۳۸M$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6248400" y="2638425"/>
            <a:ext cx="5334000" cy="7334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6" name="Shape 14"/>
          <p:cNvSpPr/>
          <p:nvPr/>
        </p:nvSpPr>
        <p:spPr>
          <a:xfrm rot="2700000">
            <a:off x="11144250" y="2862262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 rot="-2700000">
            <a:off x="11179373" y="2909888"/>
            <a:ext cx="1393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139241" y="2800350"/>
            <a:ext cx="38526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ارزش شرکت در خروج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139241" y="3038475"/>
            <a:ext cx="38526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3A2C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شرکت در پایان افق چقدر می‌ارزد؟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24600" y="2814638"/>
            <a:ext cx="10124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۱۵٫۵۰M$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6248400" y="3562350"/>
            <a:ext cx="5334000" cy="244405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810750" y="3562350"/>
            <a:ext cx="1771650" cy="12172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826943" y="3962400"/>
            <a:ext cx="17392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IRR سالانه</a:t>
            </a:r>
            <a:endParaRPr lang="en-US" sz="863" dirty="0"/>
          </a:p>
        </p:txBody>
      </p:sp>
      <p:sp>
        <p:nvSpPr>
          <p:cNvPr id="24" name="Text 22"/>
          <p:cNvSpPr/>
          <p:nvPr/>
        </p:nvSpPr>
        <p:spPr>
          <a:xfrm>
            <a:off x="9826943" y="4162425"/>
            <a:ext cx="173926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8621"/>
              </a:lnSpc>
              <a:buNone/>
            </a:pPr>
            <a:r>
              <a:rPr lang="en-US" sz="1425" b="1" dirty="0">
                <a:solidFill>
                  <a:srgbClr val="B78206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۲۱۱٪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8029575" y="3562350"/>
            <a:ext cx="1771650" cy="12172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045768" y="3962400"/>
            <a:ext cx="17392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ROI</a:t>
            </a:r>
            <a:endParaRPr lang="en-US" sz="863" dirty="0"/>
          </a:p>
        </p:txBody>
      </p:sp>
      <p:sp>
        <p:nvSpPr>
          <p:cNvPr id="27" name="Text 25"/>
          <p:cNvSpPr/>
          <p:nvPr/>
        </p:nvSpPr>
        <p:spPr>
          <a:xfrm>
            <a:off x="8045768" y="4162425"/>
            <a:ext cx="173926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862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۴٫۵۵×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6248400" y="3562350"/>
            <a:ext cx="1771650" cy="12172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64593" y="3962400"/>
            <a:ext cx="17392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MOIC</a:t>
            </a:r>
            <a:endParaRPr lang="en-US" sz="863" dirty="0"/>
          </a:p>
        </p:txBody>
      </p:sp>
      <p:sp>
        <p:nvSpPr>
          <p:cNvPr id="30" name="Text 28"/>
          <p:cNvSpPr/>
          <p:nvPr/>
        </p:nvSpPr>
        <p:spPr>
          <a:xfrm>
            <a:off x="6264593" y="4162425"/>
            <a:ext cx="173926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862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۵٫۵۵×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9810750" y="4789140"/>
            <a:ext cx="1771650" cy="12172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826943" y="5189190"/>
            <a:ext cx="17392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بازده سالانه‌ی معادل</a:t>
            </a:r>
            <a:endParaRPr lang="en-US" sz="863" dirty="0"/>
          </a:p>
        </p:txBody>
      </p:sp>
      <p:sp>
        <p:nvSpPr>
          <p:cNvPr id="33" name="Text 31"/>
          <p:cNvSpPr/>
          <p:nvPr/>
        </p:nvSpPr>
        <p:spPr>
          <a:xfrm>
            <a:off x="9826943" y="5389215"/>
            <a:ext cx="173926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862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۷۷٪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8029575" y="4789140"/>
            <a:ext cx="1771650" cy="12172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045768" y="5189190"/>
            <a:ext cx="17392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سربه‌سر EBITDA</a:t>
            </a:r>
            <a:endParaRPr lang="en-US" sz="863" dirty="0"/>
          </a:p>
        </p:txBody>
      </p:sp>
      <p:sp>
        <p:nvSpPr>
          <p:cNvPr id="36" name="Text 34"/>
          <p:cNvSpPr/>
          <p:nvPr/>
        </p:nvSpPr>
        <p:spPr>
          <a:xfrm>
            <a:off x="8045768" y="5389215"/>
            <a:ext cx="173926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862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ماه ۱۸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6248400" y="4789140"/>
            <a:ext cx="1771650" cy="12172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264593" y="5189190"/>
            <a:ext cx="17392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تنزیل</a:t>
            </a:r>
            <a:endParaRPr lang="en-US" sz="863" dirty="0"/>
          </a:p>
        </p:txBody>
      </p:sp>
      <p:sp>
        <p:nvSpPr>
          <p:cNvPr id="39" name="Text 37"/>
          <p:cNvSpPr/>
          <p:nvPr/>
        </p:nvSpPr>
        <p:spPr>
          <a:xfrm>
            <a:off x="6264593" y="5389215"/>
            <a:ext cx="1739265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862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۵٪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-247650" y="1733550"/>
            <a:ext cx="58674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 میلیون دلار سرمایه لازم داریم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4339679" y="2447925"/>
            <a:ext cx="1280071" cy="285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4301579" y="2447925"/>
            <a:ext cx="13562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۲۴٪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85899" y="2447925"/>
            <a:ext cx="4053780" cy="2857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44" name="Text 42"/>
          <p:cNvSpPr/>
          <p:nvPr/>
        </p:nvSpPr>
        <p:spPr>
          <a:xfrm>
            <a:off x="225092" y="2447925"/>
            <a:ext cx="41753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۷۶٪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00700" y="2981325"/>
            <a:ext cx="19050" cy="4667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2804160" y="2981325"/>
            <a:ext cx="26822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سوخت نقدی واقعی</a:t>
            </a:r>
            <a:endParaRPr lang="en-US" sz="1013" dirty="0"/>
          </a:p>
        </p:txBody>
      </p:sp>
      <p:sp>
        <p:nvSpPr>
          <p:cNvPr id="47" name="Text 45"/>
          <p:cNvSpPr/>
          <p:nvPr/>
        </p:nvSpPr>
        <p:spPr>
          <a:xfrm>
            <a:off x="2804160" y="3209925"/>
            <a:ext cx="26822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۷۰۰ هزار دلار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838450" y="2981325"/>
            <a:ext cx="19050" cy="4667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49" name="Text 47"/>
          <p:cNvSpPr/>
          <p:nvPr/>
        </p:nvSpPr>
        <p:spPr>
          <a:xfrm>
            <a:off x="41910" y="2981325"/>
            <a:ext cx="26822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سرمایه در گردش خزانه</a:t>
            </a:r>
            <a:endParaRPr lang="en-US" sz="1013" dirty="0"/>
          </a:p>
        </p:txBody>
      </p:sp>
      <p:sp>
        <p:nvSpPr>
          <p:cNvPr id="50" name="Text 48"/>
          <p:cNvSpPr/>
          <p:nvPr/>
        </p:nvSpPr>
        <p:spPr>
          <a:xfrm>
            <a:off x="41910" y="3209925"/>
            <a:ext cx="26822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۲٫۳ میلیون دلار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85750" y="3752850"/>
            <a:ext cx="53340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25730" y="3867150"/>
            <a:ext cx="54940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زمان‌بندی تزریق — تجمعی</a:t>
            </a:r>
            <a:endParaRPr lang="en-US" sz="938" dirty="0"/>
          </a:p>
        </p:txBody>
      </p:sp>
      <p:sp>
        <p:nvSpPr>
          <p:cNvPr id="53" name="Shape 51"/>
          <p:cNvSpPr/>
          <p:nvPr/>
        </p:nvSpPr>
        <p:spPr>
          <a:xfrm>
            <a:off x="285750" y="4600575"/>
            <a:ext cx="5334000" cy="1905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438650" y="4162425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۶۰۰ هزار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 rot="2700000">
            <a:off x="4991100" y="44767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6E6E6E"/>
          </a:solidFill>
          <a:ln/>
        </p:spPr>
      </p:sp>
      <p:sp>
        <p:nvSpPr>
          <p:cNvPr id="56" name="Text 54"/>
          <p:cNvSpPr/>
          <p:nvPr/>
        </p:nvSpPr>
        <p:spPr>
          <a:xfrm>
            <a:off x="4438650" y="4686300"/>
            <a:ext cx="1219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پایان سال ۱</a:t>
            </a:r>
            <a:endParaRPr lang="en-US" sz="863" dirty="0"/>
          </a:p>
        </p:txBody>
      </p:sp>
      <p:sp>
        <p:nvSpPr>
          <p:cNvPr id="57" name="Text 55"/>
          <p:cNvSpPr/>
          <p:nvPr/>
        </p:nvSpPr>
        <p:spPr>
          <a:xfrm>
            <a:off x="2867025" y="4162425"/>
            <a:ext cx="1219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۲٫۶۳M$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 rot="2700000">
            <a:off x="3419475" y="447675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B78206"/>
          </a:solidFill>
          <a:ln/>
        </p:spPr>
      </p:sp>
      <p:sp>
        <p:nvSpPr>
          <p:cNvPr id="59" name="Text 57"/>
          <p:cNvSpPr/>
          <p:nvPr/>
        </p:nvSpPr>
        <p:spPr>
          <a:xfrm>
            <a:off x="2867025" y="4686300"/>
            <a:ext cx="1219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پایان سال ۲</a:t>
            </a:r>
            <a:endParaRPr lang="en-US" sz="863" dirty="0"/>
          </a:p>
        </p:txBody>
      </p:sp>
      <p:sp>
        <p:nvSpPr>
          <p:cNvPr id="60" name="Text 58"/>
          <p:cNvSpPr/>
          <p:nvPr/>
        </p:nvSpPr>
        <p:spPr>
          <a:xfrm>
            <a:off x="176212" y="4162425"/>
            <a:ext cx="24098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8206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۳٫۰۰M$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 rot="2700000">
            <a:off x="1304925" y="4476750"/>
            <a:ext cx="152400" cy="152400"/>
          </a:xfrm>
          <a:prstGeom prst="roundRect">
            <a:avLst>
              <a:gd name="adj" fmla="val 31250"/>
            </a:avLst>
          </a:prstGeom>
          <a:solidFill>
            <a:srgbClr val="FDB913"/>
          </a:solidFill>
          <a:ln/>
        </p:spPr>
      </p:sp>
      <p:sp>
        <p:nvSpPr>
          <p:cNvPr id="62" name="Text 60"/>
          <p:cNvSpPr/>
          <p:nvPr/>
        </p:nvSpPr>
        <p:spPr>
          <a:xfrm>
            <a:off x="176212" y="4705350"/>
            <a:ext cx="24098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اوج — ماه ۲۷، پس از آن تزریق جدید لازم نیست</a:t>
            </a:r>
            <a:endParaRPr lang="en-US" sz="863" dirty="0"/>
          </a:p>
        </p:txBody>
      </p:sp>
      <p:sp>
        <p:nvSpPr>
          <p:cNvPr id="63" name="Text 61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۳۰ / ۴۱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B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86690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552575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000000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123825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000000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923925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000000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60960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۷ · ۷‑۵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0416" y="685800"/>
            <a:ext cx="1130198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12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تصمیم امروز بر مبنای فرض هایی است که در سناریوهای مختلف بسیار اثرگذارند و باید پیش از هر تصمیمی دقیقا سنجیده شوند.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876800" y="1504950"/>
            <a:ext cx="67056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000000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سه سناریو با یک موتور و معیار یکسان</a:t>
            </a:r>
            <a:endParaRPr lang="en-US" sz="938" dirty="0"/>
          </a:p>
        </p:txBody>
      </p:sp>
      <p:sp>
        <p:nvSpPr>
          <p:cNvPr id="10" name="Shape 8"/>
          <p:cNvSpPr/>
          <p:nvPr/>
        </p:nvSpPr>
        <p:spPr>
          <a:xfrm>
            <a:off x="5486400" y="2038350"/>
            <a:ext cx="60960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9528810" y="1800225"/>
            <a:ext cx="20535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شاخص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35315" y="1800225"/>
            <a:ext cx="15506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بدبینانه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25615" y="1800225"/>
            <a:ext cx="15506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15915" y="1800225"/>
            <a:ext cx="15506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خوش‌بینانه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2476500"/>
            <a:ext cx="6096000" cy="9525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528810" y="2166938"/>
            <a:ext cx="20535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کاربر فعال — ماه ۳۶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8235315" y="2166938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۴۹٬۹۴۸</a:t>
            </a:r>
            <a:endParaRPr lang="en-US" sz="1013" dirty="0"/>
          </a:p>
        </p:txBody>
      </p:sp>
      <p:sp>
        <p:nvSpPr>
          <p:cNvPr id="18" name="Shape 16"/>
          <p:cNvSpPr/>
          <p:nvPr/>
        </p:nvSpPr>
        <p:spPr>
          <a:xfrm>
            <a:off x="6896100" y="2057400"/>
            <a:ext cx="1409700" cy="419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057400"/>
            <a:ext cx="14859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۲۲۰٬۶۴۸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5415915" y="2166938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۴۶۲٬۴۵۰</a:t>
            </a:r>
            <a:endParaRPr lang="en-US" sz="1013" dirty="0"/>
          </a:p>
        </p:txBody>
      </p:sp>
      <p:sp>
        <p:nvSpPr>
          <p:cNvPr id="21" name="Shape 19"/>
          <p:cNvSpPr/>
          <p:nvPr/>
        </p:nvSpPr>
        <p:spPr>
          <a:xfrm>
            <a:off x="5486400" y="2905125"/>
            <a:ext cx="6096000" cy="9525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528810" y="2595563"/>
            <a:ext cx="20535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درآمد سال سوم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8235315" y="2595563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۰٫۲۶M$</a:t>
            </a:r>
            <a:endParaRPr lang="en-US" sz="1013" dirty="0"/>
          </a:p>
        </p:txBody>
      </p:sp>
      <p:sp>
        <p:nvSpPr>
          <p:cNvPr id="24" name="Shape 22"/>
          <p:cNvSpPr/>
          <p:nvPr/>
        </p:nvSpPr>
        <p:spPr>
          <a:xfrm>
            <a:off x="6896100" y="2486025"/>
            <a:ext cx="1409700" cy="419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7334845" y="2595563"/>
            <a:ext cx="5323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۴٫۴۳M$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5415915" y="2595563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۲۴٫۱۸M$</a:t>
            </a:r>
            <a:endParaRPr lang="en-US" sz="1013" dirty="0"/>
          </a:p>
        </p:txBody>
      </p:sp>
      <p:sp>
        <p:nvSpPr>
          <p:cNvPr id="27" name="Shape 25"/>
          <p:cNvSpPr/>
          <p:nvPr/>
        </p:nvSpPr>
        <p:spPr>
          <a:xfrm>
            <a:off x="5486400" y="3333750"/>
            <a:ext cx="6096000" cy="9525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528810" y="3024188"/>
            <a:ext cx="20535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EBITDA سال سوم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8235315" y="3024188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−۰٫۸۷M$</a:t>
            </a:r>
            <a:endParaRPr lang="en-US" sz="1013" dirty="0"/>
          </a:p>
        </p:txBody>
      </p:sp>
      <p:sp>
        <p:nvSpPr>
          <p:cNvPr id="30" name="Shape 28"/>
          <p:cNvSpPr/>
          <p:nvPr/>
        </p:nvSpPr>
        <p:spPr>
          <a:xfrm>
            <a:off x="6896100" y="2914650"/>
            <a:ext cx="1409700" cy="419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7332613" y="3024188"/>
            <a:ext cx="5366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+۲٫۷۲M$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5415915" y="3024188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+۲۲٫۰۳M$</a:t>
            </a:r>
            <a:endParaRPr lang="en-US" sz="1013" dirty="0"/>
          </a:p>
        </p:txBody>
      </p:sp>
      <p:sp>
        <p:nvSpPr>
          <p:cNvPr id="33" name="Shape 31"/>
          <p:cNvSpPr/>
          <p:nvPr/>
        </p:nvSpPr>
        <p:spPr>
          <a:xfrm>
            <a:off x="5486400" y="3762375"/>
            <a:ext cx="6096000" cy="9525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528810" y="3452813"/>
            <a:ext cx="20535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اوج نیاز تأمین مالی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8235315" y="3452813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۳٫۲۸M$</a:t>
            </a:r>
            <a:endParaRPr lang="en-US" sz="1013" dirty="0"/>
          </a:p>
        </p:txBody>
      </p:sp>
      <p:sp>
        <p:nvSpPr>
          <p:cNvPr id="36" name="Shape 34"/>
          <p:cNvSpPr/>
          <p:nvPr/>
        </p:nvSpPr>
        <p:spPr>
          <a:xfrm>
            <a:off x="6896100" y="3343275"/>
            <a:ext cx="1409700" cy="419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7352258" y="3452813"/>
            <a:ext cx="4975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۳٫۰۰M$</a:t>
            </a:r>
            <a:endParaRPr lang="en-US" sz="1013" dirty="0"/>
          </a:p>
        </p:txBody>
      </p:sp>
      <p:sp>
        <p:nvSpPr>
          <p:cNvPr id="38" name="Text 36"/>
          <p:cNvSpPr/>
          <p:nvPr/>
        </p:nvSpPr>
        <p:spPr>
          <a:xfrm>
            <a:off x="5415915" y="3452813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۱٫۰۱M$</a:t>
            </a:r>
            <a:endParaRPr lang="en-US" sz="1013" dirty="0"/>
          </a:p>
        </p:txBody>
      </p:sp>
      <p:sp>
        <p:nvSpPr>
          <p:cNvPr id="39" name="Shape 37"/>
          <p:cNvSpPr/>
          <p:nvPr/>
        </p:nvSpPr>
        <p:spPr>
          <a:xfrm>
            <a:off x="5486400" y="4191000"/>
            <a:ext cx="6096000" cy="9525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528810" y="3881438"/>
            <a:ext cx="20535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ارزش شرکت در خروج</a:t>
            </a:r>
            <a:endParaRPr lang="en-US" sz="1013" dirty="0"/>
          </a:p>
        </p:txBody>
      </p:sp>
      <p:sp>
        <p:nvSpPr>
          <p:cNvPr id="41" name="Text 39"/>
          <p:cNvSpPr/>
          <p:nvPr/>
        </p:nvSpPr>
        <p:spPr>
          <a:xfrm>
            <a:off x="8235315" y="3881438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−۴٫۸۰M$</a:t>
            </a:r>
            <a:endParaRPr lang="en-US" sz="1013" dirty="0"/>
          </a:p>
        </p:txBody>
      </p:sp>
      <p:sp>
        <p:nvSpPr>
          <p:cNvPr id="42" name="Shape 40"/>
          <p:cNvSpPr/>
          <p:nvPr/>
        </p:nvSpPr>
        <p:spPr>
          <a:xfrm>
            <a:off x="6896100" y="3771900"/>
            <a:ext cx="1409700" cy="419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7319814" y="3881438"/>
            <a:ext cx="5624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۱۵٫۵۰M$</a:t>
            </a:r>
            <a:endParaRPr lang="en-US" sz="1013" dirty="0"/>
          </a:p>
        </p:txBody>
      </p:sp>
      <p:sp>
        <p:nvSpPr>
          <p:cNvPr id="44" name="Text 42"/>
          <p:cNvSpPr/>
          <p:nvPr/>
        </p:nvSpPr>
        <p:spPr>
          <a:xfrm>
            <a:off x="5415915" y="3881438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۱۸۱٫۵۱M$</a:t>
            </a:r>
            <a:endParaRPr lang="en-US" sz="1013" dirty="0"/>
          </a:p>
        </p:txBody>
      </p:sp>
      <p:sp>
        <p:nvSpPr>
          <p:cNvPr id="45" name="Text 43"/>
          <p:cNvSpPr/>
          <p:nvPr/>
        </p:nvSpPr>
        <p:spPr>
          <a:xfrm>
            <a:off x="9528810" y="4310063"/>
            <a:ext cx="20535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سربه‌سر EBITDA</a:t>
            </a:r>
            <a:endParaRPr lang="en-US" sz="1013" dirty="0"/>
          </a:p>
        </p:txBody>
      </p:sp>
      <p:sp>
        <p:nvSpPr>
          <p:cNvPr id="46" name="Text 44"/>
          <p:cNvSpPr/>
          <p:nvPr/>
        </p:nvSpPr>
        <p:spPr>
          <a:xfrm>
            <a:off x="8235315" y="4310063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محقق نمی‌شود</a:t>
            </a:r>
            <a:endParaRPr lang="en-US" sz="1013" dirty="0"/>
          </a:p>
        </p:txBody>
      </p:sp>
      <p:sp>
        <p:nvSpPr>
          <p:cNvPr id="47" name="Shape 45"/>
          <p:cNvSpPr/>
          <p:nvPr/>
        </p:nvSpPr>
        <p:spPr>
          <a:xfrm>
            <a:off x="6896100" y="4200525"/>
            <a:ext cx="1409700" cy="419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0" y="4200525"/>
            <a:ext cx="14859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ماه ۱۸</a:t>
            </a:r>
            <a:endParaRPr lang="en-US" sz="1013" dirty="0"/>
          </a:p>
        </p:txBody>
      </p:sp>
      <p:sp>
        <p:nvSpPr>
          <p:cNvPr id="49" name="Text 47"/>
          <p:cNvSpPr/>
          <p:nvPr/>
        </p:nvSpPr>
        <p:spPr>
          <a:xfrm>
            <a:off x="5415915" y="4310063"/>
            <a:ext cx="15506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000000">
                    <a:alpha val="6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ماه ۱۱</a:t>
            </a:r>
            <a:endParaRPr lang="en-US" sz="1013" dirty="0"/>
          </a:p>
        </p:txBody>
      </p:sp>
      <p:sp>
        <p:nvSpPr>
          <p:cNvPr id="50" name="Text 48"/>
          <p:cNvSpPr/>
          <p:nvPr/>
        </p:nvSpPr>
        <p:spPr>
          <a:xfrm>
            <a:off x="152400" y="1504950"/>
            <a:ext cx="5029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000000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تورنادو — اثر ±۲۰٪ بر ارزش خروج، میلیون دلار</a:t>
            </a:r>
            <a:endParaRPr lang="en-US" sz="938" dirty="0"/>
          </a:p>
        </p:txBody>
      </p:sp>
      <p:sp>
        <p:nvSpPr>
          <p:cNvPr id="51" name="Text 49"/>
          <p:cNvSpPr/>
          <p:nvPr/>
        </p:nvSpPr>
        <p:spPr>
          <a:xfrm>
            <a:off x="3609975" y="1824038"/>
            <a:ext cx="15716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حجم ماهانه‌ی هر کاربر</a:t>
            </a:r>
            <a:endParaRPr lang="en-US" sz="938" dirty="0"/>
          </a:p>
        </p:txBody>
      </p:sp>
      <p:sp>
        <p:nvSpPr>
          <p:cNvPr id="52" name="Shape 50"/>
          <p:cNvSpPr/>
          <p:nvPr/>
        </p:nvSpPr>
        <p:spPr>
          <a:xfrm>
            <a:off x="1143000" y="1847850"/>
            <a:ext cx="2514600" cy="1333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609600" y="1819275"/>
            <a:ext cx="5143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۹٫۰۷</a:t>
            </a:r>
            <a:endParaRPr lang="en-US" sz="938" dirty="0"/>
          </a:p>
        </p:txBody>
      </p:sp>
      <p:sp>
        <p:nvSpPr>
          <p:cNvPr id="54" name="Text 52"/>
          <p:cNvSpPr/>
          <p:nvPr/>
        </p:nvSpPr>
        <p:spPr>
          <a:xfrm>
            <a:off x="3609975" y="2100263"/>
            <a:ext cx="15716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برداشت</a:t>
            </a:r>
            <a:endParaRPr lang="en-US" sz="938" dirty="0"/>
          </a:p>
        </p:txBody>
      </p:sp>
      <p:sp>
        <p:nvSpPr>
          <p:cNvPr id="55" name="Shape 53"/>
          <p:cNvSpPr/>
          <p:nvPr/>
        </p:nvSpPr>
        <p:spPr>
          <a:xfrm>
            <a:off x="1293912" y="2124075"/>
            <a:ext cx="2363688" cy="1333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6" name="Text 54"/>
          <p:cNvSpPr/>
          <p:nvPr/>
        </p:nvSpPr>
        <p:spPr>
          <a:xfrm>
            <a:off x="609600" y="2095500"/>
            <a:ext cx="5143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۸٫۵۰</a:t>
            </a:r>
            <a:endParaRPr lang="en-US" sz="938" dirty="0"/>
          </a:p>
        </p:txBody>
      </p:sp>
      <p:sp>
        <p:nvSpPr>
          <p:cNvPr id="57" name="Text 55"/>
          <p:cNvSpPr/>
          <p:nvPr/>
        </p:nvSpPr>
        <p:spPr>
          <a:xfrm>
            <a:off x="3609975" y="2376488"/>
            <a:ext cx="15716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نرخ‌های قیف</a:t>
            </a:r>
            <a:endParaRPr lang="en-US" sz="938" dirty="0"/>
          </a:p>
        </p:txBody>
      </p:sp>
      <p:sp>
        <p:nvSpPr>
          <p:cNvPr id="58" name="Shape 56"/>
          <p:cNvSpPr/>
          <p:nvPr/>
        </p:nvSpPr>
        <p:spPr>
          <a:xfrm>
            <a:off x="1469975" y="2400300"/>
            <a:ext cx="2187625" cy="1333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609600" y="2371725"/>
            <a:ext cx="5143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۷٫۹۳</a:t>
            </a:r>
            <a:endParaRPr lang="en-US" sz="938" dirty="0"/>
          </a:p>
        </p:txBody>
      </p:sp>
      <p:sp>
        <p:nvSpPr>
          <p:cNvPr id="60" name="Text 58"/>
          <p:cNvSpPr/>
          <p:nvPr/>
        </p:nvSpPr>
        <p:spPr>
          <a:xfrm>
            <a:off x="3609975" y="2652713"/>
            <a:ext cx="15716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ریزش</a:t>
            </a:r>
            <a:endParaRPr lang="en-US" sz="938" dirty="0"/>
          </a:p>
        </p:txBody>
      </p:sp>
      <p:sp>
        <p:nvSpPr>
          <p:cNvPr id="61" name="Shape 59"/>
          <p:cNvSpPr/>
          <p:nvPr/>
        </p:nvSpPr>
        <p:spPr>
          <a:xfrm>
            <a:off x="2526060" y="2676525"/>
            <a:ext cx="1131540" cy="13335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09600" y="2647950"/>
            <a:ext cx="5143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۴٫۰۶</a:t>
            </a:r>
            <a:endParaRPr lang="en-US" sz="938" dirty="0"/>
          </a:p>
        </p:txBody>
      </p:sp>
      <p:sp>
        <p:nvSpPr>
          <p:cNvPr id="63" name="Text 61"/>
          <p:cNvSpPr/>
          <p:nvPr/>
        </p:nvSpPr>
        <p:spPr>
          <a:xfrm>
            <a:off x="3609975" y="2928938"/>
            <a:ext cx="15716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000000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هزینه‌ی تأمین</a:t>
            </a:r>
            <a:endParaRPr lang="en-US" sz="938" dirty="0"/>
          </a:p>
        </p:txBody>
      </p:sp>
      <p:sp>
        <p:nvSpPr>
          <p:cNvPr id="64" name="Shape 62"/>
          <p:cNvSpPr/>
          <p:nvPr/>
        </p:nvSpPr>
        <p:spPr>
          <a:xfrm>
            <a:off x="3305621" y="2952750"/>
            <a:ext cx="351979" cy="13335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09600" y="2924175"/>
            <a:ext cx="5143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>
                    <a:alpha val="60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۱٫۲۵</a:t>
            </a:r>
            <a:endParaRPr lang="en-US" sz="938" dirty="0"/>
          </a:p>
        </p:txBody>
      </p:sp>
      <p:sp>
        <p:nvSpPr>
          <p:cNvPr id="66" name="Text 64"/>
          <p:cNvSpPr/>
          <p:nvPr/>
        </p:nvSpPr>
        <p:spPr>
          <a:xfrm>
            <a:off x="3609975" y="3205163"/>
            <a:ext cx="15716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000000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هزینه‌ی تشویق</a:t>
            </a:r>
            <a:endParaRPr lang="en-US" sz="938" dirty="0"/>
          </a:p>
        </p:txBody>
      </p:sp>
      <p:sp>
        <p:nvSpPr>
          <p:cNvPr id="67" name="Shape 65"/>
          <p:cNvSpPr/>
          <p:nvPr/>
        </p:nvSpPr>
        <p:spPr>
          <a:xfrm>
            <a:off x="3330773" y="3228975"/>
            <a:ext cx="326827" cy="13335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09600" y="3200400"/>
            <a:ext cx="5143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>
                    <a:alpha val="60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۱٫۱۴</a:t>
            </a:r>
            <a:endParaRPr lang="en-US" sz="938" dirty="0"/>
          </a:p>
        </p:txBody>
      </p:sp>
      <p:sp>
        <p:nvSpPr>
          <p:cNvPr id="69" name="Text 67"/>
          <p:cNvSpPr/>
          <p:nvPr/>
        </p:nvSpPr>
        <p:spPr>
          <a:xfrm>
            <a:off x="3609975" y="3481388"/>
            <a:ext cx="15716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000000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تنزیل</a:t>
            </a:r>
            <a:endParaRPr lang="en-US" sz="938" dirty="0"/>
          </a:p>
        </p:txBody>
      </p:sp>
      <p:sp>
        <p:nvSpPr>
          <p:cNvPr id="70" name="Shape 68"/>
          <p:cNvSpPr/>
          <p:nvPr/>
        </p:nvSpPr>
        <p:spPr>
          <a:xfrm>
            <a:off x="3381077" y="3505200"/>
            <a:ext cx="276523" cy="13335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609600" y="3476625"/>
            <a:ext cx="5143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>
                    <a:alpha val="60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۰٫۹۶</a:t>
            </a:r>
            <a:endParaRPr lang="en-US" sz="938" dirty="0"/>
          </a:p>
        </p:txBody>
      </p:sp>
      <p:sp>
        <p:nvSpPr>
          <p:cNvPr id="72" name="Text 70"/>
          <p:cNvSpPr/>
          <p:nvPr/>
        </p:nvSpPr>
        <p:spPr>
          <a:xfrm>
            <a:off x="3609975" y="3757613"/>
            <a:ext cx="15716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000000">
                    <a:alpha val="6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هزینه‌ی پرسنل</a:t>
            </a:r>
            <a:endParaRPr lang="en-US" sz="938" dirty="0"/>
          </a:p>
        </p:txBody>
      </p:sp>
      <p:sp>
        <p:nvSpPr>
          <p:cNvPr id="73" name="Shape 71"/>
          <p:cNvSpPr/>
          <p:nvPr/>
        </p:nvSpPr>
        <p:spPr>
          <a:xfrm>
            <a:off x="3506837" y="3781425"/>
            <a:ext cx="150763" cy="13335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609600" y="3752850"/>
            <a:ext cx="5143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00000">
                    <a:alpha val="60000"/>
                  </a:srgbClr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۰٫۵۷</a:t>
            </a:r>
            <a:endParaRPr lang="en-US" sz="938" dirty="0"/>
          </a:p>
        </p:txBody>
      </p:sp>
      <p:sp>
        <p:nvSpPr>
          <p:cNvPr id="75" name="Shape 73"/>
          <p:cNvSpPr/>
          <p:nvPr/>
        </p:nvSpPr>
        <p:spPr>
          <a:xfrm>
            <a:off x="609600" y="4076700"/>
            <a:ext cx="45720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6" name="Text 74"/>
          <p:cNvSpPr/>
          <p:nvPr/>
        </p:nvSpPr>
        <p:spPr>
          <a:xfrm>
            <a:off x="472440" y="4200525"/>
            <a:ext cx="4709160" cy="234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8553"/>
              </a:lnSpc>
              <a:buNone/>
            </a:pPr>
            <a:r>
              <a:rPr lang="en-US" sz="938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سه پارامتر اول ۸۰٪ عدم‌قطعیت را می‌سازند</a:t>
            </a:r>
            <a:endParaRPr lang="en-US" sz="938" dirty="0"/>
          </a:p>
        </p:txBody>
      </p:sp>
      <p:sp>
        <p:nvSpPr>
          <p:cNvPr id="77" name="Shape 75"/>
          <p:cNvSpPr/>
          <p:nvPr/>
        </p:nvSpPr>
        <p:spPr>
          <a:xfrm>
            <a:off x="0" y="5086350"/>
            <a:ext cx="12192000" cy="10096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8" name="Text 76"/>
          <p:cNvSpPr/>
          <p:nvPr/>
        </p:nvSpPr>
        <p:spPr>
          <a:xfrm>
            <a:off x="2990850" y="5229225"/>
            <a:ext cx="85915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پنج فرض بی‌داده که فقط با پایلوت حل می‌شوند</a:t>
            </a:r>
            <a:endParaRPr lang="en-US" sz="863" dirty="0"/>
          </a:p>
        </p:txBody>
      </p:sp>
      <p:sp>
        <p:nvSpPr>
          <p:cNvPr id="79" name="Shape 77"/>
          <p:cNvSpPr/>
          <p:nvPr/>
        </p:nvSpPr>
        <p:spPr>
          <a:xfrm>
            <a:off x="9941421" y="5476875"/>
            <a:ext cx="1640979" cy="2476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80" name="Text 78"/>
          <p:cNvSpPr/>
          <p:nvPr/>
        </p:nvSpPr>
        <p:spPr>
          <a:xfrm>
            <a:off x="9950946" y="5514975"/>
            <a:ext cx="15457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حجم ماهانه‌ی هر کاربر — ۲۰۰ دلار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392269" y="5476875"/>
            <a:ext cx="1492002" cy="2476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82" name="Text 80"/>
          <p:cNvSpPr/>
          <p:nvPr/>
        </p:nvSpPr>
        <p:spPr>
          <a:xfrm>
            <a:off x="8401794" y="5514975"/>
            <a:ext cx="13967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تکمیل احراز هویت — ۵۵٪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202686" y="5476875"/>
            <a:ext cx="1132433" cy="2476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84" name="Text 82"/>
          <p:cNvSpPr/>
          <p:nvPr/>
        </p:nvSpPr>
        <p:spPr>
          <a:xfrm>
            <a:off x="7212211" y="5514975"/>
            <a:ext cx="10371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فعال‌سازی — ۶۰٪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244828" y="5476875"/>
            <a:ext cx="900708" cy="2476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86" name="Text 84"/>
          <p:cNvSpPr/>
          <p:nvPr/>
        </p:nvSpPr>
        <p:spPr>
          <a:xfrm>
            <a:off x="6254353" y="5514975"/>
            <a:ext cx="8054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ریزش — ۵٪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047059" y="5476875"/>
            <a:ext cx="1140619" cy="2476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88" name="Text 86"/>
          <p:cNvSpPr/>
          <p:nvPr/>
        </p:nvSpPr>
        <p:spPr>
          <a:xfrm>
            <a:off x="5056584" y="5514975"/>
            <a:ext cx="10453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کانیبالیزیشن طلا — ۵٪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514725" y="5229225"/>
            <a:ext cx="9525" cy="7239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 rot="2700000">
            <a:off x="3000375" y="5229225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pic>
        <p:nvPicPr>
          <p:cNvPr id="9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67050" y="5295900"/>
            <a:ext cx="152400" cy="152400"/>
          </a:xfrm>
          <a:prstGeom prst="rect">
            <a:avLst/>
          </a:prstGeom>
        </p:spPr>
      </p:pic>
      <p:sp>
        <p:nvSpPr>
          <p:cNvPr id="92" name="Text 89"/>
          <p:cNvSpPr/>
          <p:nvPr/>
        </p:nvSpPr>
        <p:spPr>
          <a:xfrm>
            <a:off x="381952" y="5229225"/>
            <a:ext cx="25041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تصمیم امروز: ۷۰۰ هزار دلار</a:t>
            </a:r>
            <a:endParaRPr lang="en-US" sz="1125" dirty="0"/>
          </a:p>
        </p:txBody>
      </p:sp>
      <p:sp>
        <p:nvSpPr>
          <p:cNvPr id="93" name="Text 90"/>
          <p:cNvSpPr/>
          <p:nvPr/>
        </p:nvSpPr>
        <p:spPr>
          <a:xfrm>
            <a:off x="533400" y="5486400"/>
            <a:ext cx="2352675" cy="403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6667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صورت تایید شدن فرض‌ها باید در نظر گرفته شود که نیاز به سوزاندن ۷۰۰ هزار دلار داریم.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000000">
                    <a:alpha val="5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۳۱ / ۴۱</a:t>
            </a:r>
            <a:endParaRPr lang="en-US" sz="825" dirty="0"/>
          </a:p>
        </p:txBody>
      </p:sp>
      <p:sp>
        <p:nvSpPr>
          <p:cNvPr id="95" name="Text 92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000000">
                    <a:alpha val="5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96" name="Text 93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000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0000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095501" y="3047999"/>
            <a:ext cx="5334002" cy="5334002"/>
          </a:xfrm>
          <a:prstGeom prst="roundRect">
            <a:avLst>
              <a:gd name="adj" fmla="val 11429"/>
            </a:avLst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1333501" y="3809999"/>
            <a:ext cx="3810001" cy="3810001"/>
          </a:xfrm>
          <a:prstGeom prst="roundRect">
            <a:avLst>
              <a:gd name="adj" fmla="val 12000"/>
            </a:avLst>
          </a:prstGeom>
          <a:solidFill>
            <a:srgbClr val="6E6E6E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571500" y="4572000"/>
            <a:ext cx="2286001" cy="2286001"/>
          </a:xfrm>
          <a:prstGeom prst="roundRect">
            <a:avLst>
              <a:gd name="adj" fmla="val 13333"/>
            </a:avLst>
          </a:prstGeom>
          <a:solidFill>
            <a:srgbClr val="B7820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33350" y="5276850"/>
            <a:ext cx="876300" cy="876300"/>
          </a:xfrm>
          <a:prstGeom prst="roundRect">
            <a:avLst>
              <a:gd name="adj" fmla="val 17391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>
            <a:off x="5905500" y="1143000"/>
            <a:ext cx="628650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" name="Shape 5"/>
          <p:cNvSpPr/>
          <p:nvPr/>
        </p:nvSpPr>
        <p:spPr>
          <a:xfrm>
            <a:off x="11468100" y="1638300"/>
            <a:ext cx="114300" cy="112395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33950" y="1981200"/>
            <a:ext cx="6286500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65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ریسک‌ها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22645" y="2819400"/>
            <a:ext cx="529780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7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می‌خواهیم بدانیم در مواجهه با ریسک‌های شناسایی شده چه گزینه‌هایی پیش رو داریم؟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0550" y="1638300"/>
            <a:ext cx="4400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78" kern="0" dirty="0">
                <a:solidFill>
                  <a:srgbClr val="FFFFF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فصل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 rot="2700000">
            <a:off x="4800600" y="210978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3" name="Text 11"/>
          <p:cNvSpPr/>
          <p:nvPr/>
        </p:nvSpPr>
        <p:spPr>
          <a:xfrm>
            <a:off x="2467511" y="2076450"/>
            <a:ext cx="21616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شش ریسک، پاسخ و شرط ابطال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0960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3" name="Text 1"/>
          <p:cNvSpPr/>
          <p:nvPr/>
        </p:nvSpPr>
        <p:spPr>
          <a:xfrm>
            <a:off x="11143804" y="419100"/>
            <a:ext cx="4385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شش ریسک، هرکدام با پاسخ و شرطی که ورود را باطل می‌کند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600" y="1704975"/>
            <a:ext cx="109728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9277350" y="1428750"/>
            <a:ext cx="23050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ریسک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227195" y="1428750"/>
            <a:ext cx="52597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پاسخ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405187" y="1428750"/>
            <a:ext cx="13620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باقی‌مانده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23850" y="1428750"/>
            <a:ext cx="3143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شرط عدم ورود به این بیزنس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609600" y="255270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21666" y="2090738"/>
            <a:ext cx="1607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۱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733583" y="2090738"/>
            <a:ext cx="166903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3333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تسری محدودیت به لاین طلا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2403" y="2090291"/>
            <a:ext cx="4734497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تفکیک کامل شرکتی، حقوقی، حسابداری و عملیاتی: شرکت مجزا، حساب مجزا، بانک عامل مجزا.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41415" y="2047875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0525" y="2305050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6" name="Shape 14"/>
          <p:cNvSpPr/>
          <p:nvPr/>
        </p:nvSpPr>
        <p:spPr>
          <a:xfrm>
            <a:off x="4000500" y="2305050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7" name="Shape 15"/>
          <p:cNvSpPr/>
          <p:nvPr/>
        </p:nvSpPr>
        <p:spPr>
          <a:xfrm>
            <a:off x="3800475" y="2305050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18" name="Shape 16"/>
          <p:cNvSpPr/>
          <p:nvPr/>
        </p:nvSpPr>
        <p:spPr>
          <a:xfrm>
            <a:off x="3457575" y="2090291"/>
            <a:ext cx="9525" cy="219968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23875" y="2090291"/>
            <a:ext cx="2743200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اگر تفکیک کامل عملا ممکن نباشد.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600" y="3267075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421666" y="2805113"/>
            <a:ext cx="1607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۲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0917138" y="2805113"/>
            <a:ext cx="485477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3333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تحریمی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2403" y="2694682"/>
            <a:ext cx="4734497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تایید حقوقی مستقل پیش از هر تصمیم؛ ساختار مالکیتی جدا؛ پرهیز از وابستگی مستقیم به صرافی خارجی.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8100" y="2762250"/>
            <a:ext cx="400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متوسط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0525" y="3019425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26" name="Shape 24"/>
          <p:cNvSpPr/>
          <p:nvPr/>
        </p:nvSpPr>
        <p:spPr>
          <a:xfrm>
            <a:off x="4000500" y="3019425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27" name="Shape 25"/>
          <p:cNvSpPr/>
          <p:nvPr/>
        </p:nvSpPr>
        <p:spPr>
          <a:xfrm>
            <a:off x="3800475" y="3019425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57575" y="2694682"/>
            <a:ext cx="9525" cy="439936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23875" y="2694682"/>
            <a:ext cx="274320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اگر مشاور حقوقی مستقل عدم سرریز ریسک به پلتفرم طلا را تایید نکند.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9600" y="398145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421666" y="3519488"/>
            <a:ext cx="1607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0962680" y="3519488"/>
            <a:ext cx="4399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3333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امنیتی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2403" y="3409057"/>
            <a:ext cx="4734497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کاستودی نزد شریک در فاز اول؛ حداقل‌سازی کیف پول گرم؛ ممیزی مستقل پیش از عرضه؛ صندوق جبران.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81438" y="3476625"/>
            <a:ext cx="333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پایین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00525" y="3733800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36" name="Shape 34"/>
          <p:cNvSpPr/>
          <p:nvPr/>
        </p:nvSpPr>
        <p:spPr>
          <a:xfrm>
            <a:off x="4000500" y="3733800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800475" y="3733800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457575" y="3409057"/>
            <a:ext cx="9525" cy="439936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23875" y="3409057"/>
            <a:ext cx="274320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اگر استاندارد امنیتی پیش از عرضه تعیین و مستقر نشود.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9600" y="4695825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1421666" y="4233863"/>
            <a:ext cx="1607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۴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0877848" y="4233863"/>
            <a:ext cx="52476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3333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مقرراتی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2403" y="4233416"/>
            <a:ext cx="4734497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انطباق با لایه‌های در حال اجرا و تاب‌آوری در برابر اقدامات موردی. قابل حذف نیست.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941415" y="4191000"/>
            <a:ext cx="2135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بالا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00525" y="4448175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46" name="Shape 44"/>
          <p:cNvSpPr/>
          <p:nvPr/>
        </p:nvSpPr>
        <p:spPr>
          <a:xfrm>
            <a:off x="4000500" y="4448175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47" name="Shape 45"/>
          <p:cNvSpPr/>
          <p:nvPr/>
        </p:nvSpPr>
        <p:spPr>
          <a:xfrm>
            <a:off x="3800475" y="4448175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48" name="Shape 46"/>
          <p:cNvSpPr/>
          <p:nvPr/>
        </p:nvSpPr>
        <p:spPr>
          <a:xfrm>
            <a:off x="3457575" y="4123432"/>
            <a:ext cx="9525" cy="439936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23875" y="4123432"/>
            <a:ext cx="274320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اگر اقداماتی مثل اقدام بانک مرکزی لاین ریالی رمزارز را کلا ببندد.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1421666" y="4948238"/>
            <a:ext cx="1607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۵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0613380" y="4948238"/>
            <a:ext cx="7892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3333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کانیبالیزیشن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752403" y="4947791"/>
            <a:ext cx="4734497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پایلوت با گروه کنترل؛ پایش شاخص‌های طلا از فاز ۲ تا پایان فاز ۴.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881438" y="4905375"/>
            <a:ext cx="333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پایین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200525" y="5162550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56" name="Shape 54"/>
          <p:cNvSpPr/>
          <p:nvPr/>
        </p:nvSpPr>
        <p:spPr>
          <a:xfrm>
            <a:off x="4000500" y="5162550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800475" y="5162550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457575" y="4837807"/>
            <a:ext cx="9525" cy="439936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23875" y="4837807"/>
            <a:ext cx="274320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اگر افت شاخص‌های کسب‌وکار طلا از آستانه‌ی توافق‌شده عبور کند.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09600" y="6124575"/>
            <a:ext cx="109728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1421666" y="5662613"/>
            <a:ext cx="1607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DB91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۶</a:t>
            </a:r>
            <a:endParaRPr lang="en-US" sz="1125" dirty="0"/>
          </a:p>
        </p:txBody>
      </p:sp>
      <p:sp>
        <p:nvSpPr>
          <p:cNvPr id="62" name="Text 60"/>
          <p:cNvSpPr/>
          <p:nvPr/>
        </p:nvSpPr>
        <p:spPr>
          <a:xfrm>
            <a:off x="10055602" y="5662613"/>
            <a:ext cx="1347014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3333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زیرساخت و اتکاپذیری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752403" y="5662166"/>
            <a:ext cx="4734497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تامین‌کننده‌ی نقدینگی پشتیبان؛ سقف حجم در پایلوت؛ پنل عملیات با کنترل دستی.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881438" y="5619750"/>
            <a:ext cx="333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پایین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200525" y="5876925"/>
            <a:ext cx="171450" cy="47625"/>
          </a:xfrm>
          <a:prstGeom prst="roundRect">
            <a:avLst>
              <a:gd name="adj" fmla="val 20000"/>
            </a:avLst>
          </a:prstGeom>
          <a:solidFill>
            <a:srgbClr val="FDB913"/>
          </a:solidFill>
          <a:ln/>
        </p:spPr>
      </p:sp>
      <p:sp>
        <p:nvSpPr>
          <p:cNvPr id="66" name="Shape 64"/>
          <p:cNvSpPr/>
          <p:nvPr/>
        </p:nvSpPr>
        <p:spPr>
          <a:xfrm>
            <a:off x="4000500" y="5876925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800475" y="5876925"/>
            <a:ext cx="171450" cy="47625"/>
          </a:xfrm>
          <a:prstGeom prst="roundRect">
            <a:avLst>
              <a:gd name="adj" fmla="val 20000"/>
            </a:avLst>
          </a:prstGeom>
          <a:solidFill>
            <a:srgbClr val="000000">
              <a:alpha val="13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457575" y="5662166"/>
            <a:ext cx="9525" cy="219968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523875" y="5662166"/>
            <a:ext cx="2743200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اگر پایداری فنی در پایلوت احراز نشود.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۳۳ / ۴۱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72" name="Text 70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095501" y="3047999"/>
            <a:ext cx="5334002" cy="5334002"/>
          </a:xfrm>
          <a:prstGeom prst="roundRect">
            <a:avLst>
              <a:gd name="adj" fmla="val 11429"/>
            </a:avLst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1333501" y="3809999"/>
            <a:ext cx="3810001" cy="3810001"/>
          </a:xfrm>
          <a:prstGeom prst="roundRect">
            <a:avLst>
              <a:gd name="adj" fmla="val 12000"/>
            </a:avLst>
          </a:prstGeom>
          <a:solidFill>
            <a:srgbClr val="6E6E6E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571500" y="4572000"/>
            <a:ext cx="2286001" cy="2286001"/>
          </a:xfrm>
          <a:prstGeom prst="roundRect">
            <a:avLst>
              <a:gd name="adj" fmla="val 13333"/>
            </a:avLst>
          </a:prstGeom>
          <a:solidFill>
            <a:srgbClr val="B7820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33350" y="5276850"/>
            <a:ext cx="876300" cy="876300"/>
          </a:xfrm>
          <a:prstGeom prst="roundRect">
            <a:avLst>
              <a:gd name="adj" fmla="val 17391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>
            <a:off x="5905500" y="1143000"/>
            <a:ext cx="628650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" name="Shape 5"/>
          <p:cNvSpPr/>
          <p:nvPr/>
        </p:nvSpPr>
        <p:spPr>
          <a:xfrm>
            <a:off x="11468100" y="1638300"/>
            <a:ext cx="114300" cy="112395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۰۹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33950" y="1981200"/>
            <a:ext cx="6286500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65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نقشه راه و سازمان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22645" y="2819400"/>
            <a:ext cx="5297805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7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ترسیم نقشه راه میدانیم به جز فاز صفر در مابقی فازها شرط عبور به فاز بعد زمان نیست بلکه محقق شدن شروط هر فاز است.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0550" y="1638300"/>
            <a:ext cx="4400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78" kern="0" dirty="0">
                <a:solidFill>
                  <a:srgbClr val="FFFFF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فصل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 rot="2700000">
            <a:off x="4800600" y="210978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3" name="Text 11"/>
          <p:cNvSpPr/>
          <p:nvPr/>
        </p:nvSpPr>
        <p:spPr>
          <a:xfrm>
            <a:off x="1615723" y="2076450"/>
            <a:ext cx="30134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نقشه راه: شش فاز و شرط عبور از این فازها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rot="2700000">
            <a:off x="4800600" y="261461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5" name="Text 13"/>
          <p:cNvSpPr/>
          <p:nvPr/>
        </p:nvSpPr>
        <p:spPr>
          <a:xfrm>
            <a:off x="2719626" y="2581275"/>
            <a:ext cx="19095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ساختار سازمانی چگونه است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 rot="2700000">
            <a:off x="4800600" y="311943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7" name="Text 15"/>
          <p:cNvSpPr/>
          <p:nvPr/>
        </p:nvSpPr>
        <p:spPr>
          <a:xfrm>
            <a:off x="2577197" y="3086100"/>
            <a:ext cx="205195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اصول سازمان و تفکیک وظایف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27635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42975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۹ · ۹‑۱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شش فاز، هیچ‌کدام بدون عبور از دروازه‌ی فاز قبل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3238500"/>
            <a:ext cx="12192000" cy="6096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524250"/>
            <a:ext cx="12192000" cy="381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9" name="Shape 7"/>
          <p:cNvSpPr/>
          <p:nvPr/>
        </p:nvSpPr>
        <p:spPr>
          <a:xfrm>
            <a:off x="9477375" y="3238500"/>
            <a:ext cx="95250" cy="6096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10106025" y="32670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-2700000">
            <a:off x="10274498" y="3395663"/>
            <a:ext cx="19645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372725" y="3105150"/>
            <a:ext cx="19050" cy="1333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01150" y="1219200"/>
            <a:ext cx="2362200" cy="1885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9193530" y="1390650"/>
            <a:ext cx="217932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636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پیش‌نیاز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9193530" y="1678186"/>
            <a:ext cx="2179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ماه ۱ تا ۲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15450" y="1982986"/>
            <a:ext cx="205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34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آزمون فرضها ، ثبت شرکت، انتخاب بانک عامل.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9391650" y="2440186"/>
            <a:ext cx="19812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325225" y="2564011"/>
            <a:ext cx="47625" cy="400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9" name="Text 17"/>
          <p:cNvSpPr/>
          <p:nvPr/>
        </p:nvSpPr>
        <p:spPr>
          <a:xfrm>
            <a:off x="9315450" y="2564011"/>
            <a:ext cx="1914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هر پنج فرض تایید شود؛ در غیر این صورت توقف.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62875" y="3238500"/>
            <a:ext cx="95250" cy="6096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391525" y="32670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 rot="-2700000">
            <a:off x="8585002" y="3395663"/>
            <a:ext cx="14644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658225" y="3848100"/>
            <a:ext cx="19050" cy="1333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486650" y="3981450"/>
            <a:ext cx="2362200" cy="1885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5" name="Text 23"/>
          <p:cNvSpPr/>
          <p:nvPr/>
        </p:nvSpPr>
        <p:spPr>
          <a:xfrm>
            <a:off x="7479030" y="4152900"/>
            <a:ext cx="217932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636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توسعه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7479030" y="4440436"/>
            <a:ext cx="2179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ماه ۱ تا ۳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00950" y="4745236"/>
            <a:ext cx="205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34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MVP سواپ تتر و ۴ تا ۶ دارایی، خزانه و پنل عملیات.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7677150" y="5372100"/>
            <a:ext cx="19812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610725" y="5495925"/>
            <a:ext cx="47625" cy="2000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0" name="Text 28"/>
          <p:cNvSpPr/>
          <p:nvPr/>
        </p:nvSpPr>
        <p:spPr>
          <a:xfrm>
            <a:off x="7922568" y="5495925"/>
            <a:ext cx="15929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عبور از ممیزی امنیتی مستقل.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48375" y="3238500"/>
            <a:ext cx="95250" cy="6096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2" name="Shape 30"/>
          <p:cNvSpPr/>
          <p:nvPr/>
        </p:nvSpPr>
        <p:spPr>
          <a:xfrm rot="2700000">
            <a:off x="6677025" y="32670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1F1F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 rot="-2700000">
            <a:off x="6847433" y="3395663"/>
            <a:ext cx="1925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943725" y="3105150"/>
            <a:ext cx="19050" cy="1333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72150" y="1219200"/>
            <a:ext cx="2362200" cy="1885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6" name="Text 34"/>
          <p:cNvSpPr/>
          <p:nvPr/>
        </p:nvSpPr>
        <p:spPr>
          <a:xfrm>
            <a:off x="5764530" y="1390650"/>
            <a:ext cx="217932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636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پایلوت بسته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5764530" y="1678186"/>
            <a:ext cx="2179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ماه ۴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86450" y="1982986"/>
            <a:ext cx="205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34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محدود با سقف کاربر و حجم؛ آزمون عملیاتی، نه رشد.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5962650" y="2440186"/>
            <a:ext cx="19812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96225" y="2564011"/>
            <a:ext cx="47625" cy="400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41" name="Text 39"/>
          <p:cNvSpPr/>
          <p:nvPr/>
        </p:nvSpPr>
        <p:spPr>
          <a:xfrm>
            <a:off x="5886450" y="2564011"/>
            <a:ext cx="1914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پایداری فنی، صحت تسویه، کنترل رویدادهای امنیتی.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33875" y="3238500"/>
            <a:ext cx="95250" cy="6096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43" name="Shape 41"/>
          <p:cNvSpPr/>
          <p:nvPr/>
        </p:nvSpPr>
        <p:spPr>
          <a:xfrm rot="2700000">
            <a:off x="4962525" y="32670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1F1F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 rot="-2700000">
            <a:off x="5107632" y="3395663"/>
            <a:ext cx="2431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229225" y="3848100"/>
            <a:ext cx="19050" cy="1333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57650" y="3981450"/>
            <a:ext cx="2362200" cy="1885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7" name="Text 45"/>
          <p:cNvSpPr/>
          <p:nvPr/>
        </p:nvSpPr>
        <p:spPr>
          <a:xfrm>
            <a:off x="4050030" y="4152900"/>
            <a:ext cx="217932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636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عرضه‌ی محدود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4050030" y="4440436"/>
            <a:ext cx="2179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ماه ۵ تا ۶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171950" y="4745236"/>
            <a:ext cx="205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34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ثبت‌نام عمومی، بازاریابی ریفرالی، پایش شاخص‌های طلا.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4248150" y="5202436"/>
            <a:ext cx="19812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181725" y="5326261"/>
            <a:ext cx="47625" cy="400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52" name="Text 50"/>
          <p:cNvSpPr/>
          <p:nvPr/>
        </p:nvSpPr>
        <p:spPr>
          <a:xfrm>
            <a:off x="4171950" y="5326261"/>
            <a:ext cx="1914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نرخ ها در محدوده‌ی فرض های آزمون شده.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619375" y="3238500"/>
            <a:ext cx="95250" cy="6096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54" name="Shape 52"/>
          <p:cNvSpPr/>
          <p:nvPr/>
        </p:nvSpPr>
        <p:spPr>
          <a:xfrm rot="2700000">
            <a:off x="3248025" y="32670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1F1F1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 rot="-2700000">
            <a:off x="3402657" y="3395663"/>
            <a:ext cx="2241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۴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3514725" y="3105150"/>
            <a:ext cx="19050" cy="1333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343150" y="1219200"/>
            <a:ext cx="2362200" cy="1885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8" name="Text 56"/>
          <p:cNvSpPr/>
          <p:nvPr/>
        </p:nvSpPr>
        <p:spPr>
          <a:xfrm>
            <a:off x="2335530" y="1390650"/>
            <a:ext cx="217932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636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گسترش دامنه</a:t>
            </a:r>
            <a:endParaRPr lang="en-US" sz="1575" dirty="0"/>
          </a:p>
        </p:txBody>
      </p:sp>
      <p:sp>
        <p:nvSpPr>
          <p:cNvPr id="59" name="Text 57"/>
          <p:cNvSpPr/>
          <p:nvPr/>
        </p:nvSpPr>
        <p:spPr>
          <a:xfrm>
            <a:off x="2335530" y="1678186"/>
            <a:ext cx="2179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ماه ۷ تا ۸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457450" y="1982986"/>
            <a:ext cx="205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34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تا ۱۵ دارایی با مدل پشت‌به‌پشت؛ تثبیت خزانه.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2533650" y="2440186"/>
            <a:ext cx="19812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467225" y="2564011"/>
            <a:ext cx="47625" cy="400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63" name="Text 61"/>
          <p:cNvSpPr/>
          <p:nvPr/>
        </p:nvSpPr>
        <p:spPr>
          <a:xfrm>
            <a:off x="2457450" y="2564011"/>
            <a:ext cx="1914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ثبات عملیاتی و رسیدن حجم معامله به آستانه مد نظر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04875" y="3238500"/>
            <a:ext cx="95250" cy="6096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65" name="Shape 63"/>
          <p:cNvSpPr/>
          <p:nvPr/>
        </p:nvSpPr>
        <p:spPr>
          <a:xfrm rot="2700000">
            <a:off x="1533525" y="32670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1F1F1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 rot="-2700000">
            <a:off x="1684586" y="3395663"/>
            <a:ext cx="2312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۵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800225" y="3848100"/>
            <a:ext cx="19050" cy="13335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28650" y="3981450"/>
            <a:ext cx="2362200" cy="1885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9" name="Text 67"/>
          <p:cNvSpPr/>
          <p:nvPr/>
        </p:nvSpPr>
        <p:spPr>
          <a:xfrm>
            <a:off x="621030" y="4152900"/>
            <a:ext cx="217932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636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بلوغ</a:t>
            </a:r>
            <a:endParaRPr lang="en-US" sz="1575" dirty="0"/>
          </a:p>
        </p:txBody>
      </p:sp>
      <p:sp>
        <p:nvSpPr>
          <p:cNvPr id="70" name="Text 68"/>
          <p:cNvSpPr/>
          <p:nvPr/>
        </p:nvSpPr>
        <p:spPr>
          <a:xfrm>
            <a:off x="621030" y="4440436"/>
            <a:ext cx="2179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ماه ۹ به بعد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742950" y="4745236"/>
            <a:ext cx="205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4348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انتقال دارایی‌های پرگردش به بازارگردانی داخلی.</a:t>
            </a:r>
            <a:endParaRPr lang="en-US" sz="1125" dirty="0"/>
          </a:p>
        </p:txBody>
      </p:sp>
      <p:sp>
        <p:nvSpPr>
          <p:cNvPr id="72" name="Shape 70"/>
          <p:cNvSpPr/>
          <p:nvPr/>
        </p:nvSpPr>
        <p:spPr>
          <a:xfrm>
            <a:off x="819150" y="5202436"/>
            <a:ext cx="1981200" cy="9525"/>
          </a:xfrm>
          <a:prstGeom prst="rect">
            <a:avLst/>
          </a:prstGeom>
          <a:solidFill>
            <a:srgbClr val="000000">
              <a:alpha val="1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2752725" y="5326261"/>
            <a:ext cx="47625" cy="4000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4" name="Text 72"/>
          <p:cNvSpPr/>
          <p:nvPr/>
        </p:nvSpPr>
        <p:spPr>
          <a:xfrm>
            <a:off x="742950" y="5326261"/>
            <a:ext cx="19145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اقتصاد واحد تعیین شده و تعیین ماموریت و اهداف بزنس جدید.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۳۵ / ۴۱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77" name="Text 75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25730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4297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۹ · ۹‑۲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هشت واحد، و تعداد نفرات هر واحد در دو مقطع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667250" y="1428750"/>
            <a:ext cx="2857500" cy="10191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5895975" y="15621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91225" y="1657350"/>
            <a:ext cx="209550" cy="2095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84924" y="2038350"/>
            <a:ext cx="1022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مدیریت واحد</a:t>
            </a:r>
            <a:endParaRPr lang="en-US" sz="1425" dirty="0"/>
          </a:p>
        </p:txBody>
      </p:sp>
      <p:sp>
        <p:nvSpPr>
          <p:cNvPr id="11" name="Shape 8"/>
          <p:cNvSpPr/>
          <p:nvPr/>
        </p:nvSpPr>
        <p:spPr>
          <a:xfrm>
            <a:off x="6086475" y="2419350"/>
            <a:ext cx="19050" cy="20955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152650" y="2628900"/>
            <a:ext cx="7886700" cy="1905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0029825" y="2628900"/>
            <a:ext cx="19050" cy="190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448800" y="2819400"/>
            <a:ext cx="1181100" cy="1123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Shape 12"/>
          <p:cNvSpPr/>
          <p:nvPr/>
        </p:nvSpPr>
        <p:spPr>
          <a:xfrm rot="2700000">
            <a:off x="9867900" y="29527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DB91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4575" y="3019425"/>
            <a:ext cx="209550" cy="2095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10576" y="3381375"/>
            <a:ext cx="857696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109"/>
              </a:lnSpc>
              <a:buNone/>
            </a:pPr>
            <a:r>
              <a:rPr lang="en-US" sz="108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فنی و محصول</a:t>
            </a:r>
            <a:endParaRPr lang="en-US" sz="1088" dirty="0"/>
          </a:p>
        </p:txBody>
      </p:sp>
      <p:sp>
        <p:nvSpPr>
          <p:cNvPr id="18" name="Shape 14"/>
          <p:cNvSpPr/>
          <p:nvPr/>
        </p:nvSpPr>
        <p:spPr>
          <a:xfrm>
            <a:off x="8715375" y="2628900"/>
            <a:ext cx="19050" cy="190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8134350" y="2819400"/>
            <a:ext cx="1181100" cy="1123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Shape 16"/>
          <p:cNvSpPr/>
          <p:nvPr/>
        </p:nvSpPr>
        <p:spPr>
          <a:xfrm rot="2700000">
            <a:off x="8553450" y="29527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DB91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20125" y="3019425"/>
            <a:ext cx="209550" cy="2095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91500" y="3381375"/>
            <a:ext cx="1066800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109"/>
              </a:lnSpc>
              <a:buNone/>
            </a:pPr>
            <a:r>
              <a:rPr lang="en-US" sz="108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عملیات و خزانه‌داری</a:t>
            </a:r>
            <a:endParaRPr lang="en-US" sz="1088" dirty="0"/>
          </a:p>
        </p:txBody>
      </p:sp>
      <p:sp>
        <p:nvSpPr>
          <p:cNvPr id="23" name="Shape 18"/>
          <p:cNvSpPr/>
          <p:nvPr/>
        </p:nvSpPr>
        <p:spPr>
          <a:xfrm>
            <a:off x="7400925" y="2628900"/>
            <a:ext cx="19050" cy="190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6819900" y="2819400"/>
            <a:ext cx="1181100" cy="1123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5" name="Shape 20"/>
          <p:cNvSpPr/>
          <p:nvPr/>
        </p:nvSpPr>
        <p:spPr>
          <a:xfrm rot="2700000">
            <a:off x="7239000" y="29527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DB913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05675" y="3019425"/>
            <a:ext cx="209550" cy="2095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77050" y="3381375"/>
            <a:ext cx="1066800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109"/>
              </a:lnSpc>
              <a:buNone/>
            </a:pPr>
            <a:r>
              <a:rPr lang="en-US" sz="108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پارتنرشیپ و رگولاتوری</a:t>
            </a:r>
            <a:endParaRPr lang="en-US" sz="1088" dirty="0"/>
          </a:p>
        </p:txBody>
      </p:sp>
      <p:sp>
        <p:nvSpPr>
          <p:cNvPr id="28" name="Shape 22"/>
          <p:cNvSpPr/>
          <p:nvPr/>
        </p:nvSpPr>
        <p:spPr>
          <a:xfrm>
            <a:off x="6086475" y="2628900"/>
            <a:ext cx="19050" cy="190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5505450" y="2819400"/>
            <a:ext cx="1181100" cy="1123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Shape 24"/>
          <p:cNvSpPr/>
          <p:nvPr/>
        </p:nvSpPr>
        <p:spPr>
          <a:xfrm rot="2700000">
            <a:off x="5924550" y="29527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DB913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91225" y="3019425"/>
            <a:ext cx="209550" cy="2095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828109" y="3381375"/>
            <a:ext cx="535930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109"/>
              </a:lnSpc>
              <a:buNone/>
            </a:pPr>
            <a:r>
              <a:rPr lang="en-US" sz="108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بازاریابی</a:t>
            </a:r>
            <a:endParaRPr lang="en-US" sz="1088" dirty="0"/>
          </a:p>
        </p:txBody>
      </p:sp>
      <p:sp>
        <p:nvSpPr>
          <p:cNvPr id="33" name="Shape 26"/>
          <p:cNvSpPr/>
          <p:nvPr/>
        </p:nvSpPr>
        <p:spPr>
          <a:xfrm>
            <a:off x="4772025" y="2628900"/>
            <a:ext cx="19050" cy="190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4" name="Shape 27"/>
          <p:cNvSpPr/>
          <p:nvPr/>
        </p:nvSpPr>
        <p:spPr>
          <a:xfrm>
            <a:off x="4191000" y="2819400"/>
            <a:ext cx="1181100" cy="1123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5" name="Shape 28"/>
          <p:cNvSpPr/>
          <p:nvPr/>
        </p:nvSpPr>
        <p:spPr>
          <a:xfrm rot="2700000">
            <a:off x="4610100" y="29527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DB913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76775" y="3019425"/>
            <a:ext cx="209550" cy="20955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498032" y="3381375"/>
            <a:ext cx="567184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109"/>
              </a:lnSpc>
              <a:buNone/>
            </a:pPr>
            <a:r>
              <a:rPr lang="en-US" sz="108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پشتیبانی</a:t>
            </a:r>
            <a:endParaRPr lang="en-US" sz="1088" dirty="0"/>
          </a:p>
        </p:txBody>
      </p:sp>
      <p:sp>
        <p:nvSpPr>
          <p:cNvPr id="38" name="Shape 30"/>
          <p:cNvSpPr/>
          <p:nvPr/>
        </p:nvSpPr>
        <p:spPr>
          <a:xfrm>
            <a:off x="3457575" y="2628900"/>
            <a:ext cx="19050" cy="190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9" name="Shape 31"/>
          <p:cNvSpPr/>
          <p:nvPr/>
        </p:nvSpPr>
        <p:spPr>
          <a:xfrm>
            <a:off x="2876550" y="2819400"/>
            <a:ext cx="1181100" cy="1123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0" name="Shape 32"/>
          <p:cNvSpPr/>
          <p:nvPr/>
        </p:nvSpPr>
        <p:spPr>
          <a:xfrm rot="2700000">
            <a:off x="3295650" y="29527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DB913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62325" y="3019425"/>
            <a:ext cx="209550" cy="20955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3158877" y="3381375"/>
            <a:ext cx="616595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109"/>
              </a:lnSpc>
              <a:buNone/>
            </a:pPr>
            <a:r>
              <a:rPr lang="en-US" sz="108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حسابداری</a:t>
            </a:r>
            <a:endParaRPr lang="en-US" sz="1088" dirty="0"/>
          </a:p>
        </p:txBody>
      </p:sp>
      <p:sp>
        <p:nvSpPr>
          <p:cNvPr id="43" name="Shape 34"/>
          <p:cNvSpPr/>
          <p:nvPr/>
        </p:nvSpPr>
        <p:spPr>
          <a:xfrm>
            <a:off x="2143125" y="2628900"/>
            <a:ext cx="19050" cy="190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4" name="Shape 35"/>
          <p:cNvSpPr/>
          <p:nvPr/>
        </p:nvSpPr>
        <p:spPr>
          <a:xfrm>
            <a:off x="1562100" y="2819400"/>
            <a:ext cx="1181100" cy="112395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5" name="Shape 36"/>
          <p:cNvSpPr/>
          <p:nvPr/>
        </p:nvSpPr>
        <p:spPr>
          <a:xfrm rot="2700000">
            <a:off x="1981200" y="29527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DB913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47875" y="3019425"/>
            <a:ext cx="209550" cy="20955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1619250" y="3381375"/>
            <a:ext cx="1066800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5109"/>
              </a:lnSpc>
              <a:buNone/>
            </a:pPr>
            <a:r>
              <a:rPr lang="en-US" sz="1088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منابع انسانی و اداری</a:t>
            </a:r>
            <a:endParaRPr lang="en-US" sz="1088" dirty="0"/>
          </a:p>
        </p:txBody>
      </p:sp>
      <p:sp>
        <p:nvSpPr>
          <p:cNvPr id="48" name="Shape 38"/>
          <p:cNvSpPr/>
          <p:nvPr/>
        </p:nvSpPr>
        <p:spPr>
          <a:xfrm>
            <a:off x="0" y="4133850"/>
            <a:ext cx="12192000" cy="1066800"/>
          </a:xfrm>
          <a:prstGeom prst="rect">
            <a:avLst/>
          </a:prstGeom>
          <a:solidFill>
            <a:srgbClr val="D3D2D0"/>
          </a:solidFill>
          <a:ln/>
        </p:spPr>
      </p:sp>
      <p:sp>
        <p:nvSpPr>
          <p:cNvPr id="49" name="Text 39"/>
          <p:cNvSpPr/>
          <p:nvPr/>
        </p:nvSpPr>
        <p:spPr>
          <a:xfrm>
            <a:off x="228600" y="4343400"/>
            <a:ext cx="1383030" cy="23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6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پایان سال اول</a:t>
            </a:r>
            <a:endParaRPr lang="en-US" sz="1275" dirty="0"/>
          </a:p>
        </p:txBody>
      </p:sp>
      <p:sp>
        <p:nvSpPr>
          <p:cNvPr id="50" name="Text 40"/>
          <p:cNvSpPr/>
          <p:nvPr/>
        </p:nvSpPr>
        <p:spPr>
          <a:xfrm>
            <a:off x="228600" y="4594771"/>
            <a:ext cx="13830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116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۱۵ </a:t>
            </a:r>
            <a:pPr algn="l" indent="0" marL="0">
              <a:lnSpc>
                <a:spcPct val="65116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نفر</a:t>
            </a:r>
            <a:endParaRPr lang="en-US" sz="2100" dirty="0"/>
          </a:p>
        </p:txBody>
      </p:sp>
      <p:sp>
        <p:nvSpPr>
          <p:cNvPr id="51" name="Shape 41"/>
          <p:cNvSpPr/>
          <p:nvPr/>
        </p:nvSpPr>
        <p:spPr>
          <a:xfrm>
            <a:off x="9448800" y="4419600"/>
            <a:ext cx="1181100" cy="49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2"/>
          <p:cNvSpPr/>
          <p:nvPr/>
        </p:nvSpPr>
        <p:spPr>
          <a:xfrm>
            <a:off x="9410700" y="441960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</a:t>
            </a:r>
            <a:endParaRPr lang="en-US" sz="1950" dirty="0"/>
          </a:p>
        </p:txBody>
      </p:sp>
      <p:sp>
        <p:nvSpPr>
          <p:cNvPr id="53" name="Shape 43"/>
          <p:cNvSpPr/>
          <p:nvPr/>
        </p:nvSpPr>
        <p:spPr>
          <a:xfrm>
            <a:off x="8134350" y="4419600"/>
            <a:ext cx="1181100" cy="49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44"/>
          <p:cNvSpPr/>
          <p:nvPr/>
        </p:nvSpPr>
        <p:spPr>
          <a:xfrm>
            <a:off x="8096250" y="441960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950" dirty="0"/>
          </a:p>
        </p:txBody>
      </p:sp>
      <p:sp>
        <p:nvSpPr>
          <p:cNvPr id="55" name="Shape 45"/>
          <p:cNvSpPr/>
          <p:nvPr/>
        </p:nvSpPr>
        <p:spPr>
          <a:xfrm>
            <a:off x="6819900" y="4419600"/>
            <a:ext cx="1181100" cy="49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46"/>
          <p:cNvSpPr/>
          <p:nvPr/>
        </p:nvSpPr>
        <p:spPr>
          <a:xfrm>
            <a:off x="6781800" y="441960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950" dirty="0"/>
          </a:p>
        </p:txBody>
      </p:sp>
      <p:sp>
        <p:nvSpPr>
          <p:cNvPr id="57" name="Shape 47"/>
          <p:cNvSpPr/>
          <p:nvPr/>
        </p:nvSpPr>
        <p:spPr>
          <a:xfrm>
            <a:off x="5505450" y="4419600"/>
            <a:ext cx="1181100" cy="49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48"/>
          <p:cNvSpPr/>
          <p:nvPr/>
        </p:nvSpPr>
        <p:spPr>
          <a:xfrm>
            <a:off x="5467350" y="441960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۳</a:t>
            </a:r>
            <a:endParaRPr lang="en-US" sz="1950" dirty="0"/>
          </a:p>
        </p:txBody>
      </p:sp>
      <p:sp>
        <p:nvSpPr>
          <p:cNvPr id="59" name="Shape 49"/>
          <p:cNvSpPr/>
          <p:nvPr/>
        </p:nvSpPr>
        <p:spPr>
          <a:xfrm>
            <a:off x="4191000" y="4419600"/>
            <a:ext cx="1181100" cy="49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0"/>
          <p:cNvSpPr/>
          <p:nvPr/>
        </p:nvSpPr>
        <p:spPr>
          <a:xfrm>
            <a:off x="4152900" y="441960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۴</a:t>
            </a:r>
            <a:endParaRPr lang="en-US" sz="1950" dirty="0"/>
          </a:p>
        </p:txBody>
      </p:sp>
      <p:sp>
        <p:nvSpPr>
          <p:cNvPr id="61" name="Shape 51"/>
          <p:cNvSpPr/>
          <p:nvPr/>
        </p:nvSpPr>
        <p:spPr>
          <a:xfrm>
            <a:off x="2876550" y="4419600"/>
            <a:ext cx="1181100" cy="49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2"/>
          <p:cNvSpPr/>
          <p:nvPr/>
        </p:nvSpPr>
        <p:spPr>
          <a:xfrm>
            <a:off x="2838450" y="441960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950" dirty="0"/>
          </a:p>
        </p:txBody>
      </p:sp>
      <p:sp>
        <p:nvSpPr>
          <p:cNvPr id="63" name="Shape 53"/>
          <p:cNvSpPr/>
          <p:nvPr/>
        </p:nvSpPr>
        <p:spPr>
          <a:xfrm>
            <a:off x="1562100" y="4419600"/>
            <a:ext cx="1181100" cy="49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54"/>
          <p:cNvSpPr/>
          <p:nvPr/>
        </p:nvSpPr>
        <p:spPr>
          <a:xfrm>
            <a:off x="1524000" y="441960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950" dirty="0"/>
          </a:p>
        </p:txBody>
      </p:sp>
      <p:sp>
        <p:nvSpPr>
          <p:cNvPr id="65" name="Shape 55"/>
          <p:cNvSpPr/>
          <p:nvPr/>
        </p:nvSpPr>
        <p:spPr>
          <a:xfrm>
            <a:off x="0" y="5295900"/>
            <a:ext cx="12192000" cy="1066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6" name="Text 56"/>
          <p:cNvSpPr/>
          <p:nvPr/>
        </p:nvSpPr>
        <p:spPr>
          <a:xfrm>
            <a:off x="228600" y="5505450"/>
            <a:ext cx="1383030" cy="23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6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پایان سال سوم</a:t>
            </a:r>
            <a:endParaRPr lang="en-US" sz="1275" dirty="0"/>
          </a:p>
        </p:txBody>
      </p:sp>
      <p:sp>
        <p:nvSpPr>
          <p:cNvPr id="67" name="Text 57"/>
          <p:cNvSpPr/>
          <p:nvPr/>
        </p:nvSpPr>
        <p:spPr>
          <a:xfrm>
            <a:off x="228600" y="5756821"/>
            <a:ext cx="13830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116"/>
              </a:lnSpc>
              <a:buNone/>
            </a:pPr>
            <a:r>
              <a:rPr lang="en-US" sz="210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۲۳ </a:t>
            </a:r>
            <a:pPr algn="l" indent="0" marL="0">
              <a:lnSpc>
                <a:spcPct val="65116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نفر</a:t>
            </a:r>
            <a:endParaRPr lang="en-US" sz="2100" dirty="0"/>
          </a:p>
        </p:txBody>
      </p:sp>
      <p:sp>
        <p:nvSpPr>
          <p:cNvPr id="68" name="Shape 58"/>
          <p:cNvSpPr/>
          <p:nvPr/>
        </p:nvSpPr>
        <p:spPr>
          <a:xfrm>
            <a:off x="9448800" y="5581650"/>
            <a:ext cx="1181100" cy="4953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69" name="Text 59"/>
          <p:cNvSpPr/>
          <p:nvPr/>
        </p:nvSpPr>
        <p:spPr>
          <a:xfrm>
            <a:off x="9410700" y="558165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۵</a:t>
            </a:r>
            <a:endParaRPr lang="en-US" sz="1950" dirty="0"/>
          </a:p>
        </p:txBody>
      </p:sp>
      <p:sp>
        <p:nvSpPr>
          <p:cNvPr id="70" name="Shape 60"/>
          <p:cNvSpPr/>
          <p:nvPr/>
        </p:nvSpPr>
        <p:spPr>
          <a:xfrm>
            <a:off x="8134350" y="5581650"/>
            <a:ext cx="1181100" cy="4953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1" name="Text 61"/>
          <p:cNvSpPr/>
          <p:nvPr/>
        </p:nvSpPr>
        <p:spPr>
          <a:xfrm>
            <a:off x="8096250" y="558165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</a:t>
            </a:r>
            <a:endParaRPr lang="en-US" sz="1950" dirty="0"/>
          </a:p>
        </p:txBody>
      </p:sp>
      <p:sp>
        <p:nvSpPr>
          <p:cNvPr id="72" name="Shape 62"/>
          <p:cNvSpPr/>
          <p:nvPr/>
        </p:nvSpPr>
        <p:spPr>
          <a:xfrm>
            <a:off x="6819900" y="5581650"/>
            <a:ext cx="1181100" cy="4953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3" name="Text 63"/>
          <p:cNvSpPr/>
          <p:nvPr/>
        </p:nvSpPr>
        <p:spPr>
          <a:xfrm>
            <a:off x="6781800" y="558165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950" dirty="0"/>
          </a:p>
        </p:txBody>
      </p:sp>
      <p:sp>
        <p:nvSpPr>
          <p:cNvPr id="74" name="Shape 64"/>
          <p:cNvSpPr/>
          <p:nvPr/>
        </p:nvSpPr>
        <p:spPr>
          <a:xfrm>
            <a:off x="5505450" y="5581650"/>
            <a:ext cx="1181100" cy="4953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5" name="Text 65"/>
          <p:cNvSpPr/>
          <p:nvPr/>
        </p:nvSpPr>
        <p:spPr>
          <a:xfrm>
            <a:off x="5467350" y="558165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۵</a:t>
            </a:r>
            <a:endParaRPr lang="en-US" sz="1950" dirty="0"/>
          </a:p>
        </p:txBody>
      </p:sp>
      <p:sp>
        <p:nvSpPr>
          <p:cNvPr id="76" name="Shape 66"/>
          <p:cNvSpPr/>
          <p:nvPr/>
        </p:nvSpPr>
        <p:spPr>
          <a:xfrm>
            <a:off x="4191000" y="5581650"/>
            <a:ext cx="1181100" cy="4953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7" name="Text 67"/>
          <p:cNvSpPr/>
          <p:nvPr/>
        </p:nvSpPr>
        <p:spPr>
          <a:xfrm>
            <a:off x="4152900" y="558165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۶</a:t>
            </a:r>
            <a:endParaRPr lang="en-US" sz="1950" dirty="0"/>
          </a:p>
        </p:txBody>
      </p:sp>
      <p:sp>
        <p:nvSpPr>
          <p:cNvPr id="78" name="Shape 68"/>
          <p:cNvSpPr/>
          <p:nvPr/>
        </p:nvSpPr>
        <p:spPr>
          <a:xfrm>
            <a:off x="2876550" y="5581650"/>
            <a:ext cx="1181100" cy="4953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9" name="Text 69"/>
          <p:cNvSpPr/>
          <p:nvPr/>
        </p:nvSpPr>
        <p:spPr>
          <a:xfrm>
            <a:off x="2838450" y="558165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۲</a:t>
            </a:r>
            <a:endParaRPr lang="en-US" sz="1950" dirty="0"/>
          </a:p>
        </p:txBody>
      </p:sp>
      <p:sp>
        <p:nvSpPr>
          <p:cNvPr id="80" name="Shape 70"/>
          <p:cNvSpPr/>
          <p:nvPr/>
        </p:nvSpPr>
        <p:spPr>
          <a:xfrm>
            <a:off x="1562100" y="5581650"/>
            <a:ext cx="1181100" cy="4953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81" name="Text 71"/>
          <p:cNvSpPr/>
          <p:nvPr/>
        </p:nvSpPr>
        <p:spPr>
          <a:xfrm>
            <a:off x="1524000" y="5581650"/>
            <a:ext cx="1257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</a:t>
            </a:r>
            <a:endParaRPr lang="en-US" sz="1950" dirty="0"/>
          </a:p>
        </p:txBody>
      </p:sp>
      <p:sp>
        <p:nvSpPr>
          <p:cNvPr id="82" name="Text 72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۳۶ / ۴۱</a:t>
            </a:r>
            <a:endParaRPr lang="en-US" sz="825" dirty="0"/>
          </a:p>
        </p:txBody>
      </p:sp>
      <p:sp>
        <p:nvSpPr>
          <p:cNvPr id="83" name="Text 73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84" name="Text 74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57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2573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923925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609600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238875"/>
            <a:ext cx="12192000" cy="6191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0847040" y="419100"/>
            <a:ext cx="735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>
                    <a:alpha val="5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۹ · ۹‑۳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استقلال عملیاتی کامل؛ اشتراک فقط در حوزه‌ی کم‌ریسک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128099" y="0"/>
            <a:ext cx="4063901" cy="6905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753850" y="1490663"/>
            <a:ext cx="114300" cy="114300"/>
          </a:xfrm>
          <a:prstGeom prst="ellipse">
            <a:avLst/>
          </a:prstGeom>
          <a:solidFill>
            <a:srgbClr val="FDB913"/>
          </a:solidFill>
          <a:ln/>
        </p:spPr>
      </p:sp>
      <p:sp>
        <p:nvSpPr>
          <p:cNvPr id="11" name="Text 9"/>
          <p:cNvSpPr/>
          <p:nvPr/>
        </p:nvSpPr>
        <p:spPr>
          <a:xfrm>
            <a:off x="10307821" y="1428750"/>
            <a:ext cx="135077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اصول طراحی سازمان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51949" y="1819275"/>
            <a:ext cx="3416201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110329" y="1952625"/>
            <a:ext cx="37578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517"/>
              </a:lnSpc>
              <a:buNone/>
            </a:pPr>
            <a:r>
              <a:rPr lang="en-US" sz="1425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۰۱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8349463" y="2209800"/>
            <a:ext cx="3518687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تیم کوچک و متکی بر ابزارهای هوش مصنوعی. نیروی جدید، نه انتقال از میلی.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51949" y="3248025"/>
            <a:ext cx="3416201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110329" y="3381375"/>
            <a:ext cx="37578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517"/>
              </a:lnSpc>
              <a:buNone/>
            </a:pPr>
            <a:r>
              <a:rPr lang="en-US" sz="1425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۰۲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8349463" y="3638550"/>
            <a:ext cx="3518687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استقلال عملیاتی کامل؛ خدمات پشتیبان مثل مارکتینگ قابل اشتراک‌گذاری‌اند.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51949" y="4676775"/>
            <a:ext cx="3416201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110329" y="4810125"/>
            <a:ext cx="37578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517"/>
              </a:lnSpc>
              <a:buNone/>
            </a:pPr>
            <a:r>
              <a:rPr lang="en-US" sz="1425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۰۳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8349463" y="5067300"/>
            <a:ext cx="351868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رشد تعداد نفرات تابع رشد کاربر است، نه تابع بودجه.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4050" y="0"/>
            <a:ext cx="4064050" cy="6905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2" name="Shape 20"/>
          <p:cNvSpPr/>
          <p:nvPr/>
        </p:nvSpPr>
        <p:spPr>
          <a:xfrm>
            <a:off x="7728049" y="1490663"/>
            <a:ext cx="114300" cy="1143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695182" y="1428750"/>
            <a:ext cx="93761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تفکیک وظایف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9800" y="1819275"/>
            <a:ext cx="3492550" cy="9525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000545" y="1952625"/>
            <a:ext cx="38418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517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۰۱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4245023" y="2209800"/>
            <a:ext cx="3597326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هیچ فرد واحدی نباید هم‌زمان دسترسی به کلید کیف پول و اختیار تایید برداشت داشته باشد.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49800" y="3248025"/>
            <a:ext cx="3492550" cy="9525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000545" y="3381375"/>
            <a:ext cx="38418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517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۰۲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4245023" y="3638550"/>
            <a:ext cx="3597326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برداشت از کیف پول سرد نیازمند تایید حداقل دو نفر از دو حوزه‌ی متفاوت است.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49800" y="4676775"/>
            <a:ext cx="3492550" cy="9525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000545" y="4810125"/>
            <a:ext cx="38418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517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۰۳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4245023" y="5067300"/>
            <a:ext cx="3597326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مدیر واحد مسیر گزارش‌دهی مستقل به مدیریت یا هیئت‌مدیره دارد، نه از طریق عملیات یا سایر تیم‌ها.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49" y="0"/>
            <a:ext cx="4063901" cy="69056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4" name="Shape 32"/>
          <p:cNvSpPr/>
          <p:nvPr/>
        </p:nvSpPr>
        <p:spPr>
          <a:xfrm>
            <a:off x="3625900" y="1490663"/>
            <a:ext cx="114300" cy="114300"/>
          </a:xfrm>
          <a:prstGeom prst="ellipse">
            <a:avLst/>
          </a:prstGeom>
          <a:solidFill>
            <a:srgbClr val="FDB913"/>
          </a:solidFill>
          <a:ln/>
        </p:spPr>
      </p:sp>
      <p:sp>
        <p:nvSpPr>
          <p:cNvPr id="35" name="Text 33"/>
          <p:cNvSpPr/>
          <p:nvPr/>
        </p:nvSpPr>
        <p:spPr>
          <a:xfrm>
            <a:off x="2719239" y="1428750"/>
            <a:ext cx="81141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خدمات گروه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9749" y="1819275"/>
            <a:ext cx="3130451" cy="9525"/>
          </a:xfrm>
          <a:prstGeom prst="rect">
            <a:avLst/>
          </a:prstGeom>
          <a:solidFill>
            <a:srgbClr val="000000">
              <a:alpha val="1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105710" y="1933575"/>
            <a:ext cx="163449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909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حقوقی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79428" y="2180183"/>
            <a:ext cx="460772" cy="2266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3288953" y="2227808"/>
            <a:ext cx="365522" cy="1695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76667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مستقل</a:t>
            </a:r>
            <a:endParaRPr lang="en-US" sz="863" dirty="0"/>
          </a:p>
        </p:txBody>
      </p:sp>
      <p:sp>
        <p:nvSpPr>
          <p:cNvPr id="40" name="Text 38"/>
          <p:cNvSpPr/>
          <p:nvPr/>
        </p:nvSpPr>
        <p:spPr>
          <a:xfrm>
            <a:off x="533549" y="1933575"/>
            <a:ext cx="1568351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1842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مشاور اختصاصی و دائمی؛ الزام ناشی از شکایات کاربران</a:t>
            </a:r>
            <a:endParaRPr lang="en-US" sz="938" dirty="0"/>
          </a:p>
        </p:txBody>
      </p:sp>
      <p:sp>
        <p:nvSpPr>
          <p:cNvPr id="41" name="Shape 39"/>
          <p:cNvSpPr/>
          <p:nvPr/>
        </p:nvSpPr>
        <p:spPr>
          <a:xfrm>
            <a:off x="609749" y="2533650"/>
            <a:ext cx="3130451" cy="9525"/>
          </a:xfrm>
          <a:prstGeom prst="rect">
            <a:avLst/>
          </a:prstGeom>
          <a:solidFill>
            <a:srgbClr val="000000">
              <a:alpha val="16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2105710" y="2647950"/>
            <a:ext cx="163449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909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مالی و حسابداری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79428" y="2894558"/>
            <a:ext cx="460772" cy="2266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3288953" y="2942183"/>
            <a:ext cx="365522" cy="1695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76667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مستقل</a:t>
            </a:r>
            <a:endParaRPr lang="en-US" sz="863" dirty="0"/>
          </a:p>
        </p:txBody>
      </p:sp>
      <p:sp>
        <p:nvSpPr>
          <p:cNvPr id="45" name="Text 43"/>
          <p:cNvSpPr/>
          <p:nvPr/>
        </p:nvSpPr>
        <p:spPr>
          <a:xfrm>
            <a:off x="533549" y="2647950"/>
            <a:ext cx="1568351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1842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دفاتر کاملا جدا — الزام تفکیک شرکتی، پایه‌ی کل استراتژی</a:t>
            </a:r>
            <a:endParaRPr lang="en-US" sz="938" dirty="0"/>
          </a:p>
        </p:txBody>
      </p:sp>
      <p:sp>
        <p:nvSpPr>
          <p:cNvPr id="46" name="Shape 44"/>
          <p:cNvSpPr/>
          <p:nvPr/>
        </p:nvSpPr>
        <p:spPr>
          <a:xfrm>
            <a:off x="609749" y="3248025"/>
            <a:ext cx="3130451" cy="9525"/>
          </a:xfrm>
          <a:prstGeom prst="rect">
            <a:avLst/>
          </a:prstGeom>
          <a:solidFill>
            <a:srgbClr val="000000">
              <a:alpha val="16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105710" y="3362325"/>
            <a:ext cx="163449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909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فنی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822079" y="3656558"/>
            <a:ext cx="832396" cy="1695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76667"/>
              </a:lnSpc>
              <a:buNone/>
            </a:pPr>
            <a:r>
              <a:rPr lang="en-US" sz="863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مستقل با هماهنگی</a:t>
            </a:r>
            <a:endParaRPr lang="en-US" sz="863" dirty="0"/>
          </a:p>
        </p:txBody>
      </p:sp>
      <p:sp>
        <p:nvSpPr>
          <p:cNvPr id="49" name="Text 47"/>
          <p:cNvSpPr/>
          <p:nvPr/>
        </p:nvSpPr>
        <p:spPr>
          <a:xfrm>
            <a:off x="533549" y="3362325"/>
            <a:ext cx="1568351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1842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هماهنگی با فنی میلی فقط در نقطه‌ی اتصال ورود کاربر</a:t>
            </a:r>
            <a:endParaRPr lang="en-US" sz="938" dirty="0"/>
          </a:p>
        </p:txBody>
      </p:sp>
      <p:sp>
        <p:nvSpPr>
          <p:cNvPr id="50" name="Shape 48"/>
          <p:cNvSpPr/>
          <p:nvPr/>
        </p:nvSpPr>
        <p:spPr>
          <a:xfrm>
            <a:off x="609749" y="3962400"/>
            <a:ext cx="3130451" cy="9525"/>
          </a:xfrm>
          <a:prstGeom prst="rect">
            <a:avLst/>
          </a:prstGeom>
          <a:solidFill>
            <a:srgbClr val="000000">
              <a:alpha val="16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2105710" y="4076700"/>
            <a:ext cx="163449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909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بازاریابی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822079" y="4370933"/>
            <a:ext cx="832396" cy="1695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76667"/>
              </a:lnSpc>
              <a:buNone/>
            </a:pPr>
            <a:r>
              <a:rPr lang="en-US" sz="863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مستقل با هماهنگی</a:t>
            </a:r>
            <a:endParaRPr lang="en-US" sz="863" dirty="0"/>
          </a:p>
        </p:txBody>
      </p:sp>
      <p:sp>
        <p:nvSpPr>
          <p:cNvPr id="53" name="Text 51"/>
          <p:cNvSpPr/>
          <p:nvPr/>
        </p:nvSpPr>
        <p:spPr>
          <a:xfrm>
            <a:off x="533549" y="4076700"/>
            <a:ext cx="1568351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1842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کانال ورود از میلی نیازمند توافق سطح خدمات مکتوب است</a:t>
            </a:r>
            <a:endParaRPr lang="en-US" sz="938" dirty="0"/>
          </a:p>
        </p:txBody>
      </p:sp>
      <p:sp>
        <p:nvSpPr>
          <p:cNvPr id="54" name="Shape 52"/>
          <p:cNvSpPr/>
          <p:nvPr/>
        </p:nvSpPr>
        <p:spPr>
          <a:xfrm>
            <a:off x="609749" y="4676775"/>
            <a:ext cx="3130451" cy="9525"/>
          </a:xfrm>
          <a:prstGeom prst="rect">
            <a:avLst/>
          </a:prstGeom>
          <a:solidFill>
            <a:srgbClr val="000000">
              <a:alpha val="16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2105710" y="4791075"/>
            <a:ext cx="163449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909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پشتیبانی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79428" y="5037683"/>
            <a:ext cx="460772" cy="22666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3288953" y="5085308"/>
            <a:ext cx="365522" cy="1695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76667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مستقل</a:t>
            </a:r>
            <a:endParaRPr lang="en-US" sz="863" dirty="0"/>
          </a:p>
        </p:txBody>
      </p:sp>
      <p:sp>
        <p:nvSpPr>
          <p:cNvPr id="58" name="Text 56"/>
          <p:cNvSpPr/>
          <p:nvPr/>
        </p:nvSpPr>
        <p:spPr>
          <a:xfrm>
            <a:off x="533549" y="4791075"/>
            <a:ext cx="1568351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1842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دامنه‌ی دانش کاملاً متفاوت است</a:t>
            </a:r>
            <a:endParaRPr lang="en-US" sz="938" dirty="0"/>
          </a:p>
        </p:txBody>
      </p:sp>
      <p:sp>
        <p:nvSpPr>
          <p:cNvPr id="59" name="Shape 57"/>
          <p:cNvSpPr/>
          <p:nvPr/>
        </p:nvSpPr>
        <p:spPr>
          <a:xfrm>
            <a:off x="609749" y="5391150"/>
            <a:ext cx="3130451" cy="9525"/>
          </a:xfrm>
          <a:prstGeom prst="rect">
            <a:avLst/>
          </a:prstGeom>
          <a:solidFill>
            <a:srgbClr val="000000">
              <a:alpha val="16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2105710" y="5505450"/>
            <a:ext cx="163449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909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منابع انسانی و اداری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04802" y="5752058"/>
            <a:ext cx="1035397" cy="22666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62" name="Text 60"/>
          <p:cNvSpPr/>
          <p:nvPr/>
        </p:nvSpPr>
        <p:spPr>
          <a:xfrm>
            <a:off x="2714327" y="5799683"/>
            <a:ext cx="940147" cy="1695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76667"/>
              </a:lnSpc>
              <a:buNone/>
            </a:pPr>
            <a:r>
              <a:rPr lang="en-US" sz="863" dirty="0">
                <a:solidFill>
                  <a:srgbClr val="00000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قابل اشتراک در ابتدا</a:t>
            </a:r>
            <a:endParaRPr lang="en-US" sz="863" dirty="0"/>
          </a:p>
        </p:txBody>
      </p:sp>
      <p:sp>
        <p:nvSpPr>
          <p:cNvPr id="63" name="Text 61"/>
          <p:cNvSpPr/>
          <p:nvPr/>
        </p:nvSpPr>
        <p:spPr>
          <a:xfrm>
            <a:off x="533549" y="5505450"/>
            <a:ext cx="1568351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1842"/>
              </a:lnSpc>
              <a:buNone/>
            </a:pPr>
            <a:r>
              <a:rPr lang="en-US" sz="93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تنها حوزه‌ی کم‌ریسک برای اشتراک</a:t>
            </a:r>
            <a:endParaRPr lang="en-US" sz="938" dirty="0"/>
          </a:p>
        </p:txBody>
      </p:sp>
      <p:sp>
        <p:nvSpPr>
          <p:cNvPr id="64" name="Text 62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۳۷ / ۴۱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095501" y="3047999"/>
            <a:ext cx="5334002" cy="5334002"/>
          </a:xfrm>
          <a:prstGeom prst="roundRect">
            <a:avLst>
              <a:gd name="adj" fmla="val 11429"/>
            </a:avLst>
          </a:prstGeom>
          <a:solidFill>
            <a:srgbClr val="404040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1333501" y="3809999"/>
            <a:ext cx="3810001" cy="3810001"/>
          </a:xfrm>
          <a:prstGeom prst="roundRect">
            <a:avLst>
              <a:gd name="adj" fmla="val 12000"/>
            </a:avLst>
          </a:prstGeom>
          <a:solidFill>
            <a:srgbClr val="6E6E6E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571500" y="4572000"/>
            <a:ext cx="2286001" cy="2286001"/>
          </a:xfrm>
          <a:prstGeom prst="roundRect">
            <a:avLst>
              <a:gd name="adj" fmla="val 13333"/>
            </a:avLst>
          </a:prstGeom>
          <a:solidFill>
            <a:srgbClr val="B7820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33350" y="5276850"/>
            <a:ext cx="876300" cy="876300"/>
          </a:xfrm>
          <a:prstGeom prst="roundRect">
            <a:avLst>
              <a:gd name="adj" fmla="val 17391"/>
            </a:avLst>
          </a:prstGeom>
          <a:solidFill>
            <a:srgbClr val="FDB913"/>
          </a:solidFill>
          <a:ln/>
        </p:spPr>
      </p:sp>
      <p:sp>
        <p:nvSpPr>
          <p:cNvPr id="6" name="Shape 4"/>
          <p:cNvSpPr/>
          <p:nvPr/>
        </p:nvSpPr>
        <p:spPr>
          <a:xfrm>
            <a:off x="5905500" y="1143000"/>
            <a:ext cx="6286500" cy="47625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7" name="Shape 5"/>
          <p:cNvSpPr/>
          <p:nvPr/>
        </p:nvSpPr>
        <p:spPr>
          <a:xfrm>
            <a:off x="11468100" y="1638300"/>
            <a:ext cx="114300" cy="112395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FDB913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۱۰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33950" y="1981200"/>
            <a:ext cx="6286500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565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بسته تصمیم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22645" y="2819400"/>
            <a:ext cx="529780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72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خروجی نهایی تصویب موارد اساسی است که در این سند به آن پرداخته شده است.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0550" y="1638300"/>
            <a:ext cx="4400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78" kern="0" dirty="0">
                <a:solidFill>
                  <a:srgbClr val="FFFFF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این فصل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 rot="2700000">
            <a:off x="4800600" y="2109787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3" name="Text 11"/>
          <p:cNvSpPr/>
          <p:nvPr/>
        </p:nvSpPr>
        <p:spPr>
          <a:xfrm>
            <a:off x="1358860" y="2076450"/>
            <a:ext cx="327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درباره چه چیزهایی باید تصمیم نهایی را بگیریم؟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rot="2700000">
            <a:off x="4800600" y="261461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309" y="2581275"/>
            <a:ext cx="22058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چه صورت در میانه راه باز می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42975" y="523875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09600" y="514350"/>
            <a:ext cx="228600" cy="228600"/>
          </a:xfrm>
          <a:prstGeom prst="roundRect">
            <a:avLst>
              <a:gd name="adj" fmla="val 29167"/>
            </a:avLst>
          </a:prstGeom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89580" y="419100"/>
            <a:ext cx="8928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۱۰ · ۱۰‑۱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-487680" y="704850"/>
            <a:ext cx="1207008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شش تصمیم که امروز از هیئت‌مدیره خواسته می‌شود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1428750"/>
            <a:ext cx="12192000" cy="685800"/>
          </a:xfrm>
          <a:prstGeom prst="rect">
            <a:avLst/>
          </a:prstGeom>
          <a:solidFill>
            <a:srgbClr val="FDB913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-381000" y="1390650"/>
            <a:ext cx="1162050" cy="1162050"/>
          </a:xfrm>
          <a:prstGeom prst="roundRect">
            <a:avLst>
              <a:gd name="adj" fmla="val 14754"/>
            </a:avLst>
          </a:prstGeom>
          <a:ln w="9525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144250" y="1552575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B91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49025" y="165735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88985" y="1666875"/>
            <a:ext cx="2457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8A64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۰۱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355360" y="1654076"/>
            <a:ext cx="2200275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172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تایید جهت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8326785" y="1562100"/>
            <a:ext cx="19050" cy="4191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3" name="Text 10"/>
          <p:cNvSpPr/>
          <p:nvPr/>
        </p:nvSpPr>
        <p:spPr>
          <a:xfrm>
            <a:off x="384371" y="1653778"/>
            <a:ext cx="7732864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7609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حرکت به سمت گزینه‌ی ب — سواپ محدود، با هویت حقوقی مستقل و مسیر ورود از اپ میلی.</a:t>
            </a:r>
            <a:endParaRPr lang="en-US" sz="1125" dirty="0"/>
          </a:p>
        </p:txBody>
      </p:sp>
      <p:sp>
        <p:nvSpPr>
          <p:cNvPr id="14" name="Shape 11"/>
          <p:cNvSpPr/>
          <p:nvPr/>
        </p:nvSpPr>
        <p:spPr>
          <a:xfrm>
            <a:off x="0" y="2190750"/>
            <a:ext cx="12192000" cy="6858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Shape 12"/>
          <p:cNvSpPr/>
          <p:nvPr/>
        </p:nvSpPr>
        <p:spPr>
          <a:xfrm rot="2700000">
            <a:off x="-381000" y="2152650"/>
            <a:ext cx="1162050" cy="1162050"/>
          </a:xfrm>
          <a:prstGeom prst="roundRect">
            <a:avLst>
              <a:gd name="adj" fmla="val 14754"/>
            </a:avLst>
          </a:prstGeom>
          <a:ln w="9525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2700000">
            <a:off x="11144250" y="2314575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B91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9025" y="241935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646718" y="2428875"/>
            <a:ext cx="28798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8A64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۰۲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8313093" y="2416076"/>
            <a:ext cx="2200275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172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تایید فاز صفر</a:t>
            </a:r>
            <a:endParaRPr lang="en-US" sz="1425" dirty="0"/>
          </a:p>
        </p:txBody>
      </p:sp>
      <p:sp>
        <p:nvSpPr>
          <p:cNvPr id="20" name="Shape 16"/>
          <p:cNvSpPr/>
          <p:nvPr/>
        </p:nvSpPr>
        <p:spPr>
          <a:xfrm>
            <a:off x="8284518" y="2324100"/>
            <a:ext cx="19050" cy="4191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1" name="Text 17"/>
          <p:cNvSpPr/>
          <p:nvPr/>
        </p:nvSpPr>
        <p:spPr>
          <a:xfrm>
            <a:off x="385639" y="2415778"/>
            <a:ext cx="7689329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7609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اجرای آزمون فرض‌های بحرانی در ماه ۱ تا ۲، موازی با آغاز توسعه. هزینه‌کرد سنگین منوط به تایید فرض‌هاست.</a:t>
            </a:r>
            <a:endParaRPr lang="en-US" sz="1125" dirty="0"/>
          </a:p>
        </p:txBody>
      </p:sp>
      <p:sp>
        <p:nvSpPr>
          <p:cNvPr id="22" name="Shape 18"/>
          <p:cNvSpPr/>
          <p:nvPr/>
        </p:nvSpPr>
        <p:spPr>
          <a:xfrm>
            <a:off x="0" y="2952750"/>
            <a:ext cx="12192000" cy="6858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3" name="Shape 19"/>
          <p:cNvSpPr/>
          <p:nvPr/>
        </p:nvSpPr>
        <p:spPr>
          <a:xfrm rot="2700000">
            <a:off x="-381000" y="2914650"/>
            <a:ext cx="1162050" cy="1162050"/>
          </a:xfrm>
          <a:prstGeom prst="roundRect">
            <a:avLst>
              <a:gd name="adj" fmla="val 14754"/>
            </a:avLst>
          </a:prstGeom>
          <a:ln w="9525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 rot="2700000">
            <a:off x="11144250" y="3076575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B913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49025" y="318135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600283" y="3190875"/>
            <a:ext cx="33441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8A64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۰۳</a:t>
            </a:r>
            <a:endParaRPr lang="en-US" sz="1650" dirty="0"/>
          </a:p>
        </p:txBody>
      </p:sp>
      <p:sp>
        <p:nvSpPr>
          <p:cNvPr id="27" name="Text 22"/>
          <p:cNvSpPr/>
          <p:nvPr/>
        </p:nvSpPr>
        <p:spPr>
          <a:xfrm>
            <a:off x="8266658" y="3178076"/>
            <a:ext cx="2200275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172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تعهد سرمایه</a:t>
            </a:r>
            <a:endParaRPr lang="en-US" sz="1425" dirty="0"/>
          </a:p>
        </p:txBody>
      </p:sp>
      <p:sp>
        <p:nvSpPr>
          <p:cNvPr id="28" name="Shape 23"/>
          <p:cNvSpPr/>
          <p:nvPr/>
        </p:nvSpPr>
        <p:spPr>
          <a:xfrm>
            <a:off x="8238083" y="3086100"/>
            <a:ext cx="19050" cy="4191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9" name="Text 24"/>
          <p:cNvSpPr/>
          <p:nvPr/>
        </p:nvSpPr>
        <p:spPr>
          <a:xfrm>
            <a:off x="387032" y="3177778"/>
            <a:ext cx="7641501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7609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اوج نیاز سه میلیون دلار است که به صورت سرمایه در گردش باقی می‌ماند.</a:t>
            </a:r>
            <a:endParaRPr lang="en-US" sz="1125" dirty="0"/>
          </a:p>
        </p:txBody>
      </p:sp>
      <p:sp>
        <p:nvSpPr>
          <p:cNvPr id="30" name="Shape 25"/>
          <p:cNvSpPr/>
          <p:nvPr/>
        </p:nvSpPr>
        <p:spPr>
          <a:xfrm>
            <a:off x="0" y="3714750"/>
            <a:ext cx="12192000" cy="6858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1" name="Shape 26"/>
          <p:cNvSpPr/>
          <p:nvPr/>
        </p:nvSpPr>
        <p:spPr>
          <a:xfrm rot="2700000">
            <a:off x="-381000" y="3676650"/>
            <a:ext cx="1162050" cy="1162050"/>
          </a:xfrm>
          <a:prstGeom prst="roundRect">
            <a:avLst>
              <a:gd name="adj" fmla="val 14754"/>
            </a:avLst>
          </a:prstGeom>
          <a:ln w="9525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 rot="2700000">
            <a:off x="11144250" y="3838575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B913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49025" y="3943350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617696" y="3952875"/>
            <a:ext cx="3170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8A64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۰۴</a:t>
            </a:r>
            <a:endParaRPr lang="en-US" sz="1650" dirty="0"/>
          </a:p>
        </p:txBody>
      </p:sp>
      <p:sp>
        <p:nvSpPr>
          <p:cNvPr id="35" name="Text 29"/>
          <p:cNvSpPr/>
          <p:nvPr/>
        </p:nvSpPr>
        <p:spPr>
          <a:xfrm>
            <a:off x="8284071" y="3940076"/>
            <a:ext cx="2200275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172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تثبیت معیارهای توقف</a:t>
            </a:r>
            <a:endParaRPr lang="en-US" sz="1425" dirty="0"/>
          </a:p>
        </p:txBody>
      </p:sp>
      <p:sp>
        <p:nvSpPr>
          <p:cNvPr id="36" name="Shape 30"/>
          <p:cNvSpPr/>
          <p:nvPr/>
        </p:nvSpPr>
        <p:spPr>
          <a:xfrm>
            <a:off x="8255496" y="3848100"/>
            <a:ext cx="19050" cy="4191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7" name="Text 31"/>
          <p:cNvSpPr/>
          <p:nvPr/>
        </p:nvSpPr>
        <p:spPr>
          <a:xfrm>
            <a:off x="386510" y="3939778"/>
            <a:ext cx="7659436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7609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پذیرش عددی معیارهای توقف پیش از شروع، به‌عنوان دروازه‌ی هر فاز.</a:t>
            </a:r>
            <a:endParaRPr lang="en-US" sz="1125" dirty="0"/>
          </a:p>
        </p:txBody>
      </p:sp>
      <p:sp>
        <p:nvSpPr>
          <p:cNvPr id="38" name="Shape 32"/>
          <p:cNvSpPr/>
          <p:nvPr/>
        </p:nvSpPr>
        <p:spPr>
          <a:xfrm>
            <a:off x="0" y="4476750"/>
            <a:ext cx="12192000" cy="6858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9" name="Shape 33"/>
          <p:cNvSpPr/>
          <p:nvPr/>
        </p:nvSpPr>
        <p:spPr>
          <a:xfrm rot="2700000">
            <a:off x="-381000" y="4438650"/>
            <a:ext cx="1162050" cy="1162050"/>
          </a:xfrm>
          <a:prstGeom prst="roundRect">
            <a:avLst>
              <a:gd name="adj" fmla="val 14754"/>
            </a:avLst>
          </a:prstGeom>
          <a:ln w="9525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 rot="2700000">
            <a:off x="11144250" y="4600575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B913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49025" y="4705350"/>
            <a:ext cx="228600" cy="2286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0607576" y="4714875"/>
            <a:ext cx="32712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8A64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۰۵</a:t>
            </a:r>
            <a:endParaRPr lang="en-US" sz="1650" dirty="0"/>
          </a:p>
        </p:txBody>
      </p:sp>
      <p:sp>
        <p:nvSpPr>
          <p:cNvPr id="43" name="Text 36"/>
          <p:cNvSpPr/>
          <p:nvPr/>
        </p:nvSpPr>
        <p:spPr>
          <a:xfrm>
            <a:off x="8273951" y="4702076"/>
            <a:ext cx="2200275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172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بازارگردانی در سه فاز</a:t>
            </a:r>
            <a:endParaRPr lang="en-US" sz="1425" dirty="0"/>
          </a:p>
        </p:txBody>
      </p:sp>
      <p:sp>
        <p:nvSpPr>
          <p:cNvPr id="44" name="Shape 37"/>
          <p:cNvSpPr/>
          <p:nvPr/>
        </p:nvSpPr>
        <p:spPr>
          <a:xfrm>
            <a:off x="8245376" y="4610100"/>
            <a:ext cx="19050" cy="4191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45" name="Text 38"/>
          <p:cNvSpPr/>
          <p:nvPr/>
        </p:nvSpPr>
        <p:spPr>
          <a:xfrm>
            <a:off x="386813" y="4701778"/>
            <a:ext cx="7649013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7609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شروع با اعتبار گرفتن از پارتنرها؛ فاز دوم بازارگردانی تتر توسط خود میلی؛ فاز سوم بازارگردانی مستقل همه دارایی‌ها توسط میلی.</a:t>
            </a:r>
            <a:endParaRPr lang="en-US" sz="1125" dirty="0"/>
          </a:p>
        </p:txBody>
      </p:sp>
      <p:sp>
        <p:nvSpPr>
          <p:cNvPr id="46" name="Shape 39"/>
          <p:cNvSpPr/>
          <p:nvPr/>
        </p:nvSpPr>
        <p:spPr>
          <a:xfrm>
            <a:off x="0" y="5238750"/>
            <a:ext cx="12192000" cy="6858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7" name="Shape 40"/>
          <p:cNvSpPr/>
          <p:nvPr/>
        </p:nvSpPr>
        <p:spPr>
          <a:xfrm rot="2700000">
            <a:off x="-381000" y="5200650"/>
            <a:ext cx="1162050" cy="1162050"/>
          </a:xfrm>
          <a:prstGeom prst="roundRect">
            <a:avLst>
              <a:gd name="adj" fmla="val 14754"/>
            </a:avLst>
          </a:prstGeom>
          <a:ln w="9525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 rot="2700000">
            <a:off x="11144250" y="5362575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B913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49025" y="5467350"/>
            <a:ext cx="228600" cy="2286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10648504" y="5476875"/>
            <a:ext cx="2861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4706"/>
              </a:lnSpc>
              <a:buNone/>
            </a:pPr>
            <a:r>
              <a:rPr lang="en-US" sz="1650" b="1" dirty="0">
                <a:solidFill>
                  <a:srgbClr val="8A64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۰۶</a:t>
            </a:r>
            <a:endParaRPr lang="en-US" sz="1650" dirty="0"/>
          </a:p>
        </p:txBody>
      </p:sp>
      <p:sp>
        <p:nvSpPr>
          <p:cNvPr id="51" name="Text 43"/>
          <p:cNvSpPr/>
          <p:nvPr/>
        </p:nvSpPr>
        <p:spPr>
          <a:xfrm>
            <a:off x="8314879" y="5464076"/>
            <a:ext cx="2200275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5172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کاستودی</a:t>
            </a:r>
            <a:endParaRPr lang="en-US" sz="1425" dirty="0"/>
          </a:p>
        </p:txBody>
      </p:sp>
      <p:sp>
        <p:nvSpPr>
          <p:cNvPr id="52" name="Shape 44"/>
          <p:cNvSpPr/>
          <p:nvPr/>
        </p:nvSpPr>
        <p:spPr>
          <a:xfrm>
            <a:off x="8286304" y="5372100"/>
            <a:ext cx="19050" cy="41910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53" name="Text 45"/>
          <p:cNvSpPr/>
          <p:nvPr/>
        </p:nvSpPr>
        <p:spPr>
          <a:xfrm>
            <a:off x="385585" y="5463778"/>
            <a:ext cx="7691168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7609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کاستودی ابتدا توسط پارتنر خواهد بود و پس از شروع فاز سوم بازارگردانی، کاستودی به میلی منتقل خواهد شد.</a:t>
            </a:r>
            <a:endParaRPr lang="en-US" sz="1125" dirty="0"/>
          </a:p>
        </p:txBody>
      </p:sp>
      <p:sp>
        <p:nvSpPr>
          <p:cNvPr id="54" name="Text 46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۳۹ / ۴۱</a:t>
            </a:r>
            <a:endParaRPr lang="en-US" sz="825" dirty="0"/>
          </a:p>
        </p:txBody>
      </p:sp>
      <p:sp>
        <p:nvSpPr>
          <p:cNvPr id="55" name="Text 47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56" name="Text 48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23925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09600" y="514350"/>
            <a:ext cx="209550" cy="209550"/>
          </a:xfrm>
          <a:prstGeom prst="roundRect">
            <a:avLst>
              <a:gd name="adj" fmla="val 31818"/>
            </a:avLst>
          </a:prstGeom>
          <a:solidFill>
            <a:srgbClr val="FDB913"/>
          </a:solidFill>
          <a:ln/>
        </p:spPr>
      </p:sp>
      <p:sp>
        <p:nvSpPr>
          <p:cNvPr id="4" name="Text 2"/>
          <p:cNvSpPr/>
          <p:nvPr/>
        </p:nvSpPr>
        <p:spPr>
          <a:xfrm>
            <a:off x="10689580" y="419100"/>
            <a:ext cx="8928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فصل ۱۰ · ۱۰‑۲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-487680" y="704850"/>
            <a:ext cx="12070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7021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چه چیزی نظر ما را عوض می‌کند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477125" y="1200150"/>
            <a:ext cx="34575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36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اگر این شواهد دیده شود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72590" y="1200150"/>
            <a:ext cx="61188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36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توصیه چه می‌شود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8638" y="1200150"/>
            <a:ext cx="17811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spc="36" kern="0" dirty="0">
                <a:solidFill>
                  <a:srgbClr val="6B6B6B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کِی معلوم می‌شود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9600" y="1447800"/>
            <a:ext cx="10972800" cy="7239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285750" y="1543050"/>
            <a:ext cx="1009650" cy="1009650"/>
          </a:xfrm>
          <a:prstGeom prst="roundRect">
            <a:avLst>
              <a:gd name="adj" fmla="val 15094"/>
            </a:avLst>
          </a:prstGeom>
          <a:ln w="9525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0991850" y="16097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7100" y="1704975"/>
            <a:ext cx="209550" cy="2095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60970" y="1700510"/>
            <a:ext cx="3059430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269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تمایل کاربر میلی زیر آستانه‌ی توافق‌شده</a:t>
            </a:r>
            <a:endParaRPr lang="en-US" sz="1275" dirty="0"/>
          </a:p>
        </p:txBody>
      </p:sp>
      <p:sp>
        <p:nvSpPr>
          <p:cNvPr id="14" name="Shape 11"/>
          <p:cNvSpPr/>
          <p:nvPr/>
        </p:nvSpPr>
        <p:spPr>
          <a:xfrm>
            <a:off x="7762875" y="1743075"/>
            <a:ext cx="104775" cy="1333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15" name="Text 12"/>
          <p:cNvSpPr/>
          <p:nvPr/>
        </p:nvSpPr>
        <p:spPr>
          <a:xfrm>
            <a:off x="2323052" y="1588889"/>
            <a:ext cx="5268373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5455"/>
              </a:lnSpc>
              <a:buNone/>
            </a:pPr>
            <a:r>
              <a:rPr lang="en-US" sz="108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ورود از مسیر پایگاه میلی رد می‌شود؛ فقط جذب مستقل بازار باقی می‌ماند و کل مدل مالی بازنویسی می‌شود.</a:t>
            </a:r>
            <a:endParaRPr lang="en-US" sz="1088" dirty="0"/>
          </a:p>
        </p:txBody>
      </p:sp>
      <p:sp>
        <p:nvSpPr>
          <p:cNvPr id="16" name="Shape 13"/>
          <p:cNvSpPr/>
          <p:nvPr/>
        </p:nvSpPr>
        <p:spPr>
          <a:xfrm>
            <a:off x="800100" y="1628775"/>
            <a:ext cx="1504950" cy="361950"/>
          </a:xfrm>
          <a:prstGeom prst="rect">
            <a:avLst/>
          </a:prstGeom>
          <a:solidFill>
            <a:srgbClr val="FDB913">
              <a:alpha val="22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57250" y="1704975"/>
            <a:ext cx="1390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تا پایان فاز ۳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9600" y="2247900"/>
            <a:ext cx="10972800" cy="7239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 rot="2700000">
            <a:off x="285750" y="2343150"/>
            <a:ext cx="1009650" cy="1009650"/>
          </a:xfrm>
          <a:prstGeom prst="roundRect">
            <a:avLst>
              <a:gd name="adj" fmla="val 15094"/>
            </a:avLst>
          </a:prstGeom>
          <a:ln w="9525">
            <a:solidFill>
              <a:srgbClr val="FDB913">
                <a:alpha val="3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2700000">
            <a:off x="10991850" y="24098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87100" y="2505075"/>
            <a:ext cx="209550" cy="2095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760970" y="2500610"/>
            <a:ext cx="3059430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269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تفکیک‌پذیری لاین ریالی احراز نشود</a:t>
            </a:r>
            <a:endParaRPr lang="en-US" sz="1275" dirty="0"/>
          </a:p>
        </p:txBody>
      </p:sp>
      <p:sp>
        <p:nvSpPr>
          <p:cNvPr id="23" name="Shape 19"/>
          <p:cNvSpPr/>
          <p:nvPr/>
        </p:nvSpPr>
        <p:spPr>
          <a:xfrm>
            <a:off x="7762875" y="2543175"/>
            <a:ext cx="104775" cy="1333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4" name="Text 20"/>
          <p:cNvSpPr/>
          <p:nvPr/>
        </p:nvSpPr>
        <p:spPr>
          <a:xfrm>
            <a:off x="1965008" y="2499420"/>
            <a:ext cx="562641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5455"/>
              </a:lnSpc>
              <a:buNone/>
            </a:pPr>
            <a:r>
              <a:rPr lang="en-US" sz="1088" dirty="0">
                <a:solidFill>
                  <a:srgbClr val="FFFFFF">
                    <a:alpha val="88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توصیه از گزینه‌ی ب به «ورود نکردن» تغییر می‌کند. این شرط قابل جبران نیست.</a:t>
            </a:r>
            <a:endParaRPr lang="en-US" sz="1088" dirty="0"/>
          </a:p>
        </p:txBody>
      </p:sp>
      <p:sp>
        <p:nvSpPr>
          <p:cNvPr id="25" name="Shape 21"/>
          <p:cNvSpPr/>
          <p:nvPr/>
        </p:nvSpPr>
        <p:spPr>
          <a:xfrm>
            <a:off x="800100" y="2428875"/>
            <a:ext cx="1504950" cy="3619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6" name="Text 22"/>
          <p:cNvSpPr/>
          <p:nvPr/>
        </p:nvSpPr>
        <p:spPr>
          <a:xfrm>
            <a:off x="857250" y="2505075"/>
            <a:ext cx="1390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تا پایان فاز صفر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09600" y="3048000"/>
            <a:ext cx="10972800" cy="7239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8" name="Shape 24"/>
          <p:cNvSpPr/>
          <p:nvPr/>
        </p:nvSpPr>
        <p:spPr>
          <a:xfrm rot="2700000">
            <a:off x="285750" y="3143250"/>
            <a:ext cx="1009650" cy="1009650"/>
          </a:xfrm>
          <a:prstGeom prst="roundRect">
            <a:avLst>
              <a:gd name="adj" fmla="val 15094"/>
            </a:avLst>
          </a:prstGeom>
          <a:ln w="9525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 rot="2700000">
            <a:off x="10991850" y="32099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7100" y="3305175"/>
            <a:ext cx="209550" cy="20955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760970" y="3300710"/>
            <a:ext cx="3059430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269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سودآوری یا AUM پایین</a:t>
            </a:r>
            <a:endParaRPr lang="en-US" sz="1275" dirty="0"/>
          </a:p>
        </p:txBody>
      </p:sp>
      <p:sp>
        <p:nvSpPr>
          <p:cNvPr id="32" name="Shape 27"/>
          <p:cNvSpPr/>
          <p:nvPr/>
        </p:nvSpPr>
        <p:spPr>
          <a:xfrm>
            <a:off x="7762875" y="3343275"/>
            <a:ext cx="104775" cy="1333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33" name="Text 28"/>
          <p:cNvSpPr/>
          <p:nvPr/>
        </p:nvSpPr>
        <p:spPr>
          <a:xfrm>
            <a:off x="1965008" y="3299520"/>
            <a:ext cx="562641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5455"/>
              </a:lnSpc>
              <a:buNone/>
            </a:pPr>
            <a:r>
              <a:rPr lang="en-US" sz="108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در صورتی که با بازبینی فرض‌ها و پیشبینی جذابیت لازم مالی و یا AUM مدنظر جذب نشود.</a:t>
            </a:r>
            <a:endParaRPr lang="en-US" sz="1088" dirty="0"/>
          </a:p>
        </p:txBody>
      </p:sp>
      <p:sp>
        <p:nvSpPr>
          <p:cNvPr id="34" name="Shape 29"/>
          <p:cNvSpPr/>
          <p:nvPr/>
        </p:nvSpPr>
        <p:spPr>
          <a:xfrm>
            <a:off x="800100" y="3228975"/>
            <a:ext cx="1504950" cy="361950"/>
          </a:xfrm>
          <a:prstGeom prst="rect">
            <a:avLst/>
          </a:prstGeom>
          <a:solidFill>
            <a:srgbClr val="FDB913">
              <a:alpha val="22000"/>
            </a:srgbClr>
          </a:solidFill>
          <a:ln/>
        </p:spPr>
      </p:sp>
      <p:sp>
        <p:nvSpPr>
          <p:cNvPr id="35" name="Text 30"/>
          <p:cNvSpPr/>
          <p:nvPr/>
        </p:nvSpPr>
        <p:spPr>
          <a:xfrm>
            <a:off x="857250" y="3305175"/>
            <a:ext cx="1390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تا پایان فاز ۴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09600" y="3848100"/>
            <a:ext cx="10972800" cy="7239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7" name="Shape 32"/>
          <p:cNvSpPr/>
          <p:nvPr/>
        </p:nvSpPr>
        <p:spPr>
          <a:xfrm rot="2700000">
            <a:off x="285750" y="3943350"/>
            <a:ext cx="1009650" cy="1009650"/>
          </a:xfrm>
          <a:prstGeom prst="roundRect">
            <a:avLst>
              <a:gd name="adj" fmla="val 15094"/>
            </a:avLst>
          </a:prstGeom>
          <a:ln w="9525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 rot="2700000">
            <a:off x="10991850" y="40100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7100" y="4105275"/>
            <a:ext cx="209550" cy="20955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760970" y="4100810"/>
            <a:ext cx="3059430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269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کانیبالیزیشن بالای سناریوی بدبینانه</a:t>
            </a:r>
            <a:endParaRPr lang="en-US" sz="1275" dirty="0"/>
          </a:p>
        </p:txBody>
      </p:sp>
      <p:sp>
        <p:nvSpPr>
          <p:cNvPr id="41" name="Shape 35"/>
          <p:cNvSpPr/>
          <p:nvPr/>
        </p:nvSpPr>
        <p:spPr>
          <a:xfrm>
            <a:off x="7762875" y="4143375"/>
            <a:ext cx="104775" cy="1333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42" name="Text 36"/>
          <p:cNvSpPr/>
          <p:nvPr/>
        </p:nvSpPr>
        <p:spPr>
          <a:xfrm>
            <a:off x="1965008" y="4099620"/>
            <a:ext cx="562641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5455"/>
              </a:lnSpc>
              <a:buNone/>
            </a:pPr>
            <a:r>
              <a:rPr lang="en-US" sz="108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می‌تواند به سواپ تک دارایی تتر تبدیل شود یا کلا حذف شود.</a:t>
            </a:r>
            <a:endParaRPr lang="en-US" sz="1088" dirty="0"/>
          </a:p>
        </p:txBody>
      </p:sp>
      <p:sp>
        <p:nvSpPr>
          <p:cNvPr id="43" name="Shape 37"/>
          <p:cNvSpPr/>
          <p:nvPr/>
        </p:nvSpPr>
        <p:spPr>
          <a:xfrm>
            <a:off x="800100" y="4029075"/>
            <a:ext cx="1504950" cy="361950"/>
          </a:xfrm>
          <a:prstGeom prst="rect">
            <a:avLst/>
          </a:prstGeom>
          <a:solidFill>
            <a:srgbClr val="FDB913">
              <a:alpha val="2200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857250" y="4105275"/>
            <a:ext cx="1390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فاز ۲ تا ۴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609600" y="4648200"/>
            <a:ext cx="10972800" cy="7239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6" name="Shape 40"/>
          <p:cNvSpPr/>
          <p:nvPr/>
        </p:nvSpPr>
        <p:spPr>
          <a:xfrm rot="2700000">
            <a:off x="285750" y="4743450"/>
            <a:ext cx="1009650" cy="1009650"/>
          </a:xfrm>
          <a:prstGeom prst="roundRect">
            <a:avLst>
              <a:gd name="adj" fmla="val 15094"/>
            </a:avLst>
          </a:prstGeom>
          <a:ln w="9525">
            <a:solidFill>
              <a:srgbClr val="000000">
                <a:alpha val="1000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 rot="2700000">
            <a:off x="10991850" y="48101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DB913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87100" y="4905375"/>
            <a:ext cx="209550" cy="20955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7955661" y="4791670"/>
            <a:ext cx="2864739" cy="47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8269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احیای دستورالعمل‌های مشابه کارگزاران رمزپول</a:t>
            </a:r>
            <a:endParaRPr lang="en-US" sz="1275" dirty="0"/>
          </a:p>
        </p:txBody>
      </p:sp>
      <p:sp>
        <p:nvSpPr>
          <p:cNvPr id="50" name="Shape 43"/>
          <p:cNvSpPr/>
          <p:nvPr/>
        </p:nvSpPr>
        <p:spPr>
          <a:xfrm>
            <a:off x="7762875" y="4943475"/>
            <a:ext cx="104775" cy="13335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51" name="Text 44"/>
          <p:cNvSpPr/>
          <p:nvPr/>
        </p:nvSpPr>
        <p:spPr>
          <a:xfrm>
            <a:off x="1965008" y="4899720"/>
            <a:ext cx="562641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5455"/>
              </a:lnSpc>
              <a:buNone/>
            </a:pPr>
            <a:r>
              <a:rPr lang="en-US" sz="1088" dirty="0">
                <a:solidFill>
                  <a:srgbClr val="333333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عرضه‌ی عمومی تا انطباق کامل متوقف می‌شود؛ ساختار مجوز بازبینی می‌شود.</a:t>
            </a:r>
            <a:endParaRPr lang="en-US" sz="1088" dirty="0"/>
          </a:p>
        </p:txBody>
      </p:sp>
      <p:sp>
        <p:nvSpPr>
          <p:cNvPr id="52" name="Shape 45"/>
          <p:cNvSpPr/>
          <p:nvPr/>
        </p:nvSpPr>
        <p:spPr>
          <a:xfrm>
            <a:off x="800100" y="4829175"/>
            <a:ext cx="1504950" cy="361950"/>
          </a:xfrm>
          <a:prstGeom prst="rect">
            <a:avLst/>
          </a:prstGeom>
          <a:solidFill>
            <a:srgbClr val="FDB913">
              <a:alpha val="22000"/>
            </a:srgbClr>
          </a:solidFill>
          <a:ln/>
        </p:spPr>
      </p:sp>
      <p:sp>
        <p:nvSpPr>
          <p:cNvPr id="53" name="Text 46"/>
          <p:cNvSpPr/>
          <p:nvPr/>
        </p:nvSpPr>
        <p:spPr>
          <a:xfrm>
            <a:off x="857250" y="4905375"/>
            <a:ext cx="13906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پایش پیوسته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609600" y="5543550"/>
            <a:ext cx="10972800" cy="800100"/>
          </a:xfrm>
          <a:prstGeom prst="rect">
            <a:avLst/>
          </a:prstGeom>
          <a:solidFill>
            <a:srgbClr val="D3D2D0"/>
          </a:solidFill>
          <a:ln/>
        </p:spPr>
      </p:sp>
      <p:sp>
        <p:nvSpPr>
          <p:cNvPr id="55" name="Shape 48"/>
          <p:cNvSpPr/>
          <p:nvPr/>
        </p:nvSpPr>
        <p:spPr>
          <a:xfrm>
            <a:off x="11220450" y="5734050"/>
            <a:ext cx="114300" cy="419100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56" name="Text 49"/>
          <p:cNvSpPr/>
          <p:nvPr/>
        </p:nvSpPr>
        <p:spPr>
          <a:xfrm>
            <a:off x="3449583" y="5810696"/>
            <a:ext cx="7561317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9643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تا انجام پیمایش تمایل کاربر و پایلوت، خروجی مدل مالی صرفا یک چارچوب تصمیم است، نه یک پیش‌بینی.</a:t>
            </a:r>
            <a:endParaRPr lang="en-US" sz="1350" dirty="0"/>
          </a:p>
        </p:txBody>
      </p:sp>
      <p:sp>
        <p:nvSpPr>
          <p:cNvPr id="57" name="Text 50"/>
          <p:cNvSpPr/>
          <p:nvPr/>
        </p:nvSpPr>
        <p:spPr>
          <a:xfrm>
            <a:off x="11313170" y="6429375"/>
            <a:ext cx="4216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33" kern="0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۴۰ / ۴۱</a:t>
            </a:r>
            <a:endParaRPr lang="en-US" sz="825" dirty="0"/>
          </a:p>
        </p:txBody>
      </p:sp>
      <p:sp>
        <p:nvSpPr>
          <p:cNvPr id="58" name="Text 51"/>
          <p:cNvSpPr/>
          <p:nvPr/>
        </p:nvSpPr>
        <p:spPr>
          <a:xfrm>
            <a:off x="448508" y="6410325"/>
            <a:ext cx="107122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04040"/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975" dirty="0"/>
          </a:p>
        </p:txBody>
      </p:sp>
      <p:sp>
        <p:nvSpPr>
          <p:cNvPr id="59" name="Text 52"/>
          <p:cNvSpPr/>
          <p:nvPr/>
        </p:nvSpPr>
        <p:spPr>
          <a:xfrm>
            <a:off x="381000" y="6391275"/>
            <a:ext cx="812750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</a:t>
            </a:r>
            <a:pPr algn="r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1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87100" y="2857500"/>
            <a:ext cx="114300" cy="847725"/>
          </a:xfrm>
          <a:prstGeom prst="roundRect">
            <a:avLst>
              <a:gd name="adj" fmla="val 16667"/>
            </a:avLst>
          </a:prstGeom>
          <a:solidFill>
            <a:srgbClr val="FDB913"/>
          </a:solidFill>
          <a:ln/>
        </p:spPr>
      </p:sp>
      <p:sp>
        <p:nvSpPr>
          <p:cNvPr id="3" name="Text 1"/>
          <p:cNvSpPr/>
          <p:nvPr/>
        </p:nvSpPr>
        <p:spPr>
          <a:xfrm>
            <a:off x="9122837" y="3001268"/>
            <a:ext cx="1735663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67586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ekan Bakh VF Black" pitchFamily="34" charset="0"/>
                <a:ea typeface="Yekan Bakh VF Black" pitchFamily="34" charset="-122"/>
                <a:cs typeface="Yekan Bakh VF Black" pitchFamily="34" charset="-120"/>
              </a:rPr>
              <a:t>با تشکر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971800"/>
            <a:ext cx="2476500" cy="8417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2700000">
            <a:off x="609600" y="44767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6" name="Shape 3"/>
          <p:cNvSpPr/>
          <p:nvPr/>
        </p:nvSpPr>
        <p:spPr>
          <a:xfrm rot="2700000">
            <a:off x="1123950" y="44767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 rot="2700000">
            <a:off x="1638300" y="447675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2700000">
            <a:off x="2152650" y="44767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9" name="Shape 6"/>
          <p:cNvSpPr/>
          <p:nvPr/>
        </p:nvSpPr>
        <p:spPr>
          <a:xfrm rot="2700000">
            <a:off x="2667000" y="44767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 rot="2700000">
            <a:off x="3181350" y="447675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700000">
            <a:off x="3695700" y="44767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12" name="Shape 9"/>
          <p:cNvSpPr/>
          <p:nvPr/>
        </p:nvSpPr>
        <p:spPr>
          <a:xfrm rot="2700000">
            <a:off x="4210050" y="44767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rot="2700000">
            <a:off x="4724400" y="447675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5238750" y="44767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15" name="Shape 12"/>
          <p:cNvSpPr/>
          <p:nvPr/>
        </p:nvSpPr>
        <p:spPr>
          <a:xfrm rot="2700000">
            <a:off x="5753100" y="44767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 rot="2700000">
            <a:off x="6267450" y="447675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866775" y="49911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 rot="2700000">
            <a:off x="1381125" y="499110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1895475" y="49911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20" name="Shape 17"/>
          <p:cNvSpPr/>
          <p:nvPr/>
        </p:nvSpPr>
        <p:spPr>
          <a:xfrm rot="2700000">
            <a:off x="2409825" y="49911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 rot="2700000">
            <a:off x="2924175" y="499110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rot="2700000">
            <a:off x="3438525" y="49911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23" name="Shape 20"/>
          <p:cNvSpPr/>
          <p:nvPr/>
        </p:nvSpPr>
        <p:spPr>
          <a:xfrm rot="2700000">
            <a:off x="3952875" y="49911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 rot="2700000">
            <a:off x="4467225" y="499110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rot="2700000">
            <a:off x="4981575" y="49911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26" name="Shape 23"/>
          <p:cNvSpPr/>
          <p:nvPr/>
        </p:nvSpPr>
        <p:spPr>
          <a:xfrm rot="2700000">
            <a:off x="5495925" y="49911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 rot="2700000">
            <a:off x="6010275" y="499110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rot="2700000">
            <a:off x="6524625" y="49911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29" name="Shape 26"/>
          <p:cNvSpPr/>
          <p:nvPr/>
        </p:nvSpPr>
        <p:spPr>
          <a:xfrm rot="2700000">
            <a:off x="609600" y="550545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2700000">
            <a:off x="1123950" y="55054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31" name="Shape 28"/>
          <p:cNvSpPr/>
          <p:nvPr/>
        </p:nvSpPr>
        <p:spPr>
          <a:xfrm rot="2700000">
            <a:off x="1638300" y="55054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 rot="2700000">
            <a:off x="2152650" y="550545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rot="2700000">
            <a:off x="2667000" y="55054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34" name="Shape 31"/>
          <p:cNvSpPr/>
          <p:nvPr/>
        </p:nvSpPr>
        <p:spPr>
          <a:xfrm rot="2700000">
            <a:off x="3181350" y="55054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 rot="2700000">
            <a:off x="3695700" y="550545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rot="2700000">
            <a:off x="4210050" y="55054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37" name="Shape 34"/>
          <p:cNvSpPr/>
          <p:nvPr/>
        </p:nvSpPr>
        <p:spPr>
          <a:xfrm rot="2700000">
            <a:off x="4724400" y="55054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 rot="2700000">
            <a:off x="5238750" y="550545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rot="2700000">
            <a:off x="5753100" y="55054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40" name="Shape 37"/>
          <p:cNvSpPr/>
          <p:nvPr/>
        </p:nvSpPr>
        <p:spPr>
          <a:xfrm rot="2700000">
            <a:off x="6267450" y="55054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 rot="2700000">
            <a:off x="866775" y="6019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42" name="Shape 39"/>
          <p:cNvSpPr/>
          <p:nvPr/>
        </p:nvSpPr>
        <p:spPr>
          <a:xfrm rot="2700000">
            <a:off x="1381125" y="6019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 rot="2700000">
            <a:off x="1895475" y="601980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rot="2700000">
            <a:off x="2409825" y="6019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45" name="Shape 42"/>
          <p:cNvSpPr/>
          <p:nvPr/>
        </p:nvSpPr>
        <p:spPr>
          <a:xfrm rot="2700000">
            <a:off x="2924175" y="6019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 rot="2700000">
            <a:off x="3438525" y="601980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2700000">
            <a:off x="3952875" y="6019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48" name="Shape 45"/>
          <p:cNvSpPr/>
          <p:nvPr/>
        </p:nvSpPr>
        <p:spPr>
          <a:xfrm rot="2700000">
            <a:off x="4467225" y="6019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 rot="2700000">
            <a:off x="4981575" y="601980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rot="2700000">
            <a:off x="5495925" y="6019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/>
          </a:solidFill>
          <a:ln/>
        </p:spPr>
      </p:sp>
      <p:sp>
        <p:nvSpPr>
          <p:cNvPr id="51" name="Shape 48"/>
          <p:cNvSpPr/>
          <p:nvPr/>
        </p:nvSpPr>
        <p:spPr>
          <a:xfrm rot="2700000">
            <a:off x="6010275" y="6019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B913">
              <a:alpha val="22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 rot="2700000">
            <a:off x="6524625" y="6019800"/>
            <a:ext cx="438150" cy="438150"/>
          </a:xfrm>
          <a:prstGeom prst="roundRect">
            <a:avLst>
              <a:gd name="adj" fmla="val 26087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0" y="4381500"/>
            <a:ext cx="12192000" cy="2476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60000">
                <a:srgbClr val="000000">
                  <a:alpha val="35000"/>
                </a:srgbClr>
              </a:gs>
              <a:gs pos="100000">
                <a:srgbClr val="000000">
                  <a:alpha val="72000"/>
                </a:srgbClr>
              </a:gs>
            </a:gsLst>
            <a:lin ang="5400000" scaled="0"/>
          </a:gradFill>
          <a:ln/>
        </p:spPr>
      </p:sp>
      <p:sp>
        <p:nvSpPr>
          <p:cNvPr id="54" name="Text 51"/>
          <p:cNvSpPr/>
          <p:nvPr/>
        </p:nvSpPr>
        <p:spPr>
          <a:xfrm>
            <a:off x="10062121" y="6105525"/>
            <a:ext cx="11392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FFFFFF">
                    <a:alpha val="50000"/>
                  </a:srgbClr>
                </a:solidFill>
                <a:latin typeface="B Yekan" pitchFamily="34" charset="0"/>
                <a:ea typeface="B Yekan" pitchFamily="34" charset="-122"/>
                <a:cs typeface="B Yekan" pitchFamily="34" charset="-120"/>
              </a:rPr>
              <a:t>گروه میلی — ۱۴۰۵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2026-09-07T14:03:30Z</dcterms:created>
  <dcterms:modified xsi:type="dcterms:W3CDTF">2026-09-07T14:03:30Z</dcterms:modified>
</cp:coreProperties>
</file>